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30 seconds.
SAY:
"Good morning. I'm Puneet Sreevatsal Jagadam, B.Tech Computer Science and Engineering at SRM Institute of Science and Technology. My project is QueueSense — a smart, real-time digital queue management system for campus services. The tagline sums it up: Don't stand in line. Know your turn."
VISUAL:
The card on the right is what a student actually sees: their token RA003 for Report Counter A, their position (3 of 3), the number of people ahead (2) and an estimated wait shown as a countdown. The small chips at the bottom are the four token colours we use throughout the talk — violet for waiting, yellow for called, green for serving, grey for completed.
EXTEND (if time):
Mention it was built as a full-stack web application — React and TypeScript on the front end, Express and tRPC on the back end, MySQL for storage and Server-Sent Events for live updates.
TRANSITION:
"Let me start with the problem we saw on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45 seconds.
SAY:
"Think about paying fees, collecting a certificate or getting a report printed. Students stand in a physical line with no idea how many people are ahead or how long it will take. If they step away, they lose their place. And they don't know when to come back.
Staff have their own problems: they can't see the complete queue, running several counters is hard, delays and counter changes are difficult to communicate, and priority handling can look unfair."
VISUAL:
Left: the physical line and the questions every student is silently asking.
Right: each problem on the left maps to a specific QueueSense answer in violet. This is the problem–solution connection for the whole project — every feature exists because of one of these rows.
EXTEND (if time):
Walk through two or three rows, e.g. "Priority can look unfair — so priority in QueueSense always needs a reason, is recorded in an audit log and recalculates positions by rule."
LIKELY QUESTION: "Isn't a token machine enough?" — A token machine gives a number, but no live position, no wait estimate, no notifications, no staff console and no history.
TRANSITION:
"So what is QueueSense,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SAY:
"QueueSense is a real-time digital queue platform that lets students hold their place virtually, while giving staff and administrators a shared, authoritative view of queue operations.
The student journey is simple: log in and pick a service, receive a digital token like RA003, watch your live position and the estimated wait, get called, and get served."
KEY TECHNICAL POINT — say this clearly:
"The server is the single source of truth. The browser never decides someone's position. Every screen — student, staff and admin — reads the same state from the server."
VISUAL:
The flow uses the token colours: violet while waiting, yellow only when called, green when being served.
LIKELY QUESTION: "Why does the server need to be authoritative?" — If clients decided order, two browsers could disagree; a single authority avoids conflicts and makes audit possible.
TRANSITION:
"This works across several very different campus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SAY:
"QueueSense currently supports four service areas.
Administration — accounts and fees, certificates and admissions, with an 'any open counter' option where applicable.
Printing — Xerox, colour printing and report or bulk printing. This is our main demo.
Cafeteria — students reserve their place in the line. It is not a food-ordering system.
Elevator — a virtual boarding queue with traffic estimation. It does not physically control the lift."
KEY POINT:
"All four use one generic model: Service, then Queue Group, then Counter, then Queue Entries. For example Printing → Report/Bulk Printing → Report Counter A → RA001, RA002, RA003. That's why adding a new service is configuration, not new code."
LIKELY QUESTIONS:
- "Does the cafeteria take orders?" — No, only place-in-line.
- "Does it control the elevator?" — No, virtual queue and traffic estimate only.
TRANSITION:
"Here is the technology that powers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SAY:
"The front end is React 19 with TypeScript, built with Vite, using TanStack Query for server state, Wouter for routing and Radix UI for accessible dialogs.
The back end is Node.js with Express and tRPC, with Zod validating every input and SuperJSON for serialization.
Data lives in MySQL 8, accessed through Drizzle ORM.
Realtime updates use Server-Sent Events.
The optional camera feature uses TensorFlow.js with the COCO-SSD model, running in the browser.
And we test with Vitest against a real MySQL test database, plus axe-core for accessibility."
EXTEND (if time):
Why the combination matters: TypeScript plus tRPC means the client and server share types end-to-end, so a change to an API breaks the build rather than breaking users.
LIKELY QUESTIONS: Why tRPC? Why MySQL? Why Drizzle? — see Appendix B.
TRANSITION:
"Now let's see how these pieces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50 seconds.
SAY (follow the diagram left to right):
"Students, staff and admins all use the same React and TypeScript front end.
It talks to the Express + tRPC back end over HTTPS.
Every request passes through the security layer — authentication, role-based access control, Zod validation, object-level authorization, rate limiting and security headers like CSP and HSTS.
At the heart is the queue engine. It owns the queue state, estimates waits, handles traffic updates, creates notifications and writes audit logs.
Everything is stored in MySQL 8 through Drizzle — users, services, queue groups, counters, entries, notifications, audit logs and traffic data.
When state changes, the server pushes events over Server-Sent Events — the dashed violet arrow — so every screen updates without a refresh.
Finally, the optional camera runs TensorFlow.js in the browser and sends only an aggregate head count."
KEY NUMBERS (only if asked): about 18 application tables, 31 foreign-key relationships, 11 unique constraints and 6 CHECK constraints — integrity is enforced by the database, not only by code.
LIKELY QUESTION: "Where are notifications delivered from?" — They are stored in the same MySQL database and delivered over the same SSE channel; there is no separate notification server.
TRANSITION:
"Let's follow a request through its whole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SAY:
"Three roles, three workflows.
The student logs in, picks a service and queue, joins, receives a token, watches their position and the countdown, becomes almost next, is called, served and completed.
The staff member logs in, selects their counter, views the queue, calls the next student, starts service, and completes — or skips a no-show.
The admin monitors the overview, manages people, services and counters, watches live queues and reviews audit logs."
VISUAL:
Notice how the staff actions drive the student states: Call Next turns the token CALLED (yellow), Start Service turns it SERVING (green), Complete turns it COMPLETED (grey). Yellow is reserved only for CALLED, so a student never confuses 'waiting' with 'go now'.
LIKELY QUESTION: "What happens on Skip?" — The no-show is removed from the active line and the next student proceeds.
TRANSITION:
"What makes this real-time and intelligent rather than just a token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50 seconds.
SAY:
"Three capabilities.
One — live queue position: the student always sees position, people ahead and current state.
Two — estimated wait. It's not a random number. Roughly: people ahead divided by batch size, times service time, times a traffic multiplier, plus the remaining time of the current service, plus any staff delay. Traffic is Normal 1.0, Moderate 1.25 or Heavy 1.5. Once enough history exists, service time blends with observed durations. The server recalculates periodically and the client counts down from the latest value.
Three — real-time events: staff click Call Next, the server updates state, an SSE event goes out, and the student's ticket turns yellow — no refresh."
BOTTOM STRIP:
"The camera can contribute an aggregate head count as one input to traffic estimation."
MUST SAY: "This is an estimate, not an appointment guarantee."
LIKELY QUESTION: "What's batch size?" — Services that serve several people at once (like a lift) divide the people ahead by how many are served per cycle.
TRANSITION:
"Let me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(longer if doing the live demo).
SAY / DEMO:
"We're in Printing → Report/Bulk Printing → Report Counter A.
1. The student joins and gets RA003. Two people are ahead, so they are position 3 of 3 with a countdown. On the staff console, RA003 appears instantly — no refresh.
2. Staff serve RA001 and RA002, then press Call Next. RA003's ticket turns yellow: 'Go to Report Counter A now', with a toast notification.
3. Staff press Start Service. The student sees 'You're being served' in green.
4. Staff press Complete. The student sees 'This visit is complete', and the visit appears in history."
VISUAL:
Student view on the left, staff console on the right. The arrows in the middle show the direction of the event: the join goes from student to staff; every later change goes from staff to student over SSE.
DEMO TIP:
Keep two browser windows side by side (student and staff) so the examiner sees both update together.
LIKELY QUESTION: "What if RA003 closes the browser?" — The place is held on the server; reopening the page shows the current state.
TRANSITION:
"Beyond this basic flow, QueueSense handles real operational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50 seconds.
SAY (featured feature — traffic updates):
"Our featured advanced demo is traffic updates. Staff mark Report Counter B as Heavy and give the reason 'Printer jam'. The multiplier goes to 1.5, estimates are recalculated, and students see 'Wait up about 7 minutes: Printer jam'. A delay becomes understandable rather than mysterious."
THEN BRIEFLY:
- Priority: always needs a reason; positions are recalculated by queue rules; recorded in the audit log.
- Queue merging: Queue B can be merged into Queue A with a reason; entries are preserved, not deleted, and order continuity is kept.
- Counter management: Available, Paused or Offline — students are not silently stranded.
- Computer vision: aggregate people count in the browser, with no face recognition.
BOTTOM STRIP:
The same engine powers Administration, Printing, Cafeteria (place in line only) and Elevator (virtual boarding only).
NOTE: The "about 7 min" in the toast is an illustrative example from the demo, not a measured statistic.
TRANSITION:
"With this much control, trust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50 seconds.
SAY:
"Security: role-based access control plus object-level authorization, secure sessions with HttpOnly, Secure and SameSite cookies, origin checks, CSP and HSTS headers, Zod input validation, rate limiting, scrypt password hashing, HMAC-SHA256 for session and code digests, and audit logging.
Privacy: the camera never stores raw video, never recognises faces and never links a person to a token — only an aggregate count is used.
Reliability: the server holds authoritative state, the database enforces constraints, queue operations are transactional, clients stay synchronized in real time, and we have automated tests and accessibility tests."
KEY POINT — the bottom strip:
"Hiding a button in the UI is not security. In QueueSense, the backend itself rejects an unauthorized request — a student calling a staff procedure directly gets refused."
BE CAREFUL: Say "multiple production-oriented security controls". Never say "100% secure".
LIKELY QUESTIONS: What is RBAC? What is object-level authorization? How are passwords stored? — see Appendix B.
TRANSITION:
"Let me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30 seconds.
SAY:
"To summarise: students hold their place, see their position and know when to return. Staff manage queues, control counters and handle operational changes. Admins monitor services, manage resources and review operations. And technically it is real-time, security-focused, built on a generic scalable model, with privacy-aware computer vision.
The strip shows the whole idea in one line: the server holds one queue, and every token's colour tells you exactly where you stand.
Don't stand in line — know your turn. Thank you; I'm happy to take questions."
IF ASKED ABOUT NEXT STEPS:
Refer to Appendix A — future scope such as email/SMS notifications, SSO, admin MFA, Redis-based multi-instance realtime, forecasting, kiosk mode and QR check-in. Be clear these are NOT implemented yet.
STRETCHING TO ~10 MINUTES:
Use the EXTEND sections on slides 1, 2 and 5, run the live demo on slide 9 in full, and demonstrate one advanced feature on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use only if asked about future work or limitations.
Left column = what exists today. Right column (dashed) = future scope and NOT implemented.
SAY: "Everything on the left is in the current build. The right side is our roadmap — for example, a Redis pub/sub layer would let realtime events work across multiple server instances, and email/SMS would reach students who aren't looking at the app."
Do not describe any right-side item as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viva reference. Not part of the timed talk. Use these answers if the examiner asks. Full answers for this page:
Q1. What problem does QueueSense solve?
Students wait in physical lines with no visibility of position or wait time, and staff lack a complete view of the queue. QueueSense replaces the physical line with a shared, real-time digital queue.
Q2. Why is a digital queue better than a physical queue?
Students keep their place without standing there, see live position and an estimated wait, and are notified when almost next and when called. Staff get one authoritative view of every counter.
Q3. Why did you use React?
React's component model suits a UI built from repeated pieces — tickets, queue rows, counter cards — and its ecosystem (TanStack Query, Radix UI) handles server state and accessible dialogs well.
Q4. Why TypeScript?
Static types catch mistakes at compile time and, combined with tRPC, share one set of types between server and client, so an API change breaks the build instead of production.
Q5. Why tRPC?
tRPC gives end-to-end type safety without writing a separate REST contract. Procedures are validated with Zod on the server and called like typed functions from the React client.
Q6. Why MySQL?
Queue data is highly relational (services, groups, counters, entries, users). MySQL 8 offers transactions, foreign keys, unique and CHECK constraints to enforce integrity in the database itself.
Q7. Why Drizzle ORM?
Drizzle defines the schema in TypeScript, produces typed queries that stay close to SQL, and drizzle-kit manages migrations — lightweight, with no heavy runtime abstraction.
Q8. Why use Server-Sent Events?
Queue updates flow mostly from server to client. SSE streams those events over plain HTTP, reconnects automatically in the browser, and works with the existing cookie-based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viva reference. Not part of the timed talk. Use these answers if the examiner asks. Full answers for this page:
Q9. Why not WebSockets?
WebSockets are bidirectional, which we don't need: client actions already go through tRPC requests. SSE is simpler to operate and secure for one-way updates. WebSockets remain an option if needs change.
Q10. How is estimated waiting time calculated?
(People ahead ÷ batch size) × service time × traffic multiplier + remaining current service + staff delay. Service time can blend with observed durations once enough history exists.
Q11. What happens when traffic changes?
Staff set Normal (1.0), Moderate (1.25) or Heavy (1.5) with a reason. Estimates are recalculated and students can see the explanation, e.g. “Wait up about 7 min: Printer jam”.
Q12. How does priority work?
Staff assign priority with a mandatory reason. The operation and its queue impact are recorded for audit, positions are recalculated by the queue rules, and affected students see their updated status.
Q13. How does queue merging work?
Staff merge a secondary queue into a target queue with a reason. Existing entries are moved and preserved — not deleted — and ordering continuity is maintained.
Q14. How do you prevent unauthorized users from accessing staff functions?
Every protected procedure checks the session and role on the backend, plus object-level access. Hiding buttons is only a convenience; the server rejects unauthorized calls regardless of the UI.
Q15. What is RBAC?
Role-Based Access Control: permissions are granted to roles (Student, Staff, Admin) rather than individuals, and each operation declares which roles may perform it.
Q16. What is object-level authorization?
Checking access to the specific resource, not just the role — e.g. a staff member can only operate counters assigned to them, and a student can only act on their own queue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viva reference. Not part of the timed talk. Use these answers if the examiner asks. Full answers for this page:
Q17. How are passwords protected?
Passwords are hashed with scrypt, a memory-hard key-derivation function, so plain-text passwords are never stored. Session and code digests use HMAC-SHA256.
Q18. How does the camera feature work?
TensorFlow.js runs the COCO-SSD model (lite_mobilenet_v2) locally in the browser to count people in view. Only a periodic aggregate head-count is sent to the backend as one traffic input.
Q19. Is facial recognition used?
No. Detections are filtered to the “person” class and only counted. There is no face recognition, no identification and no matching of people to queue tokens.
Q20. Is raw video stored?
No. Frames are processed in the browser and discarded. Only an aggregate number is sent to the server.
Q21. Does the system control the elevator?
No. QueueSense provides a virtual boarding queue and traffic estimation for the lift. It does not physically control elevators.
Q22. Does the cafeteria feature order food?
No. It reserves the student's place in the cafeteria line and shows their position. It is place-in-line management, not food ordering.
Q23. What happens if a counter becomes unavailable?
Staff mark the counter Paused or Offline. The change is communicated through the queue system so students are not silently stranded; the “Any Open Counter” option exists where applicable.
Q24. What happens when a student is called?
Staff press Call Next, the server changes the entry to CALLED and emits an SSE event. The ticket turns yellow with “Go to Report Counter A now” and a toast notification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viva reference. Not part of the timed talk. Use these answers if the examiner asks. Full answers for this page:
Q25. What happens if a student does not show up?
Staff use Skip to mark the no-show, and the queue moves on to the next student. The action is part of the recorded queue history.
Q26. How does realtime synchronization work?
State changes happen on the server first. The server then publishes events over SSE to connected clients, which update their views from the authoritative server state.
Q27. What is the role of SSE?
SSE is the delivery channel for live updates: new entries, position changes, called/serving/completed transitions, traffic changes and notifications — without page refreshes.
Q28. What if the network connection temporarily fails?
The student's place is stored on the server, so a dropped connection doesn't lose it. The browser's SSE client reconnects, and the UI reloads current state from the server.
Q29. How is the queue state kept consistent?
The server is authoritative, queue operations run transactionally, and MySQL constraints (foreign keys, unique, CHECK) reject invalid states. Zod validates every input.
Q30. How would you scale this to multiple servers?
MySQL stays the source of truth. Realtime needs a shared pub/sub layer, e.g. Redis (future scope), so an event raised on one instance reaches SSE clients connected to any instance.
Q31. What are the limitations of the current system?
Wait times are estimates; realtime is single-instance; camera counts are approximate; there is no email/SMS, SSO, MFA or self-service password reset yet.
Q32. What future features could be added?
Email and SMS notifications, password reset, SSO, admin MFA, Redis-based realtime, historical forecasting, kiosk mode, QR check-in, dark mode and richer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slideLayout" Target="../slideLayouts/slideLayout1.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Shape 0"/>
          <p:cNvSpPr/>
          <p:nvPr/>
        </p:nvSpPr>
        <p:spPr>
          <a:xfrm>
            <a:off x="640080" y="731520"/>
            <a:ext cx="566928" cy="566928"/>
          </a:xfrm>
          <a:prstGeom prst="roundRect">
            <a:avLst>
              <a:gd name="adj" fmla="val 28000"/>
            </a:avLst>
          </a:prstGeom>
          <a:solidFill>
            <a:srgbClr val="6D28D9"/>
          </a:solidFill>
          <a:ln/>
        </p:spPr>
      </p:sp>
      <p:pic>
        <p:nvPicPr>
          <p:cNvPr id="3" name="Image 0" descr="preencoded.png">    </p:cNvPr>
          <p:cNvPicPr>
            <a:picLocks noChangeAspect="1"/>
          </p:cNvPicPr>
          <p:nvPr/>
        </p:nvPicPr>
        <p:blipFill>
          <a:blip r:embed="rId1"/>
          <a:stretch>
            <a:fillRect/>
          </a:stretch>
        </p:blipFill>
        <p:spPr>
          <a:xfrm>
            <a:off x="764804" y="856244"/>
            <a:ext cx="317480" cy="317480"/>
          </a:xfrm>
          <a:prstGeom prst="rect">
            <a:avLst/>
          </a:prstGeom>
        </p:spPr>
      </p:pic>
      <p:sp>
        <p:nvSpPr>
          <p:cNvPr id="4" name="Text 1"/>
          <p:cNvSpPr txBox="1"/>
          <p:nvPr/>
        </p:nvSpPr>
        <p:spPr>
          <a:xfrm>
            <a:off x="1371600" y="868680"/>
            <a:ext cx="5486400" cy="274320"/>
          </a:xfrm>
          <a:prstGeom prst="rect">
            <a:avLst/>
          </a:prstGeom>
          <a:noFill/>
          <a:ln/>
        </p:spPr>
        <p:txBody>
          <a:bodyPr wrap="square" lIns="0" tIns="0" rIns="0" bIns="0" rtlCol="0" anchor="t"/>
          <a:lstStyle/>
          <a:p>
            <a:pPr algn="l" indent="0" marL="0">
              <a:buNone/>
            </a:pPr>
            <a:r>
              <a:rPr lang="en-US" sz="1100" b="1" spc="200" kern="0" dirty="0">
                <a:solidFill>
                  <a:srgbClr val="A78BFA"/>
                </a:solidFill>
                <a:latin typeface="Calibri" pitchFamily="34" charset="0"/>
                <a:ea typeface="Calibri" pitchFamily="34" charset="-122"/>
                <a:cs typeface="Calibri" pitchFamily="34" charset="-120"/>
              </a:rPr>
              <a:t>FULL STACK WEB DEVELOPMENT  ·  HACKATHON PROJECT</a:t>
            </a:r>
            <a:endParaRPr lang="en-US" sz="1100" dirty="0"/>
          </a:p>
        </p:txBody>
      </p:sp>
      <p:sp>
        <p:nvSpPr>
          <p:cNvPr id="5" name="Text 2"/>
          <p:cNvSpPr txBox="1"/>
          <p:nvPr/>
        </p:nvSpPr>
        <p:spPr>
          <a:xfrm>
            <a:off x="640080" y="1554480"/>
            <a:ext cx="6309360" cy="1005840"/>
          </a:xfrm>
          <a:prstGeom prst="rect">
            <a:avLst/>
          </a:prstGeom>
          <a:noFill/>
          <a:ln/>
        </p:spPr>
        <p:txBody>
          <a:bodyPr wrap="square" lIns="0" tIns="0" rIns="0" bIns="0" rtlCol="0" anchor="t"/>
          <a:lstStyle/>
          <a:p>
            <a:pPr algn="l" indent="0" marL="0">
              <a:buNone/>
            </a:pPr>
            <a:r>
              <a:rPr lang="en-US" sz="6400" b="1" dirty="0">
                <a:solidFill>
                  <a:srgbClr val="FFFFFF"/>
                </a:solidFill>
                <a:latin typeface="Calibri" pitchFamily="34" charset="0"/>
                <a:ea typeface="Calibri" pitchFamily="34" charset="-122"/>
                <a:cs typeface="Calibri" pitchFamily="34" charset="-120"/>
              </a:rPr>
              <a:t>QueueSense</a:t>
            </a:r>
            <a:endParaRPr lang="en-US" sz="6400" dirty="0"/>
          </a:p>
        </p:txBody>
      </p:sp>
      <p:sp>
        <p:nvSpPr>
          <p:cNvPr id="6" name="Text 3"/>
          <p:cNvSpPr txBox="1"/>
          <p:nvPr/>
        </p:nvSpPr>
        <p:spPr>
          <a:xfrm>
            <a:off x="640080" y="2606040"/>
            <a:ext cx="6309360" cy="457200"/>
          </a:xfrm>
          <a:prstGeom prst="rect">
            <a:avLst/>
          </a:prstGeom>
          <a:noFill/>
          <a:ln/>
        </p:spPr>
        <p:txBody>
          <a:bodyPr wrap="square" lIns="0" tIns="0" rIns="0" bIns="0" rtlCol="0" anchor="t"/>
          <a:lstStyle/>
          <a:p>
            <a:pPr algn="l" indent="0" marL="0">
              <a:buNone/>
            </a:pPr>
            <a:r>
              <a:rPr lang="en-US" sz="2400" i="1" dirty="0">
                <a:solidFill>
                  <a:srgbClr val="C4B5FD"/>
                </a:solidFill>
                <a:latin typeface="Calibri" pitchFamily="34" charset="0"/>
                <a:ea typeface="Calibri" pitchFamily="34" charset="-122"/>
                <a:cs typeface="Calibri" pitchFamily="34" charset="-120"/>
              </a:rPr>
              <a:t>“Don’t Stand in Line. Know Your Turn.”</a:t>
            </a:r>
            <a:endParaRPr lang="en-US" sz="2400" dirty="0"/>
          </a:p>
        </p:txBody>
      </p:sp>
      <p:sp>
        <p:nvSpPr>
          <p:cNvPr id="7" name="Text 4"/>
          <p:cNvSpPr txBox="1"/>
          <p:nvPr/>
        </p:nvSpPr>
        <p:spPr>
          <a:xfrm>
            <a:off x="640080" y="3154680"/>
            <a:ext cx="6309360" cy="365760"/>
          </a:xfrm>
          <a:prstGeom prst="rect">
            <a:avLst/>
          </a:prstGeom>
          <a:noFill/>
          <a:ln/>
        </p:spPr>
        <p:txBody>
          <a:bodyPr wrap="square" lIns="0" tIns="0" rIns="0" bIns="0" rtlCol="0" anchor="t"/>
          <a:lstStyle/>
          <a:p>
            <a:pPr algn="l" indent="0" marL="0">
              <a:buNone/>
            </a:pPr>
            <a:r>
              <a:rPr lang="en-US" sz="1700" dirty="0">
                <a:solidFill>
                  <a:srgbClr val="CBD5E1"/>
                </a:solidFill>
                <a:latin typeface="Calibri" pitchFamily="34" charset="0"/>
                <a:ea typeface="Calibri" pitchFamily="34" charset="-122"/>
                <a:cs typeface="Calibri" pitchFamily="34" charset="-120"/>
              </a:rPr>
              <a:t>Smart Real-Time Queue Management for Campus Services</a:t>
            </a:r>
            <a:endParaRPr lang="en-US" sz="1700" dirty="0"/>
          </a:p>
        </p:txBody>
      </p:sp>
      <p:sp>
        <p:nvSpPr>
          <p:cNvPr id="8" name="Text 5"/>
          <p:cNvSpPr txBox="1"/>
          <p:nvPr/>
        </p:nvSpPr>
        <p:spPr>
          <a:xfrm>
            <a:off x="640080" y="4160520"/>
            <a:ext cx="3017520" cy="228600"/>
          </a:xfrm>
          <a:prstGeom prst="rect">
            <a:avLst/>
          </a:prstGeom>
          <a:noFill/>
          <a:ln/>
        </p:spPr>
        <p:txBody>
          <a:bodyPr wrap="square" lIns="0" tIns="0" rIns="0" bIns="0" rtlCol="0" anchor="t"/>
          <a:lstStyle/>
          <a:p>
            <a:pPr algn="l" indent="0" marL="0">
              <a:buNone/>
            </a:pPr>
            <a:r>
              <a:rPr lang="en-US" sz="1000" b="1" spc="200" kern="0" dirty="0">
                <a:solidFill>
                  <a:srgbClr val="7C86A8"/>
                </a:solidFill>
                <a:latin typeface="Calibri" pitchFamily="34" charset="0"/>
                <a:ea typeface="Calibri" pitchFamily="34" charset="-122"/>
                <a:cs typeface="Calibri" pitchFamily="34" charset="-120"/>
              </a:rPr>
              <a:t>PRESENTED BY</a:t>
            </a:r>
            <a:endParaRPr lang="en-US" sz="1000" dirty="0"/>
          </a:p>
        </p:txBody>
      </p:sp>
      <p:sp>
        <p:nvSpPr>
          <p:cNvPr id="9" name="Text 6"/>
          <p:cNvSpPr txBox="1"/>
          <p:nvPr/>
        </p:nvSpPr>
        <p:spPr>
          <a:xfrm>
            <a:off x="640080" y="4416552"/>
            <a:ext cx="3017520" cy="50292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Puneet Sreevatsal Jagadam</a:t>
            </a:r>
            <a:endParaRPr lang="en-US" sz="1400" dirty="0"/>
          </a:p>
        </p:txBody>
      </p:sp>
      <p:sp>
        <p:nvSpPr>
          <p:cNvPr id="10" name="Text 7"/>
          <p:cNvSpPr txBox="1"/>
          <p:nvPr/>
        </p:nvSpPr>
        <p:spPr>
          <a:xfrm>
            <a:off x="3794760" y="4160520"/>
            <a:ext cx="3017520" cy="228600"/>
          </a:xfrm>
          <a:prstGeom prst="rect">
            <a:avLst/>
          </a:prstGeom>
          <a:noFill/>
          <a:ln/>
        </p:spPr>
        <p:txBody>
          <a:bodyPr wrap="square" lIns="0" tIns="0" rIns="0" bIns="0" rtlCol="0" anchor="t"/>
          <a:lstStyle/>
          <a:p>
            <a:pPr algn="l" indent="0" marL="0">
              <a:buNone/>
            </a:pPr>
            <a:r>
              <a:rPr lang="en-US" sz="1000" b="1" spc="200" kern="0" dirty="0">
                <a:solidFill>
                  <a:srgbClr val="7C86A8"/>
                </a:solidFill>
                <a:latin typeface="Calibri" pitchFamily="34" charset="0"/>
                <a:ea typeface="Calibri" pitchFamily="34" charset="-122"/>
                <a:cs typeface="Calibri" pitchFamily="34" charset="-120"/>
              </a:rPr>
              <a:t>PROGRAMME</a:t>
            </a:r>
            <a:endParaRPr lang="en-US" sz="1000" dirty="0"/>
          </a:p>
        </p:txBody>
      </p:sp>
      <p:sp>
        <p:nvSpPr>
          <p:cNvPr id="11" name="Text 8"/>
          <p:cNvSpPr txBox="1"/>
          <p:nvPr/>
        </p:nvSpPr>
        <p:spPr>
          <a:xfrm>
            <a:off x="3794760" y="4416552"/>
            <a:ext cx="3017520" cy="50292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B.Tech Computer Science and Engineering</a:t>
            </a:r>
            <a:endParaRPr lang="en-US" sz="1400" dirty="0"/>
          </a:p>
        </p:txBody>
      </p:sp>
      <p:sp>
        <p:nvSpPr>
          <p:cNvPr id="12" name="Text 9"/>
          <p:cNvSpPr txBox="1"/>
          <p:nvPr/>
        </p:nvSpPr>
        <p:spPr>
          <a:xfrm>
            <a:off x="640080" y="5074920"/>
            <a:ext cx="3017520" cy="228600"/>
          </a:xfrm>
          <a:prstGeom prst="rect">
            <a:avLst/>
          </a:prstGeom>
          <a:noFill/>
          <a:ln/>
        </p:spPr>
        <p:txBody>
          <a:bodyPr wrap="square" lIns="0" tIns="0" rIns="0" bIns="0" rtlCol="0" anchor="t"/>
          <a:lstStyle/>
          <a:p>
            <a:pPr algn="l" indent="0" marL="0">
              <a:buNone/>
            </a:pPr>
            <a:r>
              <a:rPr lang="en-US" sz="1000" b="1" spc="200" kern="0" dirty="0">
                <a:solidFill>
                  <a:srgbClr val="7C86A8"/>
                </a:solidFill>
                <a:latin typeface="Calibri" pitchFamily="34" charset="0"/>
                <a:ea typeface="Calibri" pitchFamily="34" charset="-122"/>
                <a:cs typeface="Calibri" pitchFamily="34" charset="-120"/>
              </a:rPr>
              <a:t>INSTITUTION</a:t>
            </a:r>
            <a:endParaRPr lang="en-US" sz="1000" dirty="0"/>
          </a:p>
        </p:txBody>
      </p:sp>
      <p:sp>
        <p:nvSpPr>
          <p:cNvPr id="13" name="Text 10"/>
          <p:cNvSpPr txBox="1"/>
          <p:nvPr/>
        </p:nvSpPr>
        <p:spPr>
          <a:xfrm>
            <a:off x="640080" y="5330952"/>
            <a:ext cx="3017520" cy="50292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SRM Institute of Science and Technology</a:t>
            </a:r>
            <a:endParaRPr lang="en-US" sz="1400" dirty="0"/>
          </a:p>
        </p:txBody>
      </p:sp>
      <p:sp>
        <p:nvSpPr>
          <p:cNvPr id="14" name="Text 11"/>
          <p:cNvSpPr txBox="1"/>
          <p:nvPr/>
        </p:nvSpPr>
        <p:spPr>
          <a:xfrm>
            <a:off x="3794760" y="5074920"/>
            <a:ext cx="3017520" cy="228600"/>
          </a:xfrm>
          <a:prstGeom prst="rect">
            <a:avLst/>
          </a:prstGeom>
          <a:noFill/>
          <a:ln/>
        </p:spPr>
        <p:txBody>
          <a:bodyPr wrap="square" lIns="0" tIns="0" rIns="0" bIns="0" rtlCol="0" anchor="t"/>
          <a:lstStyle/>
          <a:p>
            <a:pPr algn="l" indent="0" marL="0">
              <a:buNone/>
            </a:pPr>
            <a:r>
              <a:rPr lang="en-US" sz="1000" b="1" spc="200" kern="0" dirty="0">
                <a:solidFill>
                  <a:srgbClr val="7C86A8"/>
                </a:solidFill>
                <a:latin typeface="Calibri" pitchFamily="34" charset="0"/>
                <a:ea typeface="Calibri" pitchFamily="34" charset="-122"/>
                <a:cs typeface="Calibri" pitchFamily="34" charset="-120"/>
              </a:rPr>
              <a:t>PROJECT / COURSE</a:t>
            </a:r>
            <a:endParaRPr lang="en-US" sz="1000" dirty="0"/>
          </a:p>
        </p:txBody>
      </p:sp>
      <p:sp>
        <p:nvSpPr>
          <p:cNvPr id="15" name="Text 12"/>
          <p:cNvSpPr txBox="1"/>
          <p:nvPr/>
        </p:nvSpPr>
        <p:spPr>
          <a:xfrm>
            <a:off x="3794760" y="5330952"/>
            <a:ext cx="3017520" cy="50292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Full Stack Web Development</a:t>
            </a:r>
            <a:endParaRPr lang="en-US" sz="1400" dirty="0"/>
          </a:p>
        </p:txBody>
      </p:sp>
      <p:sp>
        <p:nvSpPr>
          <p:cNvPr id="16" name="Shape 13"/>
          <p:cNvSpPr/>
          <p:nvPr/>
        </p:nvSpPr>
        <p:spPr>
          <a:xfrm>
            <a:off x="8001000" y="1234440"/>
            <a:ext cx="3657600" cy="4754880"/>
          </a:xfrm>
          <a:prstGeom prst="roundRect">
            <a:avLst>
              <a:gd name="adj" fmla="val 6250"/>
            </a:avLst>
          </a:prstGeom>
          <a:solidFill>
            <a:srgbClr val="222B55"/>
          </a:solidFill>
          <a:ln/>
        </p:spPr>
      </p:sp>
      <p:sp>
        <p:nvSpPr>
          <p:cNvPr id="17" name="Shape 14"/>
          <p:cNvSpPr/>
          <p:nvPr/>
        </p:nvSpPr>
        <p:spPr>
          <a:xfrm>
            <a:off x="7818120" y="1005840"/>
            <a:ext cx="3657600" cy="4937760"/>
          </a:xfrm>
          <a:prstGeom prst="roundRect">
            <a:avLst>
              <a:gd name="adj" fmla="val 6250"/>
            </a:avLst>
          </a:prstGeom>
          <a:solidFill>
            <a:srgbClr val="161D40"/>
          </a:solidFill>
          <a:ln/>
        </p:spPr>
      </p:sp>
      <p:sp>
        <p:nvSpPr>
          <p:cNvPr id="18" name="Shape 15"/>
          <p:cNvSpPr/>
          <p:nvPr/>
        </p:nvSpPr>
        <p:spPr>
          <a:xfrm>
            <a:off x="7543800" y="777240"/>
            <a:ext cx="3749040" cy="5303520"/>
          </a:xfrm>
          <a:prstGeom prst="roundRect">
            <a:avLst>
              <a:gd name="adj" fmla="val 6098"/>
            </a:avLst>
          </a:prstGeom>
          <a:solidFill>
            <a:srgbClr val="FFFFFF"/>
          </a:solidFill>
          <a:ln/>
        </p:spPr>
      </p:sp>
      <p:sp>
        <p:nvSpPr>
          <p:cNvPr id="19" name="Text 16"/>
          <p:cNvSpPr txBox="1"/>
          <p:nvPr/>
        </p:nvSpPr>
        <p:spPr>
          <a:xfrm>
            <a:off x="7863840" y="1051560"/>
            <a:ext cx="3200400" cy="228600"/>
          </a:xfrm>
          <a:prstGeom prst="rect">
            <a:avLst/>
          </a:prstGeom>
          <a:noFill/>
          <a:ln/>
        </p:spPr>
        <p:txBody>
          <a:bodyPr wrap="square" lIns="0" tIns="0" rIns="0" bIns="0" rtlCol="0" anchor="t"/>
          <a:lstStyle/>
          <a:p>
            <a:pPr algn="l" indent="0" marL="0">
              <a:buNone/>
            </a:pPr>
            <a:r>
              <a:rPr lang="en-US" sz="1000" b="1" spc="100" kern="0" dirty="0">
                <a:solidFill>
                  <a:srgbClr val="5B6478"/>
                </a:solidFill>
                <a:latin typeface="Calibri" pitchFamily="34" charset="0"/>
                <a:ea typeface="Calibri" pitchFamily="34" charset="-122"/>
                <a:cs typeface="Calibri" pitchFamily="34" charset="-120"/>
              </a:rPr>
              <a:t>PRINTING  ›  REPORT/BULK PRINTING</a:t>
            </a:r>
            <a:endParaRPr lang="en-US" sz="1000" dirty="0"/>
          </a:p>
        </p:txBody>
      </p:sp>
      <p:sp>
        <p:nvSpPr>
          <p:cNvPr id="20" name="Text 17"/>
          <p:cNvSpPr txBox="1"/>
          <p:nvPr/>
        </p:nvSpPr>
        <p:spPr>
          <a:xfrm>
            <a:off x="7863840" y="1280160"/>
            <a:ext cx="3200400" cy="365760"/>
          </a:xfrm>
          <a:prstGeom prst="rect">
            <a:avLst/>
          </a:prstGeom>
          <a:noFill/>
          <a:ln/>
        </p:spPr>
        <p:txBody>
          <a:bodyPr wrap="square" lIns="0" tIns="0" rIns="0" bIns="0" rtlCol="0" anchor="t"/>
          <a:lstStyle/>
          <a:p>
            <a:pPr algn="l" indent="0" marL="0">
              <a:buNone/>
            </a:pPr>
            <a:r>
              <a:rPr lang="en-US" sz="1800" b="1" dirty="0">
                <a:solidFill>
                  <a:srgbClr val="0F172A"/>
                </a:solidFill>
                <a:latin typeface="Calibri" pitchFamily="34" charset="0"/>
                <a:ea typeface="Calibri" pitchFamily="34" charset="-122"/>
                <a:cs typeface="Calibri" pitchFamily="34" charset="-120"/>
              </a:rPr>
              <a:t>Report Counter A</a:t>
            </a:r>
            <a:endParaRPr lang="en-US" sz="1800" dirty="0"/>
          </a:p>
        </p:txBody>
      </p:sp>
      <p:sp>
        <p:nvSpPr>
          <p:cNvPr id="21" name="Shape 18"/>
          <p:cNvSpPr/>
          <p:nvPr/>
        </p:nvSpPr>
        <p:spPr>
          <a:xfrm>
            <a:off x="7863840" y="1783080"/>
            <a:ext cx="3108960" cy="1508760"/>
          </a:xfrm>
          <a:prstGeom prst="roundRect">
            <a:avLst>
              <a:gd name="adj" fmla="val 10909"/>
            </a:avLst>
          </a:prstGeom>
          <a:solidFill>
            <a:srgbClr val="6D28D9"/>
          </a:solidFill>
          <a:ln/>
        </p:spPr>
      </p:sp>
      <p:sp>
        <p:nvSpPr>
          <p:cNvPr id="22" name="Text 19"/>
          <p:cNvSpPr txBox="1"/>
          <p:nvPr/>
        </p:nvSpPr>
        <p:spPr>
          <a:xfrm>
            <a:off x="8092440" y="1947672"/>
            <a:ext cx="1828800" cy="228600"/>
          </a:xfrm>
          <a:prstGeom prst="rect">
            <a:avLst/>
          </a:prstGeom>
          <a:noFill/>
          <a:ln/>
        </p:spPr>
        <p:txBody>
          <a:bodyPr wrap="square" lIns="0" tIns="0" rIns="0" bIns="0" rtlCol="0" anchor="t"/>
          <a:lstStyle/>
          <a:p>
            <a:pPr algn="l" indent="0" marL="0">
              <a:buNone/>
            </a:pPr>
            <a:r>
              <a:rPr lang="en-US" sz="1000" b="1" spc="200" kern="0" dirty="0">
                <a:solidFill>
                  <a:srgbClr val="DDD6FE"/>
                </a:solidFill>
                <a:latin typeface="Calibri" pitchFamily="34" charset="0"/>
                <a:ea typeface="Calibri" pitchFamily="34" charset="-122"/>
                <a:cs typeface="Calibri" pitchFamily="34" charset="-120"/>
              </a:rPr>
              <a:t>YOUR TOKEN</a:t>
            </a:r>
            <a:endParaRPr lang="en-US" sz="1000" dirty="0"/>
          </a:p>
        </p:txBody>
      </p:sp>
      <p:sp>
        <p:nvSpPr>
          <p:cNvPr id="23" name="Text 20"/>
          <p:cNvSpPr txBox="1"/>
          <p:nvPr/>
        </p:nvSpPr>
        <p:spPr>
          <a:xfrm>
            <a:off x="8092440" y="2194560"/>
            <a:ext cx="2743200" cy="731520"/>
          </a:xfrm>
          <a:prstGeom prst="rect">
            <a:avLst/>
          </a:prstGeom>
          <a:noFill/>
          <a:ln/>
        </p:spPr>
        <p:txBody>
          <a:bodyPr wrap="square" lIns="0" tIns="0" rIns="0" bIns="0" rtlCol="0" anchor="t"/>
          <a:lstStyle/>
          <a:p>
            <a:pPr algn="l" indent="0" marL="0">
              <a:buNone/>
            </a:pPr>
            <a:r>
              <a:rPr lang="en-US" sz="4600" b="1" dirty="0">
                <a:solidFill>
                  <a:srgbClr val="FFFFFF"/>
                </a:solidFill>
                <a:latin typeface="Calibri" pitchFamily="34" charset="0"/>
                <a:ea typeface="Calibri" pitchFamily="34" charset="-122"/>
                <a:cs typeface="Calibri" pitchFamily="34" charset="-120"/>
              </a:rPr>
              <a:t>RA003</a:t>
            </a:r>
            <a:endParaRPr lang="en-US" sz="4600" dirty="0"/>
          </a:p>
        </p:txBody>
      </p:sp>
      <p:sp>
        <p:nvSpPr>
          <p:cNvPr id="24" name="Shape 21"/>
          <p:cNvSpPr/>
          <p:nvPr/>
        </p:nvSpPr>
        <p:spPr>
          <a:xfrm>
            <a:off x="9784080" y="1947672"/>
            <a:ext cx="960120" cy="274320"/>
          </a:xfrm>
          <a:prstGeom prst="roundRect">
            <a:avLst>
              <a:gd name="adj" fmla="val 50000"/>
            </a:avLst>
          </a:prstGeom>
          <a:solidFill>
            <a:srgbClr val="FFFFFF"/>
          </a:solidFill>
          <a:ln/>
        </p:spPr>
      </p:sp>
      <p:sp>
        <p:nvSpPr>
          <p:cNvPr id="25" name="Text 22"/>
          <p:cNvSpPr txBox="1"/>
          <p:nvPr/>
        </p:nvSpPr>
        <p:spPr>
          <a:xfrm>
            <a:off x="9838944" y="1947672"/>
            <a:ext cx="850392" cy="274320"/>
          </a:xfrm>
          <a:prstGeom prst="rect">
            <a:avLst/>
          </a:prstGeom>
          <a:noFill/>
          <a:ln/>
        </p:spPr>
        <p:txBody>
          <a:bodyPr wrap="square" lIns="0" tIns="0" rIns="0" bIns="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WAITING</a:t>
            </a:r>
            <a:endParaRPr lang="en-US" sz="1000" dirty="0"/>
          </a:p>
        </p:txBody>
      </p:sp>
      <p:sp>
        <p:nvSpPr>
          <p:cNvPr id="26" name="Text 23"/>
          <p:cNvSpPr txBox="1"/>
          <p:nvPr/>
        </p:nvSpPr>
        <p:spPr>
          <a:xfrm>
            <a:off x="8092440" y="2926080"/>
            <a:ext cx="2743200" cy="256032"/>
          </a:xfrm>
          <a:prstGeom prst="rect">
            <a:avLst/>
          </a:prstGeom>
          <a:noFill/>
          <a:ln/>
        </p:spPr>
        <p:txBody>
          <a:bodyPr wrap="square" lIns="0" tIns="0" rIns="0" bIns="0" rtlCol="0" anchor="t"/>
          <a:lstStyle/>
          <a:p>
            <a:pPr algn="l" indent="0" marL="0">
              <a:buNone/>
            </a:pPr>
            <a:r>
              <a:rPr lang="en-US" sz="1100" dirty="0">
                <a:solidFill>
                  <a:srgbClr val="EDE9FE"/>
                </a:solidFill>
                <a:latin typeface="Calibri" pitchFamily="34" charset="0"/>
                <a:ea typeface="Calibri" pitchFamily="34" charset="-122"/>
                <a:cs typeface="Calibri" pitchFamily="34" charset="-120"/>
              </a:rPr>
              <a:t>Stay nearby — we’ll notify you</a:t>
            </a:r>
            <a:endParaRPr lang="en-US" sz="1100" dirty="0"/>
          </a:p>
        </p:txBody>
      </p:sp>
      <p:sp>
        <p:nvSpPr>
          <p:cNvPr id="27" name="Shape 24"/>
          <p:cNvSpPr/>
          <p:nvPr/>
        </p:nvSpPr>
        <p:spPr>
          <a:xfrm>
            <a:off x="7863840" y="3520440"/>
            <a:ext cx="960120" cy="914400"/>
          </a:xfrm>
          <a:prstGeom prst="roundRect">
            <a:avLst>
              <a:gd name="adj" fmla="val 12000"/>
            </a:avLst>
          </a:prstGeom>
          <a:solidFill>
            <a:srgbClr val="F3F4F9"/>
          </a:solidFill>
          <a:ln/>
        </p:spPr>
      </p:sp>
      <p:sp>
        <p:nvSpPr>
          <p:cNvPr id="28" name="Text 25"/>
          <p:cNvSpPr txBox="1"/>
          <p:nvPr/>
        </p:nvSpPr>
        <p:spPr>
          <a:xfrm>
            <a:off x="7863840" y="3611880"/>
            <a:ext cx="960120" cy="411480"/>
          </a:xfrm>
          <a:prstGeom prst="rect">
            <a:avLst/>
          </a:prstGeom>
          <a:noFill/>
          <a:ln/>
        </p:spPr>
        <p:txBody>
          <a:bodyPr wrap="square" lIns="0" tIns="0" rIns="0" bIns="0" rtlCol="0" anchor="t"/>
          <a:lstStyle/>
          <a:p>
            <a:pPr algn="ctr" indent="0" marL="0">
              <a:buNone/>
            </a:pPr>
            <a:r>
              <a:rPr lang="en-US" sz="2000" b="1" dirty="0">
                <a:solidFill>
                  <a:srgbClr val="0F172A"/>
                </a:solidFill>
                <a:latin typeface="Calibri" pitchFamily="34" charset="0"/>
                <a:ea typeface="Calibri" pitchFamily="34" charset="-122"/>
                <a:cs typeface="Calibri" pitchFamily="34" charset="-120"/>
              </a:rPr>
              <a:t>3 / 3</a:t>
            </a:r>
            <a:endParaRPr lang="en-US" sz="2000" dirty="0"/>
          </a:p>
        </p:txBody>
      </p:sp>
      <p:sp>
        <p:nvSpPr>
          <p:cNvPr id="29" name="Text 26"/>
          <p:cNvSpPr txBox="1"/>
          <p:nvPr/>
        </p:nvSpPr>
        <p:spPr>
          <a:xfrm>
            <a:off x="7863840" y="4050792"/>
            <a:ext cx="960120" cy="274320"/>
          </a:xfrm>
          <a:prstGeom prst="rect">
            <a:avLst/>
          </a:prstGeom>
          <a:noFill/>
          <a:ln/>
        </p:spPr>
        <p:txBody>
          <a:bodyPr wrap="square" lIns="0" tIns="0" rIns="0" bIns="0"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Position</a:t>
            </a:r>
            <a:endParaRPr lang="en-US" sz="950" dirty="0"/>
          </a:p>
        </p:txBody>
      </p:sp>
      <p:sp>
        <p:nvSpPr>
          <p:cNvPr id="30" name="Shape 27"/>
          <p:cNvSpPr/>
          <p:nvPr/>
        </p:nvSpPr>
        <p:spPr>
          <a:xfrm>
            <a:off x="8915400" y="3520440"/>
            <a:ext cx="960120" cy="914400"/>
          </a:xfrm>
          <a:prstGeom prst="roundRect">
            <a:avLst>
              <a:gd name="adj" fmla="val 12000"/>
            </a:avLst>
          </a:prstGeom>
          <a:solidFill>
            <a:srgbClr val="F3F4F9"/>
          </a:solidFill>
          <a:ln/>
        </p:spPr>
      </p:sp>
      <p:sp>
        <p:nvSpPr>
          <p:cNvPr id="31" name="Text 28"/>
          <p:cNvSpPr txBox="1"/>
          <p:nvPr/>
        </p:nvSpPr>
        <p:spPr>
          <a:xfrm>
            <a:off x="8915400" y="3611880"/>
            <a:ext cx="960120" cy="411480"/>
          </a:xfrm>
          <a:prstGeom prst="rect">
            <a:avLst/>
          </a:prstGeom>
          <a:noFill/>
          <a:ln/>
        </p:spPr>
        <p:txBody>
          <a:bodyPr wrap="square" lIns="0" tIns="0" rIns="0" bIns="0" rtlCol="0" anchor="t"/>
          <a:lstStyle/>
          <a:p>
            <a:pPr algn="ctr" indent="0" marL="0">
              <a:buNone/>
            </a:pPr>
            <a:r>
              <a:rPr lang="en-US" sz="2000" b="1" dirty="0">
                <a:solidFill>
                  <a:srgbClr val="0F172A"/>
                </a:solidFill>
                <a:latin typeface="Calibri" pitchFamily="34" charset="0"/>
                <a:ea typeface="Calibri" pitchFamily="34" charset="-122"/>
                <a:cs typeface="Calibri" pitchFamily="34" charset="-120"/>
              </a:rPr>
              <a:t>2</a:t>
            </a:r>
            <a:endParaRPr lang="en-US" sz="2000" dirty="0"/>
          </a:p>
        </p:txBody>
      </p:sp>
      <p:sp>
        <p:nvSpPr>
          <p:cNvPr id="32" name="Text 29"/>
          <p:cNvSpPr txBox="1"/>
          <p:nvPr/>
        </p:nvSpPr>
        <p:spPr>
          <a:xfrm>
            <a:off x="8915400" y="4050792"/>
            <a:ext cx="960120" cy="274320"/>
          </a:xfrm>
          <a:prstGeom prst="rect">
            <a:avLst/>
          </a:prstGeom>
          <a:noFill/>
          <a:ln/>
        </p:spPr>
        <p:txBody>
          <a:bodyPr wrap="square" lIns="0" tIns="0" rIns="0" bIns="0"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People ahead</a:t>
            </a:r>
            <a:endParaRPr lang="en-US" sz="950" dirty="0"/>
          </a:p>
        </p:txBody>
      </p:sp>
      <p:sp>
        <p:nvSpPr>
          <p:cNvPr id="33" name="Shape 30"/>
          <p:cNvSpPr/>
          <p:nvPr/>
        </p:nvSpPr>
        <p:spPr>
          <a:xfrm>
            <a:off x="9966960" y="3520440"/>
            <a:ext cx="960120" cy="914400"/>
          </a:xfrm>
          <a:prstGeom prst="roundRect">
            <a:avLst>
              <a:gd name="adj" fmla="val 12000"/>
            </a:avLst>
          </a:prstGeom>
          <a:solidFill>
            <a:srgbClr val="F3F4F9"/>
          </a:solidFill>
          <a:ln/>
        </p:spPr>
      </p:sp>
      <p:sp>
        <p:nvSpPr>
          <p:cNvPr id="34" name="Text 31"/>
          <p:cNvSpPr txBox="1"/>
          <p:nvPr/>
        </p:nvSpPr>
        <p:spPr>
          <a:xfrm>
            <a:off x="9966960" y="3611880"/>
            <a:ext cx="960120" cy="411480"/>
          </a:xfrm>
          <a:prstGeom prst="rect">
            <a:avLst/>
          </a:prstGeom>
          <a:noFill/>
          <a:ln/>
        </p:spPr>
        <p:txBody>
          <a:bodyPr wrap="square" lIns="0" tIns="0" rIns="0" bIns="0" rtlCol="0" anchor="t"/>
          <a:lstStyle/>
          <a:p>
            <a:pPr algn="ctr" indent="0" marL="0">
              <a:buNone/>
            </a:pPr>
            <a:r>
              <a:rPr lang="en-US" sz="2000" b="1" dirty="0">
                <a:solidFill>
                  <a:srgbClr val="0F172A"/>
                </a:solidFill>
                <a:latin typeface="Calibri" pitchFamily="34" charset="0"/>
                <a:ea typeface="Calibri" pitchFamily="34" charset="-122"/>
                <a:cs typeface="Calibri" pitchFamily="34" charset="-120"/>
              </a:rPr>
              <a:t>06:40</a:t>
            </a:r>
            <a:endParaRPr lang="en-US" sz="2000" dirty="0"/>
          </a:p>
        </p:txBody>
      </p:sp>
      <p:sp>
        <p:nvSpPr>
          <p:cNvPr id="35" name="Text 32"/>
          <p:cNvSpPr txBox="1"/>
          <p:nvPr/>
        </p:nvSpPr>
        <p:spPr>
          <a:xfrm>
            <a:off x="9966960" y="4050792"/>
            <a:ext cx="960120" cy="274320"/>
          </a:xfrm>
          <a:prstGeom prst="rect">
            <a:avLst/>
          </a:prstGeom>
          <a:noFill/>
          <a:ln/>
        </p:spPr>
        <p:txBody>
          <a:bodyPr wrap="square" lIns="0" tIns="0" rIns="0" bIns="0" rtlCol="0" anchor="t"/>
          <a:lstStyle/>
          <a:p>
            <a:pPr algn="ctr" indent="0" marL="0">
              <a:buNone/>
            </a:pPr>
            <a:r>
              <a:rPr lang="en-US" sz="950" dirty="0">
                <a:solidFill>
                  <a:srgbClr val="5B6478"/>
                </a:solidFill>
                <a:latin typeface="Calibri" pitchFamily="34" charset="0"/>
                <a:ea typeface="Calibri" pitchFamily="34" charset="-122"/>
                <a:cs typeface="Calibri" pitchFamily="34" charset="-120"/>
              </a:rPr>
              <a:t>Est. wait</a:t>
            </a:r>
            <a:endParaRPr lang="en-US" sz="950" dirty="0"/>
          </a:p>
        </p:txBody>
      </p:sp>
      <p:sp>
        <p:nvSpPr>
          <p:cNvPr id="36" name="Text 33"/>
          <p:cNvSpPr txBox="1"/>
          <p:nvPr/>
        </p:nvSpPr>
        <p:spPr>
          <a:xfrm>
            <a:off x="7863840" y="4544568"/>
            <a:ext cx="3108960" cy="228600"/>
          </a:xfrm>
          <a:prstGeom prst="rect">
            <a:avLst/>
          </a:prstGeom>
          <a:noFill/>
          <a:ln/>
        </p:spPr>
        <p:txBody>
          <a:bodyPr wrap="square" lIns="0" tIns="0" rIns="0" bIns="0" rtlCol="0" anchor="t"/>
          <a:lstStyle/>
          <a:p>
            <a:pPr algn="l" indent="0" marL="0">
              <a:buNone/>
            </a:pPr>
            <a:r>
              <a:rPr lang="en-US" sz="950" i="1" dirty="0">
                <a:solidFill>
                  <a:srgbClr val="5B6478"/>
                </a:solidFill>
                <a:latin typeface="Calibri" pitchFamily="34" charset="0"/>
                <a:ea typeface="Calibri" pitchFamily="34" charset="-122"/>
                <a:cs typeface="Calibri" pitchFamily="34" charset="-120"/>
              </a:rPr>
              <a:t>Estimate only — not an appointment time</a:t>
            </a:r>
            <a:endParaRPr lang="en-US" sz="950" dirty="0"/>
          </a:p>
        </p:txBody>
      </p:sp>
      <p:sp>
        <p:nvSpPr>
          <p:cNvPr id="37" name="Text 34"/>
          <p:cNvSpPr txBox="1"/>
          <p:nvPr/>
        </p:nvSpPr>
        <p:spPr>
          <a:xfrm>
            <a:off x="7863840" y="4937760"/>
            <a:ext cx="2743200" cy="201168"/>
          </a:xfrm>
          <a:prstGeom prst="rect">
            <a:avLst/>
          </a:prstGeom>
          <a:noFill/>
          <a:ln/>
        </p:spPr>
        <p:txBody>
          <a:bodyPr wrap="square" lIns="0" tIns="0" rIns="0" bIns="0" rtlCol="0" anchor="t"/>
          <a:lstStyle/>
          <a:p>
            <a:pPr algn="l" indent="0" marL="0">
              <a:buNone/>
            </a:pPr>
            <a:r>
              <a:rPr lang="en-US" sz="900" b="1" spc="200" kern="0" dirty="0">
                <a:solidFill>
                  <a:srgbClr val="5B6478"/>
                </a:solidFill>
                <a:latin typeface="Calibri" pitchFamily="34" charset="0"/>
                <a:ea typeface="Calibri" pitchFamily="34" charset="-122"/>
                <a:cs typeface="Calibri" pitchFamily="34" charset="-120"/>
              </a:rPr>
              <a:t>TOKEN STATES</a:t>
            </a:r>
            <a:endParaRPr lang="en-US" sz="900" dirty="0"/>
          </a:p>
        </p:txBody>
      </p:sp>
      <p:sp>
        <p:nvSpPr>
          <p:cNvPr id="38" name="Shape 35"/>
          <p:cNvSpPr/>
          <p:nvPr/>
        </p:nvSpPr>
        <p:spPr>
          <a:xfrm>
            <a:off x="7863840" y="5212080"/>
            <a:ext cx="731520" cy="310896"/>
          </a:xfrm>
          <a:prstGeom prst="roundRect">
            <a:avLst>
              <a:gd name="adj" fmla="val 50000"/>
            </a:avLst>
          </a:prstGeom>
          <a:solidFill>
            <a:srgbClr val="6D28D9"/>
          </a:solidFill>
          <a:ln/>
        </p:spPr>
      </p:sp>
      <p:sp>
        <p:nvSpPr>
          <p:cNvPr id="39" name="Text 36"/>
          <p:cNvSpPr txBox="1"/>
          <p:nvPr/>
        </p:nvSpPr>
        <p:spPr>
          <a:xfrm>
            <a:off x="7918704" y="5212080"/>
            <a:ext cx="62179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Waiting</a:t>
            </a:r>
            <a:endParaRPr lang="en-US" sz="1000" dirty="0"/>
          </a:p>
        </p:txBody>
      </p:sp>
      <p:sp>
        <p:nvSpPr>
          <p:cNvPr id="40" name="Shape 37"/>
          <p:cNvSpPr/>
          <p:nvPr/>
        </p:nvSpPr>
        <p:spPr>
          <a:xfrm>
            <a:off x="8650224" y="5212080"/>
            <a:ext cx="731520" cy="310896"/>
          </a:xfrm>
          <a:prstGeom prst="roundRect">
            <a:avLst>
              <a:gd name="adj" fmla="val 50000"/>
            </a:avLst>
          </a:prstGeom>
          <a:solidFill>
            <a:srgbClr val="FACC15"/>
          </a:solidFill>
          <a:ln/>
        </p:spPr>
      </p:sp>
      <p:sp>
        <p:nvSpPr>
          <p:cNvPr id="41" name="Text 38"/>
          <p:cNvSpPr txBox="1"/>
          <p:nvPr/>
        </p:nvSpPr>
        <p:spPr>
          <a:xfrm>
            <a:off x="8705088" y="5212080"/>
            <a:ext cx="621792" cy="310896"/>
          </a:xfrm>
          <a:prstGeom prst="rect">
            <a:avLst/>
          </a:prstGeom>
          <a:noFill/>
          <a:ln/>
        </p:spPr>
        <p:txBody>
          <a:bodyPr wrap="square" lIns="0" tIns="0" rIns="0" bIns="0" rtlCol="0" anchor="ctr"/>
          <a:lstStyle/>
          <a:p>
            <a:pPr algn="ctr" indent="0" marL="0">
              <a:buNone/>
            </a:pPr>
            <a:r>
              <a:rPr lang="en-US" sz="1000" b="1" dirty="0">
                <a:solidFill>
                  <a:srgbClr val="422006"/>
                </a:solidFill>
                <a:latin typeface="Calibri" pitchFamily="34" charset="0"/>
                <a:ea typeface="Calibri" pitchFamily="34" charset="-122"/>
                <a:cs typeface="Calibri" pitchFamily="34" charset="-120"/>
              </a:rPr>
              <a:t>Called</a:t>
            </a:r>
            <a:endParaRPr lang="en-US" sz="1000" dirty="0"/>
          </a:p>
        </p:txBody>
      </p:sp>
      <p:sp>
        <p:nvSpPr>
          <p:cNvPr id="42" name="Shape 39"/>
          <p:cNvSpPr/>
          <p:nvPr/>
        </p:nvSpPr>
        <p:spPr>
          <a:xfrm>
            <a:off x="9436608" y="5212080"/>
            <a:ext cx="731520" cy="310896"/>
          </a:xfrm>
          <a:prstGeom prst="roundRect">
            <a:avLst>
              <a:gd name="adj" fmla="val 50000"/>
            </a:avLst>
          </a:prstGeom>
          <a:solidFill>
            <a:srgbClr val="16A34A"/>
          </a:solidFill>
          <a:ln/>
        </p:spPr>
      </p:sp>
      <p:sp>
        <p:nvSpPr>
          <p:cNvPr id="43" name="Text 40"/>
          <p:cNvSpPr txBox="1"/>
          <p:nvPr/>
        </p:nvSpPr>
        <p:spPr>
          <a:xfrm>
            <a:off x="9491472" y="5212080"/>
            <a:ext cx="62179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Serving</a:t>
            </a:r>
            <a:endParaRPr lang="en-US" sz="1000" dirty="0"/>
          </a:p>
        </p:txBody>
      </p:sp>
      <p:sp>
        <p:nvSpPr>
          <p:cNvPr id="44" name="Shape 41"/>
          <p:cNvSpPr/>
          <p:nvPr/>
        </p:nvSpPr>
        <p:spPr>
          <a:xfrm>
            <a:off x="10222992" y="5212080"/>
            <a:ext cx="731520" cy="310896"/>
          </a:xfrm>
          <a:prstGeom prst="roundRect">
            <a:avLst>
              <a:gd name="adj" fmla="val 50000"/>
            </a:avLst>
          </a:prstGeom>
          <a:solidFill>
            <a:srgbClr val="94A3B8"/>
          </a:solidFill>
          <a:ln/>
        </p:spPr>
      </p:sp>
      <p:sp>
        <p:nvSpPr>
          <p:cNvPr id="45" name="Text 42"/>
          <p:cNvSpPr txBox="1"/>
          <p:nvPr/>
        </p:nvSpPr>
        <p:spPr>
          <a:xfrm>
            <a:off x="10277856" y="5212080"/>
            <a:ext cx="62179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01  ·  THE PROBLEM</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The Problem: Waiting Without Visibility</a:t>
            </a:r>
            <a:endParaRPr lang="en-US" sz="3000" dirty="0"/>
          </a:p>
        </p:txBody>
      </p:sp>
      <p:sp>
        <p:nvSpPr>
          <p:cNvPr id="4" name="Shape 2"/>
          <p:cNvSpPr/>
          <p:nvPr/>
        </p:nvSpPr>
        <p:spPr>
          <a:xfrm>
            <a:off x="548640" y="1463040"/>
            <a:ext cx="4023360" cy="4709160"/>
          </a:xfrm>
          <a:prstGeom prst="roundRect">
            <a:avLst>
              <a:gd name="adj" fmla="val 4545"/>
            </a:avLst>
          </a:prstGeom>
          <a:solidFill>
            <a:srgbClr val="0B1026"/>
          </a:solidFill>
          <a:ln/>
        </p:spPr>
      </p:sp>
      <p:sp>
        <p:nvSpPr>
          <p:cNvPr id="5" name="Text 3"/>
          <p:cNvSpPr txBox="1"/>
          <p:nvPr/>
        </p:nvSpPr>
        <p:spPr>
          <a:xfrm>
            <a:off x="822960" y="1691640"/>
            <a:ext cx="3474720" cy="228600"/>
          </a:xfrm>
          <a:prstGeom prst="rect">
            <a:avLst/>
          </a:prstGeom>
          <a:noFill/>
          <a:ln/>
        </p:spPr>
        <p:txBody>
          <a:bodyPr wrap="square" lIns="0" tIns="0" rIns="0" bIns="0" rtlCol="0" anchor="t"/>
          <a:lstStyle/>
          <a:p>
            <a:pPr algn="l" indent="0" marL="0">
              <a:buNone/>
            </a:pPr>
            <a:r>
              <a:rPr lang="en-US" sz="1000" b="1" spc="200" kern="0" dirty="0">
                <a:solidFill>
                  <a:srgbClr val="A78BFA"/>
                </a:solidFill>
                <a:latin typeface="Calibri" pitchFamily="34" charset="0"/>
                <a:ea typeface="Calibri" pitchFamily="34" charset="-122"/>
                <a:cs typeface="Calibri" pitchFamily="34" charset="-120"/>
              </a:rPr>
              <a:t>TODAY: A PHYSICAL LINE</a:t>
            </a:r>
            <a:endParaRPr lang="en-US" sz="1000" dirty="0"/>
          </a:p>
        </p:txBody>
      </p:sp>
      <p:pic>
        <p:nvPicPr>
          <p:cNvPr id="6" name="Image 0" descr="preencoded.png">    </p:cNvPr>
          <p:cNvPicPr>
            <a:picLocks noChangeAspect="1"/>
          </p:cNvPicPr>
          <p:nvPr/>
        </p:nvPicPr>
        <p:blipFill>
          <a:blip r:embed="rId1"/>
          <a:stretch>
            <a:fillRect/>
          </a:stretch>
        </p:blipFill>
        <p:spPr>
          <a:xfrm>
            <a:off x="822960" y="2057400"/>
            <a:ext cx="457200" cy="457200"/>
          </a:xfrm>
          <a:prstGeom prst="rect">
            <a:avLst/>
          </a:prstGeom>
        </p:spPr>
      </p:pic>
      <p:pic>
        <p:nvPicPr>
          <p:cNvPr id="7" name="Image 1" descr="preencoded.png">    </p:cNvPr>
          <p:cNvPicPr>
            <a:picLocks noChangeAspect="1"/>
          </p:cNvPicPr>
          <p:nvPr/>
        </p:nvPicPr>
        <p:blipFill>
          <a:blip r:embed="rId2"/>
          <a:stretch>
            <a:fillRect/>
          </a:stretch>
        </p:blipFill>
        <p:spPr>
          <a:xfrm>
            <a:off x="1344168" y="2057400"/>
            <a:ext cx="457200" cy="457200"/>
          </a:xfrm>
          <a:prstGeom prst="rect">
            <a:avLst/>
          </a:prstGeom>
        </p:spPr>
      </p:pic>
      <p:pic>
        <p:nvPicPr>
          <p:cNvPr id="8" name="Image 2" descr="preencoded.png">    </p:cNvPr>
          <p:cNvPicPr>
            <a:picLocks noChangeAspect="1"/>
          </p:cNvPicPr>
          <p:nvPr/>
        </p:nvPicPr>
        <p:blipFill>
          <a:blip r:embed="rId3"/>
          <a:stretch>
            <a:fillRect/>
          </a:stretch>
        </p:blipFill>
        <p:spPr>
          <a:xfrm>
            <a:off x="1865376" y="2057400"/>
            <a:ext cx="457200" cy="457200"/>
          </a:xfrm>
          <a:prstGeom prst="rect">
            <a:avLst/>
          </a:prstGeom>
        </p:spPr>
      </p:pic>
      <p:pic>
        <p:nvPicPr>
          <p:cNvPr id="9" name="Image 3" descr="preencoded.png">    </p:cNvPr>
          <p:cNvPicPr>
            <a:picLocks noChangeAspect="1"/>
          </p:cNvPicPr>
          <p:nvPr/>
        </p:nvPicPr>
        <p:blipFill>
          <a:blip r:embed="rId4"/>
          <a:stretch>
            <a:fillRect/>
          </a:stretch>
        </p:blipFill>
        <p:spPr>
          <a:xfrm>
            <a:off x="2386584" y="2057400"/>
            <a:ext cx="457200" cy="457200"/>
          </a:xfrm>
          <a:prstGeom prst="rect">
            <a:avLst/>
          </a:prstGeom>
        </p:spPr>
      </p:pic>
      <p:pic>
        <p:nvPicPr>
          <p:cNvPr id="10" name="Image 4" descr="preencoded.png">    </p:cNvPr>
          <p:cNvPicPr>
            <a:picLocks noChangeAspect="1"/>
          </p:cNvPicPr>
          <p:nvPr/>
        </p:nvPicPr>
        <p:blipFill>
          <a:blip r:embed="rId5"/>
          <a:stretch>
            <a:fillRect/>
          </a:stretch>
        </p:blipFill>
        <p:spPr>
          <a:xfrm>
            <a:off x="2907792" y="2057400"/>
            <a:ext cx="457200" cy="457200"/>
          </a:xfrm>
          <a:prstGeom prst="rect">
            <a:avLst/>
          </a:prstGeom>
        </p:spPr>
      </p:pic>
      <p:pic>
        <p:nvPicPr>
          <p:cNvPr id="11" name="Image 5" descr="preencoded.png">    </p:cNvPr>
          <p:cNvPicPr>
            <a:picLocks noChangeAspect="1"/>
          </p:cNvPicPr>
          <p:nvPr/>
        </p:nvPicPr>
        <p:blipFill>
          <a:blip r:embed="rId6"/>
          <a:stretch>
            <a:fillRect/>
          </a:stretch>
        </p:blipFill>
        <p:spPr>
          <a:xfrm>
            <a:off x="3429000" y="2057400"/>
            <a:ext cx="457200" cy="457200"/>
          </a:xfrm>
          <a:prstGeom prst="rect">
            <a:avLst/>
          </a:prstGeom>
        </p:spPr>
      </p:pic>
      <p:pic>
        <p:nvPicPr>
          <p:cNvPr id="12" name="Image 6" descr="preencoded.png">    </p:cNvPr>
          <p:cNvPicPr>
            <a:picLocks noChangeAspect="1"/>
          </p:cNvPicPr>
          <p:nvPr/>
        </p:nvPicPr>
        <p:blipFill>
          <a:blip r:embed="rId7"/>
          <a:stretch>
            <a:fillRect/>
          </a:stretch>
        </p:blipFill>
        <p:spPr>
          <a:xfrm>
            <a:off x="4114800" y="2075688"/>
            <a:ext cx="411480" cy="411480"/>
          </a:xfrm>
          <a:prstGeom prst="rect">
            <a:avLst/>
          </a:prstGeom>
        </p:spPr>
      </p:pic>
      <p:sp>
        <p:nvSpPr>
          <p:cNvPr id="13" name="Text 4"/>
          <p:cNvSpPr txBox="1"/>
          <p:nvPr/>
        </p:nvSpPr>
        <p:spPr>
          <a:xfrm>
            <a:off x="3950208" y="2514600"/>
            <a:ext cx="731520" cy="182880"/>
          </a:xfrm>
          <a:prstGeom prst="rect">
            <a:avLst/>
          </a:prstGeom>
          <a:noFill/>
          <a:ln/>
        </p:spPr>
        <p:txBody>
          <a:bodyPr wrap="square" lIns="0" tIns="0" rIns="0" bIns="0" rtlCol="0" anchor="t"/>
          <a:lstStyle/>
          <a:p>
            <a:pPr algn="ctr" indent="0" marL="0">
              <a:buNone/>
            </a:pPr>
            <a:r>
              <a:rPr lang="en-US" sz="800" dirty="0">
                <a:solidFill>
                  <a:srgbClr val="7C86A8"/>
                </a:solidFill>
                <a:latin typeface="Calibri" pitchFamily="34" charset="0"/>
                <a:ea typeface="Calibri" pitchFamily="34" charset="-122"/>
                <a:cs typeface="Calibri" pitchFamily="34" charset="-120"/>
              </a:rPr>
              <a:t>counter</a:t>
            </a:r>
            <a:endParaRPr lang="en-US" sz="800" dirty="0"/>
          </a:p>
        </p:txBody>
      </p:sp>
      <p:sp>
        <p:nvSpPr>
          <p:cNvPr id="14" name="Text 5"/>
          <p:cNvSpPr txBox="1"/>
          <p:nvPr/>
        </p:nvSpPr>
        <p:spPr>
          <a:xfrm>
            <a:off x="3383280" y="2514600"/>
            <a:ext cx="457200" cy="182880"/>
          </a:xfrm>
          <a:prstGeom prst="rect">
            <a:avLst/>
          </a:prstGeom>
          <a:noFill/>
          <a:ln/>
        </p:spPr>
        <p:txBody>
          <a:bodyPr wrap="square" lIns="0" tIns="0" rIns="0" bIns="0" rtlCol="0" anchor="t"/>
          <a:lstStyle/>
          <a:p>
            <a:pPr algn="ctr" indent="0" marL="0">
              <a:buNone/>
            </a:pPr>
            <a:r>
              <a:rPr lang="en-US" sz="800" dirty="0">
                <a:solidFill>
                  <a:srgbClr val="C4B5FD"/>
                </a:solidFill>
                <a:latin typeface="Calibri" pitchFamily="34" charset="0"/>
                <a:ea typeface="Calibri" pitchFamily="34" charset="-122"/>
                <a:cs typeface="Calibri" pitchFamily="34" charset="-120"/>
              </a:rPr>
              <a:t>you</a:t>
            </a:r>
            <a:endParaRPr lang="en-US" sz="800" dirty="0"/>
          </a:p>
        </p:txBody>
      </p:sp>
      <p:sp>
        <p:nvSpPr>
          <p:cNvPr id="15" name="Shape 6"/>
          <p:cNvSpPr/>
          <p:nvPr/>
        </p:nvSpPr>
        <p:spPr>
          <a:xfrm>
            <a:off x="822960" y="2926080"/>
            <a:ext cx="3474720" cy="457200"/>
          </a:xfrm>
          <a:prstGeom prst="roundRect">
            <a:avLst>
              <a:gd name="adj" fmla="val 24000"/>
            </a:avLst>
          </a:prstGeom>
          <a:solidFill>
            <a:srgbClr val="161D40"/>
          </a:solidFill>
          <a:ln/>
        </p:spPr>
      </p:sp>
      <p:pic>
        <p:nvPicPr>
          <p:cNvPr id="16" name="Image 7" descr="preencoded.png">    </p:cNvPr>
          <p:cNvPicPr>
            <a:picLocks noChangeAspect="1"/>
          </p:cNvPicPr>
          <p:nvPr/>
        </p:nvPicPr>
        <p:blipFill>
          <a:blip r:embed="rId8"/>
          <a:stretch>
            <a:fillRect/>
          </a:stretch>
        </p:blipFill>
        <p:spPr>
          <a:xfrm>
            <a:off x="932688" y="3026664"/>
            <a:ext cx="256032" cy="256032"/>
          </a:xfrm>
          <a:prstGeom prst="rect">
            <a:avLst/>
          </a:prstGeom>
        </p:spPr>
      </p:pic>
      <p:sp>
        <p:nvSpPr>
          <p:cNvPr id="17" name="Text 7"/>
          <p:cNvSpPr txBox="1"/>
          <p:nvPr/>
        </p:nvSpPr>
        <p:spPr>
          <a:xfrm>
            <a:off x="1298448" y="2926080"/>
            <a:ext cx="2926080" cy="457200"/>
          </a:xfrm>
          <a:prstGeom prst="rect">
            <a:avLst/>
          </a:prstGeom>
          <a:noFill/>
          <a:ln/>
        </p:spPr>
        <p:txBody>
          <a:bodyPr wrap="square" lIns="0" tIns="0" rIns="0" bIns="0" rtlCol="0" anchor="ctr"/>
          <a:lstStyle/>
          <a:p>
            <a:pPr algn="l" indent="0" marL="0">
              <a:buNone/>
            </a:pPr>
            <a:r>
              <a:rPr lang="en-US" sz="1200" dirty="0">
                <a:solidFill>
                  <a:srgbClr val="E2E8F0"/>
                </a:solidFill>
                <a:latin typeface="Calibri" pitchFamily="34" charset="0"/>
                <a:ea typeface="Calibri" pitchFamily="34" charset="-122"/>
                <a:cs typeface="Calibri" pitchFamily="34" charset="-120"/>
              </a:rPr>
              <a:t>How many people are ahead of me?</a:t>
            </a:r>
            <a:endParaRPr lang="en-US" sz="1200" dirty="0"/>
          </a:p>
        </p:txBody>
      </p:sp>
      <p:sp>
        <p:nvSpPr>
          <p:cNvPr id="18" name="Shape 8"/>
          <p:cNvSpPr/>
          <p:nvPr/>
        </p:nvSpPr>
        <p:spPr>
          <a:xfrm>
            <a:off x="822960" y="3493008"/>
            <a:ext cx="3474720" cy="457200"/>
          </a:xfrm>
          <a:prstGeom prst="roundRect">
            <a:avLst>
              <a:gd name="adj" fmla="val 24000"/>
            </a:avLst>
          </a:prstGeom>
          <a:solidFill>
            <a:srgbClr val="161D40"/>
          </a:solidFill>
          <a:ln/>
        </p:spPr>
      </p:sp>
      <p:pic>
        <p:nvPicPr>
          <p:cNvPr id="19" name="Image 8" descr="preencoded.png">    </p:cNvPr>
          <p:cNvPicPr>
            <a:picLocks noChangeAspect="1"/>
          </p:cNvPicPr>
          <p:nvPr/>
        </p:nvPicPr>
        <p:blipFill>
          <a:blip r:embed="rId9"/>
          <a:stretch>
            <a:fillRect/>
          </a:stretch>
        </p:blipFill>
        <p:spPr>
          <a:xfrm>
            <a:off x="932688" y="3593592"/>
            <a:ext cx="256032" cy="256032"/>
          </a:xfrm>
          <a:prstGeom prst="rect">
            <a:avLst/>
          </a:prstGeom>
        </p:spPr>
      </p:pic>
      <p:sp>
        <p:nvSpPr>
          <p:cNvPr id="20" name="Text 9"/>
          <p:cNvSpPr txBox="1"/>
          <p:nvPr/>
        </p:nvSpPr>
        <p:spPr>
          <a:xfrm>
            <a:off x="1298448" y="3493008"/>
            <a:ext cx="2926080" cy="457200"/>
          </a:xfrm>
          <a:prstGeom prst="rect">
            <a:avLst/>
          </a:prstGeom>
          <a:noFill/>
          <a:ln/>
        </p:spPr>
        <p:txBody>
          <a:bodyPr wrap="square" lIns="0" tIns="0" rIns="0" bIns="0" rtlCol="0" anchor="ctr"/>
          <a:lstStyle/>
          <a:p>
            <a:pPr algn="l" indent="0" marL="0">
              <a:buNone/>
            </a:pPr>
            <a:r>
              <a:rPr lang="en-US" sz="1200" dirty="0">
                <a:solidFill>
                  <a:srgbClr val="E2E8F0"/>
                </a:solidFill>
                <a:latin typeface="Calibri" pitchFamily="34" charset="0"/>
                <a:ea typeface="Calibri" pitchFamily="34" charset="-122"/>
                <a:cs typeface="Calibri" pitchFamily="34" charset="-120"/>
              </a:rPr>
              <a:t>How long will this take?</a:t>
            </a:r>
            <a:endParaRPr lang="en-US" sz="1200" dirty="0"/>
          </a:p>
        </p:txBody>
      </p:sp>
      <p:sp>
        <p:nvSpPr>
          <p:cNvPr id="21" name="Shape 10"/>
          <p:cNvSpPr/>
          <p:nvPr/>
        </p:nvSpPr>
        <p:spPr>
          <a:xfrm>
            <a:off x="822960" y="4059936"/>
            <a:ext cx="3474720" cy="457200"/>
          </a:xfrm>
          <a:prstGeom prst="roundRect">
            <a:avLst>
              <a:gd name="adj" fmla="val 24000"/>
            </a:avLst>
          </a:prstGeom>
          <a:solidFill>
            <a:srgbClr val="161D40"/>
          </a:solidFill>
          <a:ln/>
        </p:spPr>
      </p:sp>
      <p:pic>
        <p:nvPicPr>
          <p:cNvPr id="22" name="Image 9" descr="preencoded.png">    </p:cNvPr>
          <p:cNvPicPr>
            <a:picLocks noChangeAspect="1"/>
          </p:cNvPicPr>
          <p:nvPr/>
        </p:nvPicPr>
        <p:blipFill>
          <a:blip r:embed="rId10"/>
          <a:stretch>
            <a:fillRect/>
          </a:stretch>
        </p:blipFill>
        <p:spPr>
          <a:xfrm>
            <a:off x="932688" y="4160520"/>
            <a:ext cx="256032" cy="256032"/>
          </a:xfrm>
          <a:prstGeom prst="rect">
            <a:avLst/>
          </a:prstGeom>
        </p:spPr>
      </p:pic>
      <p:sp>
        <p:nvSpPr>
          <p:cNvPr id="23" name="Text 11"/>
          <p:cNvSpPr txBox="1"/>
          <p:nvPr/>
        </p:nvSpPr>
        <p:spPr>
          <a:xfrm>
            <a:off x="1298448" y="4059936"/>
            <a:ext cx="2926080" cy="457200"/>
          </a:xfrm>
          <a:prstGeom prst="rect">
            <a:avLst/>
          </a:prstGeom>
          <a:noFill/>
          <a:ln/>
        </p:spPr>
        <p:txBody>
          <a:bodyPr wrap="square" lIns="0" tIns="0" rIns="0" bIns="0" rtlCol="0" anchor="ctr"/>
          <a:lstStyle/>
          <a:p>
            <a:pPr algn="l" indent="0" marL="0">
              <a:buNone/>
            </a:pPr>
            <a:r>
              <a:rPr lang="en-US" sz="1200" dirty="0">
                <a:solidFill>
                  <a:srgbClr val="E2E8F0"/>
                </a:solidFill>
                <a:latin typeface="Calibri" pitchFamily="34" charset="0"/>
                <a:ea typeface="Calibri" pitchFamily="34" charset="-122"/>
                <a:cs typeface="Calibri" pitchFamily="34" charset="-120"/>
              </a:rPr>
              <a:t>Can I step away without losing my place?</a:t>
            </a:r>
            <a:endParaRPr lang="en-US" sz="1200" dirty="0"/>
          </a:p>
        </p:txBody>
      </p:sp>
      <p:sp>
        <p:nvSpPr>
          <p:cNvPr id="24" name="Shape 12"/>
          <p:cNvSpPr/>
          <p:nvPr/>
        </p:nvSpPr>
        <p:spPr>
          <a:xfrm>
            <a:off x="822960" y="4626864"/>
            <a:ext cx="3474720" cy="457200"/>
          </a:xfrm>
          <a:prstGeom prst="roundRect">
            <a:avLst>
              <a:gd name="adj" fmla="val 24000"/>
            </a:avLst>
          </a:prstGeom>
          <a:solidFill>
            <a:srgbClr val="161D40"/>
          </a:solidFill>
          <a:ln/>
        </p:spPr>
      </p:sp>
      <p:pic>
        <p:nvPicPr>
          <p:cNvPr id="25" name="Image 10" descr="preencoded.png">    </p:cNvPr>
          <p:cNvPicPr>
            <a:picLocks noChangeAspect="1"/>
          </p:cNvPicPr>
          <p:nvPr/>
        </p:nvPicPr>
        <p:blipFill>
          <a:blip r:embed="rId11"/>
          <a:stretch>
            <a:fillRect/>
          </a:stretch>
        </p:blipFill>
        <p:spPr>
          <a:xfrm>
            <a:off x="932688" y="4727448"/>
            <a:ext cx="256032" cy="256032"/>
          </a:xfrm>
          <a:prstGeom prst="rect">
            <a:avLst/>
          </a:prstGeom>
        </p:spPr>
      </p:pic>
      <p:sp>
        <p:nvSpPr>
          <p:cNvPr id="26" name="Text 13"/>
          <p:cNvSpPr txBox="1"/>
          <p:nvPr/>
        </p:nvSpPr>
        <p:spPr>
          <a:xfrm>
            <a:off x="1298448" y="4626864"/>
            <a:ext cx="2926080" cy="457200"/>
          </a:xfrm>
          <a:prstGeom prst="rect">
            <a:avLst/>
          </a:prstGeom>
          <a:noFill/>
          <a:ln/>
        </p:spPr>
        <p:txBody>
          <a:bodyPr wrap="square" lIns="0" tIns="0" rIns="0" bIns="0" rtlCol="0" anchor="ctr"/>
          <a:lstStyle/>
          <a:p>
            <a:pPr algn="l" indent="0" marL="0">
              <a:buNone/>
            </a:pPr>
            <a:r>
              <a:rPr lang="en-US" sz="1200" dirty="0">
                <a:solidFill>
                  <a:srgbClr val="E2E8F0"/>
                </a:solidFill>
                <a:latin typeface="Calibri" pitchFamily="34" charset="0"/>
                <a:ea typeface="Calibri" pitchFamily="34" charset="-122"/>
                <a:cs typeface="Calibri" pitchFamily="34" charset="-120"/>
              </a:rPr>
              <a:t>Why did it suddenly slow down?</a:t>
            </a:r>
            <a:endParaRPr lang="en-US" sz="1200" dirty="0"/>
          </a:p>
        </p:txBody>
      </p:sp>
      <p:sp>
        <p:nvSpPr>
          <p:cNvPr id="27" name="Text 14"/>
          <p:cNvSpPr txBox="1"/>
          <p:nvPr/>
        </p:nvSpPr>
        <p:spPr>
          <a:xfrm>
            <a:off x="822960" y="5303520"/>
            <a:ext cx="3474720" cy="685800"/>
          </a:xfrm>
          <a:prstGeom prst="rect">
            <a:avLst/>
          </a:prstGeom>
          <a:noFill/>
          <a:ln/>
        </p:spPr>
        <p:txBody>
          <a:bodyPr wrap="square" lIns="0" tIns="0" rIns="0" bIns="0" rtlCol="0" anchor="t"/>
          <a:lstStyle/>
          <a:p>
            <a:pPr algn="l" indent="0" marL="0">
              <a:buNone/>
            </a:pPr>
            <a:r>
              <a:rPr lang="en-US" sz="1150" i="1" dirty="0">
                <a:solidFill>
                  <a:srgbClr val="94A3B8"/>
                </a:solidFill>
                <a:latin typeface="Calibri" pitchFamily="34" charset="0"/>
                <a:ea typeface="Calibri" pitchFamily="34" charset="-122"/>
                <a:cs typeface="Calibri" pitchFamily="34" charset="-120"/>
              </a:rPr>
              <a:t>Staff can’t see the full queue either — and delays, counter changes and priority are hard to explain.</a:t>
            </a:r>
            <a:endParaRPr lang="en-US" sz="1150" dirty="0"/>
          </a:p>
        </p:txBody>
      </p:sp>
      <p:sp>
        <p:nvSpPr>
          <p:cNvPr id="28" name="Text 15"/>
          <p:cNvSpPr txBox="1"/>
          <p:nvPr/>
        </p:nvSpPr>
        <p:spPr>
          <a:xfrm>
            <a:off x="4983480" y="1481328"/>
            <a:ext cx="3200400" cy="228600"/>
          </a:xfrm>
          <a:prstGeom prst="rect">
            <a:avLst/>
          </a:prstGeom>
          <a:noFill/>
          <a:ln/>
        </p:spPr>
        <p:txBody>
          <a:bodyPr wrap="square" lIns="0" tIns="0" rIns="0" bIns="0" rtlCol="0" anchor="t"/>
          <a:lstStyle/>
          <a:p>
            <a:pPr algn="l" indent="0" marL="0">
              <a:buNone/>
            </a:pPr>
            <a:r>
              <a:rPr lang="en-US" sz="1000" b="1" spc="200" kern="0" dirty="0">
                <a:solidFill>
                  <a:srgbClr val="5B6478"/>
                </a:solidFill>
                <a:latin typeface="Calibri" pitchFamily="34" charset="0"/>
                <a:ea typeface="Calibri" pitchFamily="34" charset="-122"/>
                <a:cs typeface="Calibri" pitchFamily="34" charset="-120"/>
              </a:rPr>
              <a:t>PROBLEM</a:t>
            </a:r>
            <a:endParaRPr lang="en-US" sz="1000" dirty="0"/>
          </a:p>
        </p:txBody>
      </p:sp>
      <p:sp>
        <p:nvSpPr>
          <p:cNvPr id="29" name="Text 16"/>
          <p:cNvSpPr txBox="1"/>
          <p:nvPr/>
        </p:nvSpPr>
        <p:spPr>
          <a:xfrm>
            <a:off x="8823960" y="1481328"/>
            <a:ext cx="2743200" cy="228600"/>
          </a:xfrm>
          <a:prstGeom prst="rect">
            <a:avLst/>
          </a:prstGeom>
          <a:noFill/>
          <a:ln/>
        </p:spPr>
        <p:txBody>
          <a:bodyPr wrap="square" lIns="0" tIns="0" rIns="0" bIns="0" rtlCol="0" anchor="t"/>
          <a:lstStyle/>
          <a:p>
            <a:pPr algn="l" indent="0" marL="0">
              <a:buNone/>
            </a:pPr>
            <a:r>
              <a:rPr lang="en-US" sz="1000" b="1" spc="200" kern="0" dirty="0">
                <a:solidFill>
                  <a:srgbClr val="6D28D9"/>
                </a:solidFill>
                <a:latin typeface="Calibri" pitchFamily="34" charset="0"/>
                <a:ea typeface="Calibri" pitchFamily="34" charset="-122"/>
                <a:cs typeface="Calibri" pitchFamily="34" charset="-120"/>
              </a:rPr>
              <a:t>QUEUESENSE ANSWER</a:t>
            </a:r>
            <a:endParaRPr lang="en-US" sz="1000" dirty="0"/>
          </a:p>
        </p:txBody>
      </p:sp>
      <p:sp>
        <p:nvSpPr>
          <p:cNvPr id="30" name="Shape 17"/>
          <p:cNvSpPr/>
          <p:nvPr/>
        </p:nvSpPr>
        <p:spPr>
          <a:xfrm>
            <a:off x="4937760" y="1783080"/>
            <a:ext cx="6702552" cy="457200"/>
          </a:xfrm>
          <a:prstGeom prst="roundRect">
            <a:avLst>
              <a:gd name="adj" fmla="val 20000"/>
            </a:avLst>
          </a:prstGeom>
          <a:solidFill>
            <a:srgbClr val="F3F4F9"/>
          </a:solidFill>
          <a:ln/>
        </p:spPr>
      </p:sp>
      <p:sp>
        <p:nvSpPr>
          <p:cNvPr id="31" name="Text 18"/>
          <p:cNvSpPr txBox="1"/>
          <p:nvPr/>
        </p:nvSpPr>
        <p:spPr>
          <a:xfrm>
            <a:off x="5120640" y="178308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Students stand in line with no idea how long</a:t>
            </a:r>
            <a:endParaRPr lang="en-US" sz="1250" dirty="0"/>
          </a:p>
        </p:txBody>
      </p:sp>
      <p:pic>
        <p:nvPicPr>
          <p:cNvPr id="32" name="Image 11" descr="preencoded.png">    </p:cNvPr>
          <p:cNvPicPr>
            <a:picLocks noChangeAspect="1"/>
          </p:cNvPicPr>
          <p:nvPr/>
        </p:nvPicPr>
        <p:blipFill>
          <a:blip r:embed="rId12"/>
          <a:stretch>
            <a:fillRect/>
          </a:stretch>
        </p:blipFill>
        <p:spPr>
          <a:xfrm>
            <a:off x="8430768" y="1901952"/>
            <a:ext cx="219456" cy="219456"/>
          </a:xfrm>
          <a:prstGeom prst="rect">
            <a:avLst/>
          </a:prstGeom>
        </p:spPr>
      </p:pic>
      <p:sp>
        <p:nvSpPr>
          <p:cNvPr id="33" name="Shape 19"/>
          <p:cNvSpPr/>
          <p:nvPr/>
        </p:nvSpPr>
        <p:spPr>
          <a:xfrm>
            <a:off x="8759952" y="1837944"/>
            <a:ext cx="2807208" cy="347472"/>
          </a:xfrm>
          <a:prstGeom prst="roundRect">
            <a:avLst>
              <a:gd name="adj" fmla="val 26316"/>
            </a:avLst>
          </a:prstGeom>
          <a:solidFill>
            <a:srgbClr val="EDE9FE"/>
          </a:solidFill>
          <a:ln/>
        </p:spPr>
      </p:sp>
      <p:sp>
        <p:nvSpPr>
          <p:cNvPr id="34" name="Text 20"/>
          <p:cNvSpPr txBox="1"/>
          <p:nvPr/>
        </p:nvSpPr>
        <p:spPr>
          <a:xfrm>
            <a:off x="8851392" y="183794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Digital queue + live position + estimated wait</a:t>
            </a:r>
            <a:endParaRPr lang="en-US" sz="1100" dirty="0"/>
          </a:p>
        </p:txBody>
      </p:sp>
      <p:sp>
        <p:nvSpPr>
          <p:cNvPr id="35" name="Shape 21"/>
          <p:cNvSpPr/>
          <p:nvPr/>
        </p:nvSpPr>
        <p:spPr>
          <a:xfrm>
            <a:off x="4937760" y="2331720"/>
            <a:ext cx="6702552" cy="457200"/>
          </a:xfrm>
          <a:prstGeom prst="roundRect">
            <a:avLst>
              <a:gd name="adj" fmla="val 20000"/>
            </a:avLst>
          </a:prstGeom>
          <a:solidFill>
            <a:srgbClr val="F3F4F9"/>
          </a:solidFill>
          <a:ln/>
        </p:spPr>
      </p:sp>
      <p:sp>
        <p:nvSpPr>
          <p:cNvPr id="36" name="Text 22"/>
          <p:cNvSpPr txBox="1"/>
          <p:nvPr/>
        </p:nvSpPr>
        <p:spPr>
          <a:xfrm>
            <a:off x="5120640" y="233172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Leaving the line means losing your place</a:t>
            </a:r>
            <a:endParaRPr lang="en-US" sz="1250" dirty="0"/>
          </a:p>
        </p:txBody>
      </p:sp>
      <p:pic>
        <p:nvPicPr>
          <p:cNvPr id="37" name="Image 12" descr="preencoded.png">    </p:cNvPr>
          <p:cNvPicPr>
            <a:picLocks noChangeAspect="1"/>
          </p:cNvPicPr>
          <p:nvPr/>
        </p:nvPicPr>
        <p:blipFill>
          <a:blip r:embed="rId13"/>
          <a:stretch>
            <a:fillRect/>
          </a:stretch>
        </p:blipFill>
        <p:spPr>
          <a:xfrm>
            <a:off x="8430768" y="2450592"/>
            <a:ext cx="219456" cy="219456"/>
          </a:xfrm>
          <a:prstGeom prst="rect">
            <a:avLst/>
          </a:prstGeom>
        </p:spPr>
      </p:pic>
      <p:sp>
        <p:nvSpPr>
          <p:cNvPr id="38" name="Shape 23"/>
          <p:cNvSpPr/>
          <p:nvPr/>
        </p:nvSpPr>
        <p:spPr>
          <a:xfrm>
            <a:off x="8759952" y="2386584"/>
            <a:ext cx="2807208" cy="347472"/>
          </a:xfrm>
          <a:prstGeom prst="roundRect">
            <a:avLst>
              <a:gd name="adj" fmla="val 26316"/>
            </a:avLst>
          </a:prstGeom>
          <a:solidFill>
            <a:srgbClr val="EDE9FE"/>
          </a:solidFill>
          <a:ln/>
        </p:spPr>
      </p:sp>
      <p:sp>
        <p:nvSpPr>
          <p:cNvPr id="39" name="Text 24"/>
          <p:cNvSpPr txBox="1"/>
          <p:nvPr/>
        </p:nvSpPr>
        <p:spPr>
          <a:xfrm>
            <a:off x="8851392" y="238658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Digital place holding</a:t>
            </a:r>
            <a:endParaRPr lang="en-US" sz="1100" dirty="0"/>
          </a:p>
        </p:txBody>
      </p:sp>
      <p:sp>
        <p:nvSpPr>
          <p:cNvPr id="40" name="Shape 25"/>
          <p:cNvSpPr/>
          <p:nvPr/>
        </p:nvSpPr>
        <p:spPr>
          <a:xfrm>
            <a:off x="4937760" y="2880360"/>
            <a:ext cx="6702552" cy="457200"/>
          </a:xfrm>
          <a:prstGeom prst="roundRect">
            <a:avLst>
              <a:gd name="adj" fmla="val 20000"/>
            </a:avLst>
          </a:prstGeom>
          <a:solidFill>
            <a:srgbClr val="F3F4F9"/>
          </a:solidFill>
          <a:ln/>
        </p:spPr>
      </p:sp>
      <p:sp>
        <p:nvSpPr>
          <p:cNvPr id="41" name="Text 26"/>
          <p:cNvSpPr txBox="1"/>
          <p:nvPr/>
        </p:nvSpPr>
        <p:spPr>
          <a:xfrm>
            <a:off x="5120640" y="288036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No signal for when to come back</a:t>
            </a:r>
            <a:endParaRPr lang="en-US" sz="1250" dirty="0"/>
          </a:p>
        </p:txBody>
      </p:sp>
      <p:pic>
        <p:nvPicPr>
          <p:cNvPr id="42" name="Image 13" descr="preencoded.png">    </p:cNvPr>
          <p:cNvPicPr>
            <a:picLocks noChangeAspect="1"/>
          </p:cNvPicPr>
          <p:nvPr/>
        </p:nvPicPr>
        <p:blipFill>
          <a:blip r:embed="rId14"/>
          <a:stretch>
            <a:fillRect/>
          </a:stretch>
        </p:blipFill>
        <p:spPr>
          <a:xfrm>
            <a:off x="8430768" y="2999232"/>
            <a:ext cx="219456" cy="219456"/>
          </a:xfrm>
          <a:prstGeom prst="rect">
            <a:avLst/>
          </a:prstGeom>
        </p:spPr>
      </p:pic>
      <p:sp>
        <p:nvSpPr>
          <p:cNvPr id="43" name="Shape 27"/>
          <p:cNvSpPr/>
          <p:nvPr/>
        </p:nvSpPr>
        <p:spPr>
          <a:xfrm>
            <a:off x="8759952" y="2935224"/>
            <a:ext cx="2807208" cy="347472"/>
          </a:xfrm>
          <a:prstGeom prst="roundRect">
            <a:avLst>
              <a:gd name="adj" fmla="val 26316"/>
            </a:avLst>
          </a:prstGeom>
          <a:solidFill>
            <a:srgbClr val="EDE9FE"/>
          </a:solidFill>
          <a:ln/>
        </p:spPr>
      </p:sp>
      <p:sp>
        <p:nvSpPr>
          <p:cNvPr id="44" name="Text 28"/>
          <p:cNvSpPr txBox="1"/>
          <p:nvPr/>
        </p:nvSpPr>
        <p:spPr>
          <a:xfrm>
            <a:off x="8851392" y="293522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Almost-next &amp; called notifications</a:t>
            </a:r>
            <a:endParaRPr lang="en-US" sz="1100" dirty="0"/>
          </a:p>
        </p:txBody>
      </p:sp>
      <p:sp>
        <p:nvSpPr>
          <p:cNvPr id="45" name="Shape 29"/>
          <p:cNvSpPr/>
          <p:nvPr/>
        </p:nvSpPr>
        <p:spPr>
          <a:xfrm>
            <a:off x="4937760" y="3429000"/>
            <a:ext cx="6702552" cy="457200"/>
          </a:xfrm>
          <a:prstGeom prst="roundRect">
            <a:avLst>
              <a:gd name="adj" fmla="val 20000"/>
            </a:avLst>
          </a:prstGeom>
          <a:solidFill>
            <a:srgbClr val="F3F4F9"/>
          </a:solidFill>
          <a:ln/>
        </p:spPr>
      </p:sp>
      <p:sp>
        <p:nvSpPr>
          <p:cNvPr id="46" name="Text 30"/>
          <p:cNvSpPr txBox="1"/>
          <p:nvPr/>
        </p:nvSpPr>
        <p:spPr>
          <a:xfrm>
            <a:off x="5120640" y="342900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Staff can’t see or manage the whole queue</a:t>
            </a:r>
            <a:endParaRPr lang="en-US" sz="1250" dirty="0"/>
          </a:p>
        </p:txBody>
      </p:sp>
      <p:pic>
        <p:nvPicPr>
          <p:cNvPr id="47" name="Image 14" descr="preencoded.png">    </p:cNvPr>
          <p:cNvPicPr>
            <a:picLocks noChangeAspect="1"/>
          </p:cNvPicPr>
          <p:nvPr/>
        </p:nvPicPr>
        <p:blipFill>
          <a:blip r:embed="rId15"/>
          <a:stretch>
            <a:fillRect/>
          </a:stretch>
        </p:blipFill>
        <p:spPr>
          <a:xfrm>
            <a:off x="8430768" y="3547872"/>
            <a:ext cx="219456" cy="219456"/>
          </a:xfrm>
          <a:prstGeom prst="rect">
            <a:avLst/>
          </a:prstGeom>
        </p:spPr>
      </p:pic>
      <p:sp>
        <p:nvSpPr>
          <p:cNvPr id="48" name="Shape 31"/>
          <p:cNvSpPr/>
          <p:nvPr/>
        </p:nvSpPr>
        <p:spPr>
          <a:xfrm>
            <a:off x="8759952" y="3483864"/>
            <a:ext cx="2807208" cy="347472"/>
          </a:xfrm>
          <a:prstGeom prst="roundRect">
            <a:avLst>
              <a:gd name="adj" fmla="val 26316"/>
            </a:avLst>
          </a:prstGeom>
          <a:solidFill>
            <a:srgbClr val="EDE9FE"/>
          </a:solidFill>
          <a:ln/>
        </p:spPr>
      </p:sp>
      <p:sp>
        <p:nvSpPr>
          <p:cNvPr id="49" name="Text 32"/>
          <p:cNvSpPr txBox="1"/>
          <p:nvPr/>
        </p:nvSpPr>
        <p:spPr>
          <a:xfrm>
            <a:off x="8851392" y="348386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Staff counter console</a:t>
            </a:r>
            <a:endParaRPr lang="en-US" sz="1100" dirty="0"/>
          </a:p>
        </p:txBody>
      </p:sp>
      <p:sp>
        <p:nvSpPr>
          <p:cNvPr id="50" name="Shape 33"/>
          <p:cNvSpPr/>
          <p:nvPr/>
        </p:nvSpPr>
        <p:spPr>
          <a:xfrm>
            <a:off x="4937760" y="3977640"/>
            <a:ext cx="6702552" cy="457200"/>
          </a:xfrm>
          <a:prstGeom prst="roundRect">
            <a:avLst>
              <a:gd name="adj" fmla="val 20000"/>
            </a:avLst>
          </a:prstGeom>
          <a:solidFill>
            <a:srgbClr val="F3F4F9"/>
          </a:solidFill>
          <a:ln/>
        </p:spPr>
      </p:sp>
      <p:sp>
        <p:nvSpPr>
          <p:cNvPr id="51" name="Text 34"/>
          <p:cNvSpPr txBox="1"/>
          <p:nvPr/>
        </p:nvSpPr>
        <p:spPr>
          <a:xfrm>
            <a:off x="5120640" y="397764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Delays and counter changes go unexplained</a:t>
            </a:r>
            <a:endParaRPr lang="en-US" sz="1250" dirty="0"/>
          </a:p>
        </p:txBody>
      </p:sp>
      <p:pic>
        <p:nvPicPr>
          <p:cNvPr id="52" name="Image 15" descr="preencoded.png">    </p:cNvPr>
          <p:cNvPicPr>
            <a:picLocks noChangeAspect="1"/>
          </p:cNvPicPr>
          <p:nvPr/>
        </p:nvPicPr>
        <p:blipFill>
          <a:blip r:embed="rId16"/>
          <a:stretch>
            <a:fillRect/>
          </a:stretch>
        </p:blipFill>
        <p:spPr>
          <a:xfrm>
            <a:off x="8430768" y="4096512"/>
            <a:ext cx="219456" cy="219456"/>
          </a:xfrm>
          <a:prstGeom prst="rect">
            <a:avLst/>
          </a:prstGeom>
        </p:spPr>
      </p:pic>
      <p:sp>
        <p:nvSpPr>
          <p:cNvPr id="53" name="Shape 35"/>
          <p:cNvSpPr/>
          <p:nvPr/>
        </p:nvSpPr>
        <p:spPr>
          <a:xfrm>
            <a:off x="8759952" y="4032504"/>
            <a:ext cx="2807208" cy="347472"/>
          </a:xfrm>
          <a:prstGeom prst="roundRect">
            <a:avLst>
              <a:gd name="adj" fmla="val 26316"/>
            </a:avLst>
          </a:prstGeom>
          <a:solidFill>
            <a:srgbClr val="EDE9FE"/>
          </a:solidFill>
          <a:ln/>
        </p:spPr>
      </p:sp>
      <p:sp>
        <p:nvSpPr>
          <p:cNvPr id="54" name="Text 36"/>
          <p:cNvSpPr txBox="1"/>
          <p:nvPr/>
        </p:nvSpPr>
        <p:spPr>
          <a:xfrm>
            <a:off x="8851392" y="403250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Traffic reasons &amp; operational updates</a:t>
            </a:r>
            <a:endParaRPr lang="en-US" sz="1100" dirty="0"/>
          </a:p>
        </p:txBody>
      </p:sp>
      <p:sp>
        <p:nvSpPr>
          <p:cNvPr id="55" name="Shape 37"/>
          <p:cNvSpPr/>
          <p:nvPr/>
        </p:nvSpPr>
        <p:spPr>
          <a:xfrm>
            <a:off x="4937760" y="4526280"/>
            <a:ext cx="6702552" cy="457200"/>
          </a:xfrm>
          <a:prstGeom prst="roundRect">
            <a:avLst>
              <a:gd name="adj" fmla="val 20000"/>
            </a:avLst>
          </a:prstGeom>
          <a:solidFill>
            <a:srgbClr val="F3F4F9"/>
          </a:solidFill>
          <a:ln/>
        </p:spPr>
      </p:sp>
      <p:sp>
        <p:nvSpPr>
          <p:cNvPr id="56" name="Text 38"/>
          <p:cNvSpPr txBox="1"/>
          <p:nvPr/>
        </p:nvSpPr>
        <p:spPr>
          <a:xfrm>
            <a:off x="5120640" y="452628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Priority can look unfair</a:t>
            </a:r>
            <a:endParaRPr lang="en-US" sz="1250" dirty="0"/>
          </a:p>
        </p:txBody>
      </p:sp>
      <p:pic>
        <p:nvPicPr>
          <p:cNvPr id="57" name="Image 16" descr="preencoded.png">    </p:cNvPr>
          <p:cNvPicPr>
            <a:picLocks noChangeAspect="1"/>
          </p:cNvPicPr>
          <p:nvPr/>
        </p:nvPicPr>
        <p:blipFill>
          <a:blip r:embed="rId17"/>
          <a:stretch>
            <a:fillRect/>
          </a:stretch>
        </p:blipFill>
        <p:spPr>
          <a:xfrm>
            <a:off x="8430768" y="4645152"/>
            <a:ext cx="219456" cy="219456"/>
          </a:xfrm>
          <a:prstGeom prst="rect">
            <a:avLst/>
          </a:prstGeom>
        </p:spPr>
      </p:pic>
      <p:sp>
        <p:nvSpPr>
          <p:cNvPr id="58" name="Shape 39"/>
          <p:cNvSpPr/>
          <p:nvPr/>
        </p:nvSpPr>
        <p:spPr>
          <a:xfrm>
            <a:off x="8759952" y="4581144"/>
            <a:ext cx="2807208" cy="347472"/>
          </a:xfrm>
          <a:prstGeom prst="roundRect">
            <a:avLst>
              <a:gd name="adj" fmla="val 26316"/>
            </a:avLst>
          </a:prstGeom>
          <a:solidFill>
            <a:srgbClr val="EDE9FE"/>
          </a:solidFill>
          <a:ln/>
        </p:spPr>
      </p:sp>
      <p:sp>
        <p:nvSpPr>
          <p:cNvPr id="59" name="Text 40"/>
          <p:cNvSpPr txBox="1"/>
          <p:nvPr/>
        </p:nvSpPr>
        <p:spPr>
          <a:xfrm>
            <a:off x="8851392" y="458114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Priority reason + audit + recalculation</a:t>
            </a:r>
            <a:endParaRPr lang="en-US" sz="1100" dirty="0"/>
          </a:p>
        </p:txBody>
      </p:sp>
      <p:sp>
        <p:nvSpPr>
          <p:cNvPr id="60" name="Shape 41"/>
          <p:cNvSpPr/>
          <p:nvPr/>
        </p:nvSpPr>
        <p:spPr>
          <a:xfrm>
            <a:off x="4937760" y="5074920"/>
            <a:ext cx="6702552" cy="457200"/>
          </a:xfrm>
          <a:prstGeom prst="roundRect">
            <a:avLst>
              <a:gd name="adj" fmla="val 20000"/>
            </a:avLst>
          </a:prstGeom>
          <a:solidFill>
            <a:srgbClr val="F3F4F9"/>
          </a:solidFill>
          <a:ln/>
        </p:spPr>
      </p:sp>
      <p:sp>
        <p:nvSpPr>
          <p:cNvPr id="61" name="Text 42"/>
          <p:cNvSpPr txBox="1"/>
          <p:nvPr/>
        </p:nvSpPr>
        <p:spPr>
          <a:xfrm>
            <a:off x="5120640" y="507492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Every campus service works differently</a:t>
            </a:r>
            <a:endParaRPr lang="en-US" sz="1250" dirty="0"/>
          </a:p>
        </p:txBody>
      </p:sp>
      <p:pic>
        <p:nvPicPr>
          <p:cNvPr id="62" name="Image 17" descr="preencoded.png">    </p:cNvPr>
          <p:cNvPicPr>
            <a:picLocks noChangeAspect="1"/>
          </p:cNvPicPr>
          <p:nvPr/>
        </p:nvPicPr>
        <p:blipFill>
          <a:blip r:embed="rId18"/>
          <a:stretch>
            <a:fillRect/>
          </a:stretch>
        </p:blipFill>
        <p:spPr>
          <a:xfrm>
            <a:off x="8430768" y="5193792"/>
            <a:ext cx="219456" cy="219456"/>
          </a:xfrm>
          <a:prstGeom prst="rect">
            <a:avLst/>
          </a:prstGeom>
        </p:spPr>
      </p:pic>
      <p:sp>
        <p:nvSpPr>
          <p:cNvPr id="63" name="Shape 43"/>
          <p:cNvSpPr/>
          <p:nvPr/>
        </p:nvSpPr>
        <p:spPr>
          <a:xfrm>
            <a:off x="8759952" y="5129784"/>
            <a:ext cx="2807208" cy="347472"/>
          </a:xfrm>
          <a:prstGeom prst="roundRect">
            <a:avLst>
              <a:gd name="adj" fmla="val 26316"/>
            </a:avLst>
          </a:prstGeom>
          <a:solidFill>
            <a:srgbClr val="EDE9FE"/>
          </a:solidFill>
          <a:ln/>
        </p:spPr>
      </p:sp>
      <p:sp>
        <p:nvSpPr>
          <p:cNvPr id="64" name="Text 44"/>
          <p:cNvSpPr txBox="1"/>
          <p:nvPr/>
        </p:nvSpPr>
        <p:spPr>
          <a:xfrm>
            <a:off x="8851392" y="512978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Service → Queue Group → Counter → Entry</a:t>
            </a:r>
            <a:endParaRPr lang="en-US" sz="1100" dirty="0"/>
          </a:p>
        </p:txBody>
      </p:sp>
      <p:sp>
        <p:nvSpPr>
          <p:cNvPr id="65" name="Shape 45"/>
          <p:cNvSpPr/>
          <p:nvPr/>
        </p:nvSpPr>
        <p:spPr>
          <a:xfrm>
            <a:off x="4937760" y="5623560"/>
            <a:ext cx="6702552" cy="457200"/>
          </a:xfrm>
          <a:prstGeom prst="roundRect">
            <a:avLst>
              <a:gd name="adj" fmla="val 20000"/>
            </a:avLst>
          </a:prstGeom>
          <a:solidFill>
            <a:srgbClr val="F3F4F9"/>
          </a:solidFill>
          <a:ln/>
        </p:spPr>
      </p:sp>
      <p:sp>
        <p:nvSpPr>
          <p:cNvPr id="66" name="Text 46"/>
          <p:cNvSpPr txBox="1"/>
          <p:nvPr/>
        </p:nvSpPr>
        <p:spPr>
          <a:xfrm>
            <a:off x="5120640" y="5623560"/>
            <a:ext cx="3291840" cy="45720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No transparent operational history</a:t>
            </a:r>
            <a:endParaRPr lang="en-US" sz="1250" dirty="0"/>
          </a:p>
        </p:txBody>
      </p:sp>
      <p:pic>
        <p:nvPicPr>
          <p:cNvPr id="67" name="Image 18" descr="preencoded.png">    </p:cNvPr>
          <p:cNvPicPr>
            <a:picLocks noChangeAspect="1"/>
          </p:cNvPicPr>
          <p:nvPr/>
        </p:nvPicPr>
        <p:blipFill>
          <a:blip r:embed="rId19"/>
          <a:stretch>
            <a:fillRect/>
          </a:stretch>
        </p:blipFill>
        <p:spPr>
          <a:xfrm>
            <a:off x="8430768" y="5742432"/>
            <a:ext cx="219456" cy="219456"/>
          </a:xfrm>
          <a:prstGeom prst="rect">
            <a:avLst/>
          </a:prstGeom>
        </p:spPr>
      </p:pic>
      <p:sp>
        <p:nvSpPr>
          <p:cNvPr id="68" name="Shape 47"/>
          <p:cNvSpPr/>
          <p:nvPr/>
        </p:nvSpPr>
        <p:spPr>
          <a:xfrm>
            <a:off x="8759952" y="5678424"/>
            <a:ext cx="2807208" cy="347472"/>
          </a:xfrm>
          <a:prstGeom prst="roundRect">
            <a:avLst>
              <a:gd name="adj" fmla="val 26316"/>
            </a:avLst>
          </a:prstGeom>
          <a:solidFill>
            <a:srgbClr val="EDE9FE"/>
          </a:solidFill>
          <a:ln/>
        </p:spPr>
      </p:sp>
      <p:sp>
        <p:nvSpPr>
          <p:cNvPr id="69" name="Text 48"/>
          <p:cNvSpPr txBox="1"/>
          <p:nvPr/>
        </p:nvSpPr>
        <p:spPr>
          <a:xfrm>
            <a:off x="8851392" y="5678424"/>
            <a:ext cx="2697480" cy="347472"/>
          </a:xfrm>
          <a:prstGeom prst="rect">
            <a:avLst/>
          </a:prstGeom>
          <a:noFill/>
          <a:ln/>
        </p:spPr>
        <p:txBody>
          <a:bodyPr wrap="square" lIns="0" tIns="0" rIns="0" bIns="0" rtlCol="0" anchor="ctr"/>
          <a:lstStyle/>
          <a:p>
            <a:pPr algn="l" indent="0" marL="0">
              <a:buNone/>
            </a:pPr>
            <a:r>
              <a:rPr lang="en-US" sz="1100" b="1" dirty="0">
                <a:solidFill>
                  <a:srgbClr val="4C1D95"/>
                </a:solidFill>
                <a:latin typeface="Calibri" pitchFamily="34" charset="0"/>
                <a:ea typeface="Calibri" pitchFamily="34" charset="-122"/>
                <a:cs typeface="Calibri" pitchFamily="34" charset="-120"/>
              </a:rPr>
              <a:t>Audit logs &amp; queue history</a:t>
            </a:r>
            <a:endParaRPr lang="en-US" sz="1100" dirty="0"/>
          </a:p>
        </p:txBody>
      </p:sp>
      <p:sp>
        <p:nvSpPr>
          <p:cNvPr id="70" name="Text 49"/>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71" name="Text 50"/>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02  ·  THE IDEA</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Introducing QueueSense</a:t>
            </a:r>
            <a:endParaRPr lang="en-US" sz="3000" dirty="0"/>
          </a:p>
        </p:txBody>
      </p:sp>
      <p:sp>
        <p:nvSpPr>
          <p:cNvPr id="4" name="Text 2"/>
          <p:cNvSpPr txBox="1"/>
          <p:nvPr/>
        </p:nvSpPr>
        <p:spPr>
          <a:xfrm>
            <a:off x="548640" y="1554480"/>
            <a:ext cx="6766560" cy="1463040"/>
          </a:xfrm>
          <a:prstGeom prst="rect">
            <a:avLst/>
          </a:prstGeom>
          <a:noFill/>
          <a:ln/>
        </p:spPr>
        <p:txBody>
          <a:bodyPr wrap="square" lIns="0" tIns="0" rIns="0" bIns="0" rtlCol="0" anchor="t"/>
          <a:lstStyle/>
          <a:p>
            <a:pPr indent="0" marL="0">
              <a:lnSpc>
                <a:spcPct val="105000"/>
              </a:lnSpc>
              <a:buNone/>
            </a:pPr>
            <a:r>
              <a:rPr lang="en-US" sz="2300" dirty="0">
                <a:solidFill>
                  <a:srgbClr val="0F172A"/>
                </a:solidFill>
                <a:latin typeface="Calibri" pitchFamily="34" charset="0"/>
                <a:ea typeface="Calibri" pitchFamily="34" charset="-122"/>
                <a:cs typeface="Calibri" pitchFamily="34" charset="-120"/>
              </a:rPr>
              <a:t>A real-time digital queue platform that lets students </a:t>
            </a:r>
            <a:pPr indent="0" marL="0">
              <a:lnSpc>
                <a:spcPct val="105000"/>
              </a:lnSpc>
              <a:buNone/>
            </a:pPr>
            <a:r>
              <a:rPr lang="en-US" sz="2300" b="1" dirty="0">
                <a:solidFill>
                  <a:srgbClr val="6D28D9"/>
                </a:solidFill>
                <a:latin typeface="Calibri" pitchFamily="34" charset="0"/>
                <a:ea typeface="Calibri" pitchFamily="34" charset="-122"/>
                <a:cs typeface="Calibri" pitchFamily="34" charset="-120"/>
              </a:rPr>
              <a:t>hold their place virtually</a:t>
            </a:r>
            <a:pPr indent="0" marL="0">
              <a:lnSpc>
                <a:spcPct val="105000"/>
              </a:lnSpc>
              <a:buNone/>
            </a:pPr>
            <a:r>
              <a:rPr lang="en-US" sz="2300" dirty="0">
                <a:solidFill>
                  <a:srgbClr val="0F172A"/>
                </a:solidFill>
                <a:latin typeface="Calibri" pitchFamily="34" charset="0"/>
                <a:ea typeface="Calibri" pitchFamily="34" charset="-122"/>
                <a:cs typeface="Calibri" pitchFamily="34" charset="-120"/>
              </a:rPr>
              <a:t> while giving staff and administrators a </a:t>
            </a:r>
            <a:pPr indent="0" marL="0">
              <a:lnSpc>
                <a:spcPct val="105000"/>
              </a:lnSpc>
              <a:buNone/>
            </a:pPr>
            <a:r>
              <a:rPr lang="en-US" sz="2300" b="1" dirty="0">
                <a:solidFill>
                  <a:srgbClr val="6D28D9"/>
                </a:solidFill>
                <a:latin typeface="Calibri" pitchFamily="34" charset="0"/>
                <a:ea typeface="Calibri" pitchFamily="34" charset="-122"/>
                <a:cs typeface="Calibri" pitchFamily="34" charset="-120"/>
              </a:rPr>
              <a:t>shared, authoritative view</a:t>
            </a:r>
            <a:pPr indent="0" marL="0">
              <a:lnSpc>
                <a:spcPct val="105000"/>
              </a:lnSpc>
              <a:buNone/>
            </a:pPr>
            <a:r>
              <a:rPr lang="en-US" sz="2300" dirty="0">
                <a:solidFill>
                  <a:srgbClr val="0F172A"/>
                </a:solidFill>
                <a:latin typeface="Calibri" pitchFamily="34" charset="0"/>
                <a:ea typeface="Calibri" pitchFamily="34" charset="-122"/>
                <a:cs typeface="Calibri" pitchFamily="34" charset="-120"/>
              </a:rPr>
              <a:t> of queue operations.</a:t>
            </a:r>
            <a:endParaRPr lang="en-US" sz="2300" dirty="0"/>
          </a:p>
        </p:txBody>
      </p:sp>
      <p:sp>
        <p:nvSpPr>
          <p:cNvPr id="5" name="Shape 3"/>
          <p:cNvSpPr/>
          <p:nvPr/>
        </p:nvSpPr>
        <p:spPr>
          <a:xfrm>
            <a:off x="548640" y="3154680"/>
            <a:ext cx="2148840" cy="457200"/>
          </a:xfrm>
          <a:prstGeom prst="roundRect">
            <a:avLst>
              <a:gd name="adj" fmla="val 50000"/>
            </a:avLst>
          </a:prstGeom>
          <a:solidFill>
            <a:srgbClr val="F3F4F9"/>
          </a:solidFill>
          <a:ln/>
        </p:spPr>
      </p:sp>
      <p:pic>
        <p:nvPicPr>
          <p:cNvPr id="6" name="Image 0" descr="preencoded.png">    </p:cNvPr>
          <p:cNvPicPr>
            <a:picLocks noChangeAspect="1"/>
          </p:cNvPicPr>
          <p:nvPr/>
        </p:nvPicPr>
        <p:blipFill>
          <a:blip r:embed="rId1"/>
          <a:stretch>
            <a:fillRect/>
          </a:stretch>
        </p:blipFill>
        <p:spPr>
          <a:xfrm>
            <a:off x="685800" y="3255264"/>
            <a:ext cx="256032" cy="256032"/>
          </a:xfrm>
          <a:prstGeom prst="rect">
            <a:avLst/>
          </a:prstGeom>
        </p:spPr>
      </p:pic>
      <p:sp>
        <p:nvSpPr>
          <p:cNvPr id="7" name="Text 4"/>
          <p:cNvSpPr txBox="1"/>
          <p:nvPr/>
        </p:nvSpPr>
        <p:spPr>
          <a:xfrm>
            <a:off x="1005840" y="3154680"/>
            <a:ext cx="1645920" cy="457200"/>
          </a:xfrm>
          <a:prstGeom prst="rect">
            <a:avLst/>
          </a:prstGeom>
          <a:noFill/>
          <a:ln/>
        </p:spPr>
        <p:txBody>
          <a:bodyPr wrap="square" lIns="0" tIns="0" rIns="0" bIns="0"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Students hold their place</a:t>
            </a:r>
            <a:endParaRPr lang="en-US" sz="1200" dirty="0"/>
          </a:p>
        </p:txBody>
      </p:sp>
      <p:sp>
        <p:nvSpPr>
          <p:cNvPr id="8" name="Shape 5"/>
          <p:cNvSpPr/>
          <p:nvPr/>
        </p:nvSpPr>
        <p:spPr>
          <a:xfrm>
            <a:off x="2834640" y="3154680"/>
            <a:ext cx="2148840" cy="457200"/>
          </a:xfrm>
          <a:prstGeom prst="roundRect">
            <a:avLst>
              <a:gd name="adj" fmla="val 50000"/>
            </a:avLst>
          </a:prstGeom>
          <a:solidFill>
            <a:srgbClr val="F3F4F9"/>
          </a:solidFill>
          <a:ln/>
        </p:spPr>
      </p:sp>
      <p:pic>
        <p:nvPicPr>
          <p:cNvPr id="9" name="Image 1" descr="preencoded.png">    </p:cNvPr>
          <p:cNvPicPr>
            <a:picLocks noChangeAspect="1"/>
          </p:cNvPicPr>
          <p:nvPr/>
        </p:nvPicPr>
        <p:blipFill>
          <a:blip r:embed="rId2"/>
          <a:stretch>
            <a:fillRect/>
          </a:stretch>
        </p:blipFill>
        <p:spPr>
          <a:xfrm>
            <a:off x="2971800" y="3255264"/>
            <a:ext cx="256032" cy="256032"/>
          </a:xfrm>
          <a:prstGeom prst="rect">
            <a:avLst/>
          </a:prstGeom>
        </p:spPr>
      </p:pic>
      <p:sp>
        <p:nvSpPr>
          <p:cNvPr id="10" name="Text 6"/>
          <p:cNvSpPr txBox="1"/>
          <p:nvPr/>
        </p:nvSpPr>
        <p:spPr>
          <a:xfrm>
            <a:off x="3291840" y="3154680"/>
            <a:ext cx="1645920" cy="457200"/>
          </a:xfrm>
          <a:prstGeom prst="rect">
            <a:avLst/>
          </a:prstGeom>
          <a:noFill/>
          <a:ln/>
        </p:spPr>
        <p:txBody>
          <a:bodyPr wrap="square" lIns="0" tIns="0" rIns="0" bIns="0"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Staff run counters</a:t>
            </a:r>
            <a:endParaRPr lang="en-US" sz="1200" dirty="0"/>
          </a:p>
        </p:txBody>
      </p:sp>
      <p:sp>
        <p:nvSpPr>
          <p:cNvPr id="11" name="Shape 7"/>
          <p:cNvSpPr/>
          <p:nvPr/>
        </p:nvSpPr>
        <p:spPr>
          <a:xfrm>
            <a:off x="5120640" y="3154680"/>
            <a:ext cx="2148840" cy="457200"/>
          </a:xfrm>
          <a:prstGeom prst="roundRect">
            <a:avLst>
              <a:gd name="adj" fmla="val 50000"/>
            </a:avLst>
          </a:prstGeom>
          <a:solidFill>
            <a:srgbClr val="F3F4F9"/>
          </a:solidFill>
          <a:ln/>
        </p:spPr>
      </p:sp>
      <p:pic>
        <p:nvPicPr>
          <p:cNvPr id="12" name="Image 2" descr="preencoded.png">    </p:cNvPr>
          <p:cNvPicPr>
            <a:picLocks noChangeAspect="1"/>
          </p:cNvPicPr>
          <p:nvPr/>
        </p:nvPicPr>
        <p:blipFill>
          <a:blip r:embed="rId3"/>
          <a:stretch>
            <a:fillRect/>
          </a:stretch>
        </p:blipFill>
        <p:spPr>
          <a:xfrm>
            <a:off x="5257800" y="3255264"/>
            <a:ext cx="256032" cy="256032"/>
          </a:xfrm>
          <a:prstGeom prst="rect">
            <a:avLst/>
          </a:prstGeom>
        </p:spPr>
      </p:pic>
      <p:sp>
        <p:nvSpPr>
          <p:cNvPr id="13" name="Text 8"/>
          <p:cNvSpPr txBox="1"/>
          <p:nvPr/>
        </p:nvSpPr>
        <p:spPr>
          <a:xfrm>
            <a:off x="5577840" y="3154680"/>
            <a:ext cx="1645920" cy="457200"/>
          </a:xfrm>
          <a:prstGeom prst="rect">
            <a:avLst/>
          </a:prstGeom>
          <a:noFill/>
          <a:ln/>
        </p:spPr>
        <p:txBody>
          <a:bodyPr wrap="square" lIns="0" tIns="0" rIns="0" bIns="0" rtlCol="0" anchor="ctr"/>
          <a:lstStyle/>
          <a:p>
            <a:pPr algn="l" indent="0" marL="0">
              <a:buNone/>
            </a:pPr>
            <a:r>
              <a:rPr lang="en-US" sz="1200" b="1" dirty="0">
                <a:solidFill>
                  <a:srgbClr val="0F172A"/>
                </a:solidFill>
                <a:latin typeface="Calibri" pitchFamily="34" charset="0"/>
                <a:ea typeface="Calibri" pitchFamily="34" charset="-122"/>
                <a:cs typeface="Calibri" pitchFamily="34" charset="-120"/>
              </a:rPr>
              <a:t>Admins oversee</a:t>
            </a:r>
            <a:endParaRPr lang="en-US" sz="1200" dirty="0"/>
          </a:p>
        </p:txBody>
      </p:sp>
      <p:sp>
        <p:nvSpPr>
          <p:cNvPr id="14" name="Shape 9"/>
          <p:cNvSpPr/>
          <p:nvPr/>
        </p:nvSpPr>
        <p:spPr>
          <a:xfrm>
            <a:off x="7818120" y="1508760"/>
            <a:ext cx="3822192" cy="2148840"/>
          </a:xfrm>
          <a:prstGeom prst="roundRect">
            <a:avLst>
              <a:gd name="adj" fmla="val 8511"/>
            </a:avLst>
          </a:prstGeom>
          <a:solidFill>
            <a:srgbClr val="0B1026"/>
          </a:solidFill>
          <a:ln/>
        </p:spPr>
      </p:sp>
      <p:sp>
        <p:nvSpPr>
          <p:cNvPr id="15" name="Shape 10"/>
          <p:cNvSpPr/>
          <p:nvPr/>
        </p:nvSpPr>
        <p:spPr>
          <a:xfrm>
            <a:off x="8092440" y="1783080"/>
            <a:ext cx="548640" cy="548640"/>
          </a:xfrm>
          <a:prstGeom prst="roundRect">
            <a:avLst>
              <a:gd name="adj" fmla="val 28000"/>
            </a:avLst>
          </a:prstGeom>
          <a:solidFill>
            <a:srgbClr val="6D28D9"/>
          </a:solidFill>
          <a:ln/>
        </p:spPr>
      </p:sp>
      <p:pic>
        <p:nvPicPr>
          <p:cNvPr id="16" name="Image 3" descr="preencoded.png">    </p:cNvPr>
          <p:cNvPicPr>
            <a:picLocks noChangeAspect="1"/>
          </p:cNvPicPr>
          <p:nvPr/>
        </p:nvPicPr>
        <p:blipFill>
          <a:blip r:embed="rId4"/>
          <a:stretch>
            <a:fillRect/>
          </a:stretch>
        </p:blipFill>
        <p:spPr>
          <a:xfrm>
            <a:off x="8213141" y="1903781"/>
            <a:ext cx="307238" cy="307238"/>
          </a:xfrm>
          <a:prstGeom prst="rect">
            <a:avLst/>
          </a:prstGeom>
        </p:spPr>
      </p:pic>
      <p:sp>
        <p:nvSpPr>
          <p:cNvPr id="17" name="Text 11"/>
          <p:cNvSpPr txBox="1"/>
          <p:nvPr/>
        </p:nvSpPr>
        <p:spPr>
          <a:xfrm>
            <a:off x="8778240" y="1783080"/>
            <a:ext cx="2743200" cy="54864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SERVER = SINGLE SOURCE OF TRUTH</a:t>
            </a:r>
            <a:endParaRPr lang="en-US" sz="1400" dirty="0"/>
          </a:p>
        </p:txBody>
      </p:sp>
      <p:sp>
        <p:nvSpPr>
          <p:cNvPr id="18" name="Text 12"/>
          <p:cNvSpPr txBox="1"/>
          <p:nvPr/>
        </p:nvSpPr>
        <p:spPr>
          <a:xfrm>
            <a:off x="8092440" y="2514600"/>
            <a:ext cx="3337560" cy="914400"/>
          </a:xfrm>
          <a:prstGeom prst="rect">
            <a:avLst/>
          </a:prstGeom>
          <a:noFill/>
          <a:ln/>
        </p:spPr>
        <p:txBody>
          <a:bodyPr wrap="square" lIns="0" tIns="0" rIns="0" bIns="0" rtlCol="0" anchor="t"/>
          <a:lstStyle/>
          <a:p>
            <a:pPr algn="l" indent="0" marL="0">
              <a:buNone/>
            </a:pPr>
            <a:r>
              <a:rPr lang="en-US" sz="1250" dirty="0">
                <a:solidFill>
                  <a:srgbClr val="CBD5E1"/>
                </a:solidFill>
                <a:latin typeface="Calibri" pitchFamily="34" charset="0"/>
                <a:ea typeface="Calibri" pitchFamily="34" charset="-122"/>
                <a:cs typeface="Calibri" pitchFamily="34" charset="-120"/>
              </a:rPr>
              <a:t>Every screen reads the same authoritative queue state. Clients display it — the server decides it.</a:t>
            </a:r>
            <a:endParaRPr lang="en-US" sz="1250" dirty="0"/>
          </a:p>
        </p:txBody>
      </p:sp>
      <p:sp>
        <p:nvSpPr>
          <p:cNvPr id="19" name="Text 13"/>
          <p:cNvSpPr txBox="1"/>
          <p:nvPr/>
        </p:nvSpPr>
        <p:spPr>
          <a:xfrm>
            <a:off x="548640" y="4023360"/>
            <a:ext cx="4572000" cy="228600"/>
          </a:xfrm>
          <a:prstGeom prst="rect">
            <a:avLst/>
          </a:prstGeom>
          <a:noFill/>
          <a:ln/>
        </p:spPr>
        <p:txBody>
          <a:bodyPr wrap="square" lIns="0" tIns="0" rIns="0" bIns="0" rtlCol="0" anchor="t"/>
          <a:lstStyle/>
          <a:p>
            <a:pPr algn="l" indent="0" marL="0">
              <a:buNone/>
            </a:pPr>
            <a:r>
              <a:rPr lang="en-US" sz="1000" b="1" spc="200" kern="0" dirty="0">
                <a:solidFill>
                  <a:srgbClr val="5B6478"/>
                </a:solidFill>
                <a:latin typeface="Calibri" pitchFamily="34" charset="0"/>
                <a:ea typeface="Calibri" pitchFamily="34" charset="-122"/>
                <a:cs typeface="Calibri" pitchFamily="34" charset="-120"/>
              </a:rPr>
              <a:t>THE STUDENT JOURNEY</a:t>
            </a:r>
            <a:endParaRPr lang="en-US" sz="1000" dirty="0"/>
          </a:p>
        </p:txBody>
      </p:sp>
      <p:sp>
        <p:nvSpPr>
          <p:cNvPr id="20" name="Shape 14"/>
          <p:cNvSpPr/>
          <p:nvPr/>
        </p:nvSpPr>
        <p:spPr>
          <a:xfrm>
            <a:off x="548640" y="4389120"/>
            <a:ext cx="1572768" cy="1691640"/>
          </a:xfrm>
          <a:prstGeom prst="roundRect">
            <a:avLst>
              <a:gd name="adj" fmla="val 9302"/>
            </a:avLst>
          </a:prstGeom>
          <a:solidFill>
            <a:srgbClr val="F3F4F9"/>
          </a:solidFill>
          <a:ln/>
        </p:spPr>
      </p:sp>
      <p:sp>
        <p:nvSpPr>
          <p:cNvPr id="21" name="Shape 15"/>
          <p:cNvSpPr/>
          <p:nvPr/>
        </p:nvSpPr>
        <p:spPr>
          <a:xfrm>
            <a:off x="731520" y="4572000"/>
            <a:ext cx="502920" cy="502920"/>
          </a:xfrm>
          <a:prstGeom prst="ellipse">
            <a:avLst/>
          </a:prstGeom>
          <a:solidFill>
            <a:srgbClr val="0F172A"/>
          </a:solidFill>
          <a:ln/>
        </p:spPr>
      </p:sp>
      <p:pic>
        <p:nvPicPr>
          <p:cNvPr id="22" name="Image 4" descr="preencoded.png">    </p:cNvPr>
          <p:cNvPicPr>
            <a:picLocks noChangeAspect="1"/>
          </p:cNvPicPr>
          <p:nvPr/>
        </p:nvPicPr>
        <p:blipFill>
          <a:blip r:embed="rId5"/>
          <a:stretch>
            <a:fillRect/>
          </a:stretch>
        </p:blipFill>
        <p:spPr>
          <a:xfrm>
            <a:off x="852221" y="4692701"/>
            <a:ext cx="261518" cy="261518"/>
          </a:xfrm>
          <a:prstGeom prst="rect">
            <a:avLst/>
          </a:prstGeom>
        </p:spPr>
      </p:pic>
      <p:sp>
        <p:nvSpPr>
          <p:cNvPr id="23" name="Text 16"/>
          <p:cNvSpPr txBox="1"/>
          <p:nvPr/>
        </p:nvSpPr>
        <p:spPr>
          <a:xfrm>
            <a:off x="731520" y="5193792"/>
            <a:ext cx="1298448" cy="320040"/>
          </a:xfrm>
          <a:prstGeom prst="rect">
            <a:avLst/>
          </a:prstGeom>
          <a:noFill/>
          <a:ln/>
        </p:spPr>
        <p:txBody>
          <a:bodyPr wrap="square" lIns="0" tIns="0" rIns="0" bIns="0" rtlCol="0" anchor="t"/>
          <a:lstStyle/>
          <a:p>
            <a:pPr algn="l" indent="0" marL="0">
              <a:buNone/>
            </a:pPr>
            <a:r>
              <a:rPr lang="en-US" sz="1400" b="1" dirty="0">
                <a:solidFill>
                  <a:srgbClr val="0F172A"/>
                </a:solidFill>
                <a:latin typeface="Calibri" pitchFamily="34" charset="0"/>
                <a:ea typeface="Calibri" pitchFamily="34" charset="-122"/>
                <a:cs typeface="Calibri" pitchFamily="34" charset="-120"/>
              </a:rPr>
              <a:t>Student</a:t>
            </a:r>
            <a:endParaRPr lang="en-US" sz="1400" dirty="0"/>
          </a:p>
        </p:txBody>
      </p:sp>
      <p:sp>
        <p:nvSpPr>
          <p:cNvPr id="24" name="Text 17"/>
          <p:cNvSpPr txBox="1"/>
          <p:nvPr/>
        </p:nvSpPr>
        <p:spPr>
          <a:xfrm>
            <a:off x="731520"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Logs in, picks a service</a:t>
            </a:r>
            <a:endParaRPr lang="en-US" sz="1050" dirty="0"/>
          </a:p>
        </p:txBody>
      </p:sp>
      <p:sp>
        <p:nvSpPr>
          <p:cNvPr id="25" name="Shape 18"/>
          <p:cNvSpPr/>
          <p:nvPr/>
        </p:nvSpPr>
        <p:spPr>
          <a:xfrm>
            <a:off x="2167128" y="5230368"/>
            <a:ext cx="237744" cy="0"/>
          </a:xfrm>
          <a:prstGeom prst="line">
            <a:avLst/>
          </a:prstGeom>
          <a:noFill/>
          <a:ln w="19050">
            <a:solidFill>
              <a:srgbClr val="8A93A8"/>
            </a:solidFill>
            <a:prstDash val="solid"/>
            <a:tailEnd type="triangle"/>
          </a:ln>
        </p:spPr>
      </p:sp>
      <p:sp>
        <p:nvSpPr>
          <p:cNvPr id="26" name="Shape 19"/>
          <p:cNvSpPr/>
          <p:nvPr/>
        </p:nvSpPr>
        <p:spPr>
          <a:xfrm>
            <a:off x="2450592" y="4389120"/>
            <a:ext cx="1572768" cy="1691640"/>
          </a:xfrm>
          <a:prstGeom prst="roundRect">
            <a:avLst>
              <a:gd name="adj" fmla="val 9302"/>
            </a:avLst>
          </a:prstGeom>
          <a:solidFill>
            <a:srgbClr val="EDE9FE"/>
          </a:solidFill>
          <a:ln/>
        </p:spPr>
      </p:sp>
      <p:sp>
        <p:nvSpPr>
          <p:cNvPr id="27" name="Shape 20"/>
          <p:cNvSpPr/>
          <p:nvPr/>
        </p:nvSpPr>
        <p:spPr>
          <a:xfrm>
            <a:off x="2633472" y="4572000"/>
            <a:ext cx="502920" cy="502920"/>
          </a:xfrm>
          <a:prstGeom prst="ellipse">
            <a:avLst/>
          </a:prstGeom>
          <a:solidFill>
            <a:srgbClr val="6D28D9"/>
          </a:solidFill>
          <a:ln/>
        </p:spPr>
      </p:sp>
      <p:pic>
        <p:nvPicPr>
          <p:cNvPr id="28" name="Image 5" descr="preencoded.png">    </p:cNvPr>
          <p:cNvPicPr>
            <a:picLocks noChangeAspect="1"/>
          </p:cNvPicPr>
          <p:nvPr/>
        </p:nvPicPr>
        <p:blipFill>
          <a:blip r:embed="rId6"/>
          <a:stretch>
            <a:fillRect/>
          </a:stretch>
        </p:blipFill>
        <p:spPr>
          <a:xfrm>
            <a:off x="2754173" y="4692701"/>
            <a:ext cx="261518" cy="261518"/>
          </a:xfrm>
          <a:prstGeom prst="rect">
            <a:avLst/>
          </a:prstGeom>
        </p:spPr>
      </p:pic>
      <p:sp>
        <p:nvSpPr>
          <p:cNvPr id="29" name="Text 21"/>
          <p:cNvSpPr txBox="1"/>
          <p:nvPr/>
        </p:nvSpPr>
        <p:spPr>
          <a:xfrm>
            <a:off x="2633472" y="5193792"/>
            <a:ext cx="1298448" cy="320040"/>
          </a:xfrm>
          <a:prstGeom prst="rect">
            <a:avLst/>
          </a:prstGeom>
          <a:noFill/>
          <a:ln/>
        </p:spPr>
        <p:txBody>
          <a:bodyPr wrap="square" lIns="0" tIns="0" rIns="0" bIns="0" rtlCol="0" anchor="t"/>
          <a:lstStyle/>
          <a:p>
            <a:pPr algn="l" indent="0" marL="0">
              <a:buNone/>
            </a:pPr>
            <a:r>
              <a:rPr lang="en-US" sz="1400" b="1" dirty="0">
                <a:solidFill>
                  <a:srgbClr val="4C1D95"/>
                </a:solidFill>
                <a:latin typeface="Calibri" pitchFamily="34" charset="0"/>
                <a:ea typeface="Calibri" pitchFamily="34" charset="-122"/>
                <a:cs typeface="Calibri" pitchFamily="34" charset="-120"/>
              </a:rPr>
              <a:t>Digital Token</a:t>
            </a:r>
            <a:endParaRPr lang="en-US" sz="1400" dirty="0"/>
          </a:p>
        </p:txBody>
      </p:sp>
      <p:sp>
        <p:nvSpPr>
          <p:cNvPr id="30" name="Text 22"/>
          <p:cNvSpPr txBox="1"/>
          <p:nvPr/>
        </p:nvSpPr>
        <p:spPr>
          <a:xfrm>
            <a:off x="2633472"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e.g. RA003</a:t>
            </a:r>
            <a:endParaRPr lang="en-US" sz="1050" dirty="0"/>
          </a:p>
        </p:txBody>
      </p:sp>
      <p:sp>
        <p:nvSpPr>
          <p:cNvPr id="31" name="Shape 23"/>
          <p:cNvSpPr/>
          <p:nvPr/>
        </p:nvSpPr>
        <p:spPr>
          <a:xfrm>
            <a:off x="4069080" y="5230368"/>
            <a:ext cx="237744" cy="0"/>
          </a:xfrm>
          <a:prstGeom prst="line">
            <a:avLst/>
          </a:prstGeom>
          <a:noFill/>
          <a:ln w="19050">
            <a:solidFill>
              <a:srgbClr val="8A93A8"/>
            </a:solidFill>
            <a:prstDash val="solid"/>
            <a:tailEnd type="triangle"/>
          </a:ln>
        </p:spPr>
      </p:sp>
      <p:sp>
        <p:nvSpPr>
          <p:cNvPr id="32" name="Shape 24"/>
          <p:cNvSpPr/>
          <p:nvPr/>
        </p:nvSpPr>
        <p:spPr>
          <a:xfrm>
            <a:off x="4352544" y="4389120"/>
            <a:ext cx="1572768" cy="1691640"/>
          </a:xfrm>
          <a:prstGeom prst="roundRect">
            <a:avLst>
              <a:gd name="adj" fmla="val 9302"/>
            </a:avLst>
          </a:prstGeom>
          <a:solidFill>
            <a:srgbClr val="EDE9FE"/>
          </a:solidFill>
          <a:ln/>
        </p:spPr>
      </p:sp>
      <p:sp>
        <p:nvSpPr>
          <p:cNvPr id="33" name="Shape 25"/>
          <p:cNvSpPr/>
          <p:nvPr/>
        </p:nvSpPr>
        <p:spPr>
          <a:xfrm>
            <a:off x="4535424" y="4572000"/>
            <a:ext cx="502920" cy="502920"/>
          </a:xfrm>
          <a:prstGeom prst="ellipse">
            <a:avLst/>
          </a:prstGeom>
          <a:solidFill>
            <a:srgbClr val="6D28D9"/>
          </a:solidFill>
          <a:ln/>
        </p:spPr>
      </p:sp>
      <p:pic>
        <p:nvPicPr>
          <p:cNvPr id="34" name="Image 6" descr="preencoded.png">    </p:cNvPr>
          <p:cNvPicPr>
            <a:picLocks noChangeAspect="1"/>
          </p:cNvPicPr>
          <p:nvPr/>
        </p:nvPicPr>
        <p:blipFill>
          <a:blip r:embed="rId7"/>
          <a:stretch>
            <a:fillRect/>
          </a:stretch>
        </p:blipFill>
        <p:spPr>
          <a:xfrm>
            <a:off x="4656125" y="4692701"/>
            <a:ext cx="261518" cy="261518"/>
          </a:xfrm>
          <a:prstGeom prst="rect">
            <a:avLst/>
          </a:prstGeom>
        </p:spPr>
      </p:pic>
      <p:sp>
        <p:nvSpPr>
          <p:cNvPr id="35" name="Text 26"/>
          <p:cNvSpPr txBox="1"/>
          <p:nvPr/>
        </p:nvSpPr>
        <p:spPr>
          <a:xfrm>
            <a:off x="4535424" y="5193792"/>
            <a:ext cx="1298448" cy="320040"/>
          </a:xfrm>
          <a:prstGeom prst="rect">
            <a:avLst/>
          </a:prstGeom>
          <a:noFill/>
          <a:ln/>
        </p:spPr>
        <p:txBody>
          <a:bodyPr wrap="square" lIns="0" tIns="0" rIns="0" bIns="0" rtlCol="0" anchor="t"/>
          <a:lstStyle/>
          <a:p>
            <a:pPr algn="l" indent="0" marL="0">
              <a:buNone/>
            </a:pPr>
            <a:r>
              <a:rPr lang="en-US" sz="1400" b="1" dirty="0">
                <a:solidFill>
                  <a:srgbClr val="4C1D95"/>
                </a:solidFill>
                <a:latin typeface="Calibri" pitchFamily="34" charset="0"/>
                <a:ea typeface="Calibri" pitchFamily="34" charset="-122"/>
                <a:cs typeface="Calibri" pitchFamily="34" charset="-120"/>
              </a:rPr>
              <a:t>Live Position</a:t>
            </a:r>
            <a:endParaRPr lang="en-US" sz="1400" dirty="0"/>
          </a:p>
        </p:txBody>
      </p:sp>
      <p:sp>
        <p:nvSpPr>
          <p:cNvPr id="36" name="Text 27"/>
          <p:cNvSpPr txBox="1"/>
          <p:nvPr/>
        </p:nvSpPr>
        <p:spPr>
          <a:xfrm>
            <a:off x="4535424"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Position &amp; people ahead</a:t>
            </a:r>
            <a:endParaRPr lang="en-US" sz="1050" dirty="0"/>
          </a:p>
        </p:txBody>
      </p:sp>
      <p:sp>
        <p:nvSpPr>
          <p:cNvPr id="37" name="Shape 28"/>
          <p:cNvSpPr/>
          <p:nvPr/>
        </p:nvSpPr>
        <p:spPr>
          <a:xfrm>
            <a:off x="5971032" y="5230368"/>
            <a:ext cx="237744" cy="0"/>
          </a:xfrm>
          <a:prstGeom prst="line">
            <a:avLst/>
          </a:prstGeom>
          <a:noFill/>
          <a:ln w="19050">
            <a:solidFill>
              <a:srgbClr val="8A93A8"/>
            </a:solidFill>
            <a:prstDash val="solid"/>
            <a:tailEnd type="triangle"/>
          </a:ln>
        </p:spPr>
      </p:sp>
      <p:sp>
        <p:nvSpPr>
          <p:cNvPr id="38" name="Shape 29"/>
          <p:cNvSpPr/>
          <p:nvPr/>
        </p:nvSpPr>
        <p:spPr>
          <a:xfrm>
            <a:off x="6254496" y="4389120"/>
            <a:ext cx="1572768" cy="1691640"/>
          </a:xfrm>
          <a:prstGeom prst="roundRect">
            <a:avLst>
              <a:gd name="adj" fmla="val 9302"/>
            </a:avLst>
          </a:prstGeom>
          <a:solidFill>
            <a:srgbClr val="EDE9FE"/>
          </a:solidFill>
          <a:ln/>
        </p:spPr>
      </p:sp>
      <p:sp>
        <p:nvSpPr>
          <p:cNvPr id="39" name="Shape 30"/>
          <p:cNvSpPr/>
          <p:nvPr/>
        </p:nvSpPr>
        <p:spPr>
          <a:xfrm>
            <a:off x="6437376" y="4572000"/>
            <a:ext cx="502920" cy="502920"/>
          </a:xfrm>
          <a:prstGeom prst="ellipse">
            <a:avLst/>
          </a:prstGeom>
          <a:solidFill>
            <a:srgbClr val="6D28D9"/>
          </a:solidFill>
          <a:ln/>
        </p:spPr>
      </p:sp>
      <p:pic>
        <p:nvPicPr>
          <p:cNvPr id="40" name="Image 7" descr="preencoded.png">    </p:cNvPr>
          <p:cNvPicPr>
            <a:picLocks noChangeAspect="1"/>
          </p:cNvPicPr>
          <p:nvPr/>
        </p:nvPicPr>
        <p:blipFill>
          <a:blip r:embed="rId8"/>
          <a:stretch>
            <a:fillRect/>
          </a:stretch>
        </p:blipFill>
        <p:spPr>
          <a:xfrm>
            <a:off x="6558077" y="4692701"/>
            <a:ext cx="261518" cy="261518"/>
          </a:xfrm>
          <a:prstGeom prst="rect">
            <a:avLst/>
          </a:prstGeom>
        </p:spPr>
      </p:pic>
      <p:sp>
        <p:nvSpPr>
          <p:cNvPr id="41" name="Text 31"/>
          <p:cNvSpPr txBox="1"/>
          <p:nvPr/>
        </p:nvSpPr>
        <p:spPr>
          <a:xfrm>
            <a:off x="6437376" y="5193792"/>
            <a:ext cx="1298448" cy="320040"/>
          </a:xfrm>
          <a:prstGeom prst="rect">
            <a:avLst/>
          </a:prstGeom>
          <a:noFill/>
          <a:ln/>
        </p:spPr>
        <p:txBody>
          <a:bodyPr wrap="square" lIns="0" tIns="0" rIns="0" bIns="0" rtlCol="0" anchor="t"/>
          <a:lstStyle/>
          <a:p>
            <a:pPr algn="l" indent="0" marL="0">
              <a:buNone/>
            </a:pPr>
            <a:r>
              <a:rPr lang="en-US" sz="1400" b="1" dirty="0">
                <a:solidFill>
                  <a:srgbClr val="4C1D95"/>
                </a:solidFill>
                <a:latin typeface="Calibri" pitchFamily="34" charset="0"/>
                <a:ea typeface="Calibri" pitchFamily="34" charset="-122"/>
                <a:cs typeface="Calibri" pitchFamily="34" charset="-120"/>
              </a:rPr>
              <a:t>Estimated Wait</a:t>
            </a:r>
            <a:endParaRPr lang="en-US" sz="1400" dirty="0"/>
          </a:p>
        </p:txBody>
      </p:sp>
      <p:sp>
        <p:nvSpPr>
          <p:cNvPr id="42" name="Text 32"/>
          <p:cNvSpPr txBox="1"/>
          <p:nvPr/>
        </p:nvSpPr>
        <p:spPr>
          <a:xfrm>
            <a:off x="6437376"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Server-calculated countdown</a:t>
            </a:r>
            <a:endParaRPr lang="en-US" sz="1050" dirty="0"/>
          </a:p>
        </p:txBody>
      </p:sp>
      <p:sp>
        <p:nvSpPr>
          <p:cNvPr id="43" name="Shape 33"/>
          <p:cNvSpPr/>
          <p:nvPr/>
        </p:nvSpPr>
        <p:spPr>
          <a:xfrm>
            <a:off x="7872984" y="5230368"/>
            <a:ext cx="237744" cy="0"/>
          </a:xfrm>
          <a:prstGeom prst="line">
            <a:avLst/>
          </a:prstGeom>
          <a:noFill/>
          <a:ln w="19050">
            <a:solidFill>
              <a:srgbClr val="8A93A8"/>
            </a:solidFill>
            <a:prstDash val="solid"/>
            <a:tailEnd type="triangle"/>
          </a:ln>
        </p:spPr>
      </p:sp>
      <p:sp>
        <p:nvSpPr>
          <p:cNvPr id="44" name="Shape 34"/>
          <p:cNvSpPr/>
          <p:nvPr/>
        </p:nvSpPr>
        <p:spPr>
          <a:xfrm>
            <a:off x="8156448" y="4389120"/>
            <a:ext cx="1572768" cy="1691640"/>
          </a:xfrm>
          <a:prstGeom prst="roundRect">
            <a:avLst>
              <a:gd name="adj" fmla="val 9302"/>
            </a:avLst>
          </a:prstGeom>
          <a:solidFill>
            <a:srgbClr val="FEF9C3"/>
          </a:solidFill>
          <a:ln/>
        </p:spPr>
      </p:sp>
      <p:sp>
        <p:nvSpPr>
          <p:cNvPr id="45" name="Shape 35"/>
          <p:cNvSpPr/>
          <p:nvPr/>
        </p:nvSpPr>
        <p:spPr>
          <a:xfrm>
            <a:off x="8339328" y="4572000"/>
            <a:ext cx="502920" cy="502920"/>
          </a:xfrm>
          <a:prstGeom prst="ellipse">
            <a:avLst/>
          </a:prstGeom>
          <a:solidFill>
            <a:srgbClr val="FACC15"/>
          </a:solidFill>
          <a:ln/>
        </p:spPr>
      </p:sp>
      <p:pic>
        <p:nvPicPr>
          <p:cNvPr id="46" name="Image 8" descr="preencoded.png">    </p:cNvPr>
          <p:cNvPicPr>
            <a:picLocks noChangeAspect="1"/>
          </p:cNvPicPr>
          <p:nvPr/>
        </p:nvPicPr>
        <p:blipFill>
          <a:blip r:embed="rId9"/>
          <a:stretch>
            <a:fillRect/>
          </a:stretch>
        </p:blipFill>
        <p:spPr>
          <a:xfrm>
            <a:off x="8460029" y="4692701"/>
            <a:ext cx="261518" cy="261518"/>
          </a:xfrm>
          <a:prstGeom prst="rect">
            <a:avLst/>
          </a:prstGeom>
        </p:spPr>
      </p:pic>
      <p:sp>
        <p:nvSpPr>
          <p:cNvPr id="47" name="Text 36"/>
          <p:cNvSpPr txBox="1"/>
          <p:nvPr/>
        </p:nvSpPr>
        <p:spPr>
          <a:xfrm>
            <a:off x="8339328" y="5193792"/>
            <a:ext cx="1298448" cy="320040"/>
          </a:xfrm>
          <a:prstGeom prst="rect">
            <a:avLst/>
          </a:prstGeom>
          <a:noFill/>
          <a:ln/>
        </p:spPr>
        <p:txBody>
          <a:bodyPr wrap="square" lIns="0" tIns="0" rIns="0" bIns="0" rtlCol="0" anchor="t"/>
          <a:lstStyle/>
          <a:p>
            <a:pPr algn="l" indent="0" marL="0">
              <a:buNone/>
            </a:pPr>
            <a:r>
              <a:rPr lang="en-US" sz="1400" b="1" dirty="0">
                <a:solidFill>
                  <a:srgbClr val="422006"/>
                </a:solidFill>
                <a:latin typeface="Calibri" pitchFamily="34" charset="0"/>
                <a:ea typeface="Calibri" pitchFamily="34" charset="-122"/>
                <a:cs typeface="Calibri" pitchFamily="34" charset="-120"/>
              </a:rPr>
              <a:t>Called</a:t>
            </a:r>
            <a:endParaRPr lang="en-US" sz="1400" dirty="0"/>
          </a:p>
        </p:txBody>
      </p:sp>
      <p:sp>
        <p:nvSpPr>
          <p:cNvPr id="48" name="Text 37"/>
          <p:cNvSpPr txBox="1"/>
          <p:nvPr/>
        </p:nvSpPr>
        <p:spPr>
          <a:xfrm>
            <a:off x="8339328"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Go to the counter now</a:t>
            </a:r>
            <a:endParaRPr lang="en-US" sz="1050" dirty="0"/>
          </a:p>
        </p:txBody>
      </p:sp>
      <p:sp>
        <p:nvSpPr>
          <p:cNvPr id="49" name="Shape 38"/>
          <p:cNvSpPr/>
          <p:nvPr/>
        </p:nvSpPr>
        <p:spPr>
          <a:xfrm>
            <a:off x="9774936" y="5230368"/>
            <a:ext cx="237744" cy="0"/>
          </a:xfrm>
          <a:prstGeom prst="line">
            <a:avLst/>
          </a:prstGeom>
          <a:noFill/>
          <a:ln w="19050">
            <a:solidFill>
              <a:srgbClr val="8A93A8"/>
            </a:solidFill>
            <a:prstDash val="solid"/>
            <a:tailEnd type="triangle"/>
          </a:ln>
        </p:spPr>
      </p:sp>
      <p:sp>
        <p:nvSpPr>
          <p:cNvPr id="50" name="Shape 39"/>
          <p:cNvSpPr/>
          <p:nvPr/>
        </p:nvSpPr>
        <p:spPr>
          <a:xfrm>
            <a:off x="10058400" y="4389120"/>
            <a:ext cx="1572768" cy="1691640"/>
          </a:xfrm>
          <a:prstGeom prst="roundRect">
            <a:avLst>
              <a:gd name="adj" fmla="val 9302"/>
            </a:avLst>
          </a:prstGeom>
          <a:solidFill>
            <a:srgbClr val="DCFCE7"/>
          </a:solidFill>
          <a:ln/>
        </p:spPr>
      </p:sp>
      <p:sp>
        <p:nvSpPr>
          <p:cNvPr id="51" name="Shape 40"/>
          <p:cNvSpPr/>
          <p:nvPr/>
        </p:nvSpPr>
        <p:spPr>
          <a:xfrm>
            <a:off x="10241280" y="4572000"/>
            <a:ext cx="502920" cy="502920"/>
          </a:xfrm>
          <a:prstGeom prst="ellipse">
            <a:avLst/>
          </a:prstGeom>
          <a:solidFill>
            <a:srgbClr val="16A34A"/>
          </a:solidFill>
          <a:ln/>
        </p:spPr>
      </p:sp>
      <p:pic>
        <p:nvPicPr>
          <p:cNvPr id="52" name="Image 9" descr="preencoded.png">    </p:cNvPr>
          <p:cNvPicPr>
            <a:picLocks noChangeAspect="1"/>
          </p:cNvPicPr>
          <p:nvPr/>
        </p:nvPicPr>
        <p:blipFill>
          <a:blip r:embed="rId10"/>
          <a:stretch>
            <a:fillRect/>
          </a:stretch>
        </p:blipFill>
        <p:spPr>
          <a:xfrm>
            <a:off x="10361981" y="4692701"/>
            <a:ext cx="261518" cy="261518"/>
          </a:xfrm>
          <a:prstGeom prst="rect">
            <a:avLst/>
          </a:prstGeom>
        </p:spPr>
      </p:pic>
      <p:sp>
        <p:nvSpPr>
          <p:cNvPr id="53" name="Text 41"/>
          <p:cNvSpPr txBox="1"/>
          <p:nvPr/>
        </p:nvSpPr>
        <p:spPr>
          <a:xfrm>
            <a:off x="10241280" y="5193792"/>
            <a:ext cx="1298448" cy="320040"/>
          </a:xfrm>
          <a:prstGeom prst="rect">
            <a:avLst/>
          </a:prstGeom>
          <a:noFill/>
          <a:ln/>
        </p:spPr>
        <p:txBody>
          <a:bodyPr wrap="square" lIns="0" tIns="0" rIns="0" bIns="0" rtlCol="0" anchor="t"/>
          <a:lstStyle/>
          <a:p>
            <a:pPr algn="l" indent="0" marL="0">
              <a:buNone/>
            </a:pPr>
            <a:r>
              <a:rPr lang="en-US" sz="1400" b="1" dirty="0">
                <a:solidFill>
                  <a:srgbClr val="14532D"/>
                </a:solidFill>
                <a:latin typeface="Calibri" pitchFamily="34" charset="0"/>
                <a:ea typeface="Calibri" pitchFamily="34" charset="-122"/>
                <a:cs typeface="Calibri" pitchFamily="34" charset="-120"/>
              </a:rPr>
              <a:t>Service</a:t>
            </a:r>
            <a:endParaRPr lang="en-US" sz="1400" dirty="0"/>
          </a:p>
        </p:txBody>
      </p:sp>
      <p:sp>
        <p:nvSpPr>
          <p:cNvPr id="54" name="Text 42"/>
          <p:cNvSpPr txBox="1"/>
          <p:nvPr/>
        </p:nvSpPr>
        <p:spPr>
          <a:xfrm>
            <a:off x="10241280" y="5504688"/>
            <a:ext cx="1298448" cy="457200"/>
          </a:xfrm>
          <a:prstGeom prst="rect">
            <a:avLst/>
          </a:prstGeom>
          <a:noFill/>
          <a:ln/>
        </p:spPr>
        <p:txBody>
          <a:bodyPr wrap="square" lIns="0" tIns="0" rIns="0" bIns="0" rtlCol="0" anchor="t"/>
          <a:lstStyle/>
          <a:p>
            <a:pPr algn="l" indent="0" marL="0">
              <a:buNone/>
            </a:pPr>
            <a:r>
              <a:rPr lang="en-US" sz="1050" dirty="0">
                <a:solidFill>
                  <a:srgbClr val="5B6478"/>
                </a:solidFill>
                <a:latin typeface="Calibri" pitchFamily="34" charset="0"/>
                <a:ea typeface="Calibri" pitchFamily="34" charset="-122"/>
                <a:cs typeface="Calibri" pitchFamily="34" charset="-120"/>
              </a:rPr>
              <a:t>Served, then completed</a:t>
            </a:r>
            <a:endParaRPr lang="en-US" sz="1050" dirty="0"/>
          </a:p>
        </p:txBody>
      </p:sp>
      <p:sp>
        <p:nvSpPr>
          <p:cNvPr id="55" name="Text 43"/>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56" name="Text 44"/>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03  ·  SOLUTION &amp; SERVICE AREAS</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One Platform. Multiple Campus Services.</a:t>
            </a:r>
            <a:endParaRPr lang="en-US" sz="3000" dirty="0"/>
          </a:p>
        </p:txBody>
      </p:sp>
      <p:sp>
        <p:nvSpPr>
          <p:cNvPr id="4" name="Shape 2"/>
          <p:cNvSpPr/>
          <p:nvPr/>
        </p:nvSpPr>
        <p:spPr>
          <a:xfrm>
            <a:off x="548640" y="1463040"/>
            <a:ext cx="2606040" cy="2926080"/>
          </a:xfrm>
          <a:prstGeom prst="roundRect">
            <a:avLst>
              <a:gd name="adj" fmla="val 6316"/>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5" name="Shape 3"/>
          <p:cNvSpPr/>
          <p:nvPr/>
        </p:nvSpPr>
        <p:spPr>
          <a:xfrm>
            <a:off x="822960" y="1737360"/>
            <a:ext cx="548640" cy="548640"/>
          </a:xfrm>
          <a:prstGeom prst="roundRect">
            <a:avLst>
              <a:gd name="adj" fmla="val 28000"/>
            </a:avLst>
          </a:prstGeom>
          <a:solidFill>
            <a:srgbClr val="EDE9FE"/>
          </a:solidFill>
          <a:ln/>
        </p:spPr>
      </p:sp>
      <p:pic>
        <p:nvPicPr>
          <p:cNvPr id="6" name="Image 0" descr="preencoded.png">    </p:cNvPr>
          <p:cNvPicPr>
            <a:picLocks noChangeAspect="1"/>
          </p:cNvPicPr>
          <p:nvPr/>
        </p:nvPicPr>
        <p:blipFill>
          <a:blip r:embed="rId1"/>
          <a:stretch>
            <a:fillRect/>
          </a:stretch>
        </p:blipFill>
        <p:spPr>
          <a:xfrm>
            <a:off x="943661" y="1858061"/>
            <a:ext cx="307238" cy="307238"/>
          </a:xfrm>
          <a:prstGeom prst="rect">
            <a:avLst/>
          </a:prstGeom>
        </p:spPr>
      </p:pic>
      <p:sp>
        <p:nvSpPr>
          <p:cNvPr id="7" name="Text 4"/>
          <p:cNvSpPr txBox="1"/>
          <p:nvPr/>
        </p:nvSpPr>
        <p:spPr>
          <a:xfrm>
            <a:off x="822960" y="2423160"/>
            <a:ext cx="21488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Calibri" pitchFamily="34" charset="0"/>
                <a:ea typeface="Calibri" pitchFamily="34" charset="-122"/>
                <a:cs typeface="Calibri" pitchFamily="34" charset="-120"/>
              </a:rPr>
              <a:t>Administration</a:t>
            </a:r>
            <a:endParaRPr lang="en-US" sz="1800" dirty="0"/>
          </a:p>
        </p:txBody>
      </p:sp>
      <p:sp>
        <p:nvSpPr>
          <p:cNvPr id="8" name="Text 5"/>
          <p:cNvSpPr txBox="1"/>
          <p:nvPr/>
        </p:nvSpPr>
        <p:spPr>
          <a:xfrm>
            <a:off x="822960" y="2834640"/>
            <a:ext cx="214884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Accounts &amp; Fees</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Certificates</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Admissions</a:t>
            </a:r>
            <a:endParaRPr lang="en-US" sz="1300" dirty="0"/>
          </a:p>
        </p:txBody>
      </p:sp>
      <p:sp>
        <p:nvSpPr>
          <p:cNvPr id="9" name="Shape 6"/>
          <p:cNvSpPr/>
          <p:nvPr/>
        </p:nvSpPr>
        <p:spPr>
          <a:xfrm>
            <a:off x="822960" y="3858768"/>
            <a:ext cx="2057400" cy="329184"/>
          </a:xfrm>
          <a:prstGeom prst="roundRect">
            <a:avLst>
              <a:gd name="adj" fmla="val 27778"/>
            </a:avLst>
          </a:prstGeom>
          <a:solidFill>
            <a:srgbClr val="F3F4F9"/>
          </a:solidFill>
          <a:ln/>
        </p:spPr>
      </p:sp>
      <p:sp>
        <p:nvSpPr>
          <p:cNvPr id="10" name="Text 7"/>
          <p:cNvSpPr txBox="1"/>
          <p:nvPr/>
        </p:nvSpPr>
        <p:spPr>
          <a:xfrm>
            <a:off x="822960" y="3858768"/>
            <a:ext cx="2057400" cy="329184"/>
          </a:xfrm>
          <a:prstGeom prst="rect">
            <a:avLst/>
          </a:prstGeom>
          <a:noFill/>
          <a:ln/>
        </p:spPr>
        <p:txBody>
          <a:bodyPr wrap="square" lIns="0" tIns="0" rIns="0" bIns="0" rtlCol="0" anchor="ctr"/>
          <a:lstStyle/>
          <a:p>
            <a:pPr algn="ctr" indent="0" marL="0">
              <a:buNone/>
            </a:pPr>
            <a:r>
              <a:rPr lang="en-US" sz="1050" b="1" dirty="0">
                <a:solidFill>
                  <a:srgbClr val="5B6478"/>
                </a:solidFill>
                <a:latin typeface="Calibri" pitchFamily="34" charset="0"/>
                <a:ea typeface="Calibri" pitchFamily="34" charset="-122"/>
                <a:cs typeface="Calibri" pitchFamily="34" charset="-120"/>
              </a:rPr>
              <a:t>“Any Open Counter” option</a:t>
            </a:r>
            <a:endParaRPr lang="en-US" sz="1050" dirty="0"/>
          </a:p>
        </p:txBody>
      </p:sp>
      <p:sp>
        <p:nvSpPr>
          <p:cNvPr id="11" name="Shape 8"/>
          <p:cNvSpPr/>
          <p:nvPr/>
        </p:nvSpPr>
        <p:spPr>
          <a:xfrm>
            <a:off x="3376879" y="1463040"/>
            <a:ext cx="2606040" cy="2926080"/>
          </a:xfrm>
          <a:prstGeom prst="roundRect">
            <a:avLst>
              <a:gd name="adj" fmla="val 6316"/>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12" name="Shape 9"/>
          <p:cNvSpPr/>
          <p:nvPr/>
        </p:nvSpPr>
        <p:spPr>
          <a:xfrm>
            <a:off x="3651199" y="1737360"/>
            <a:ext cx="548640" cy="548640"/>
          </a:xfrm>
          <a:prstGeom prst="roundRect">
            <a:avLst>
              <a:gd name="adj" fmla="val 28000"/>
            </a:avLst>
          </a:prstGeom>
          <a:solidFill>
            <a:srgbClr val="6D28D9"/>
          </a:solidFill>
          <a:ln/>
        </p:spPr>
      </p:sp>
      <p:pic>
        <p:nvPicPr>
          <p:cNvPr id="13" name="Image 1" descr="preencoded.png">    </p:cNvPr>
          <p:cNvPicPr>
            <a:picLocks noChangeAspect="1"/>
          </p:cNvPicPr>
          <p:nvPr/>
        </p:nvPicPr>
        <p:blipFill>
          <a:blip r:embed="rId2"/>
          <a:stretch>
            <a:fillRect/>
          </a:stretch>
        </p:blipFill>
        <p:spPr>
          <a:xfrm>
            <a:off x="3771900" y="1858061"/>
            <a:ext cx="307238" cy="307238"/>
          </a:xfrm>
          <a:prstGeom prst="rect">
            <a:avLst/>
          </a:prstGeom>
        </p:spPr>
      </p:pic>
      <p:sp>
        <p:nvSpPr>
          <p:cNvPr id="14" name="Text 10"/>
          <p:cNvSpPr txBox="1"/>
          <p:nvPr/>
        </p:nvSpPr>
        <p:spPr>
          <a:xfrm>
            <a:off x="3651199" y="2423160"/>
            <a:ext cx="21488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Calibri" pitchFamily="34" charset="0"/>
                <a:ea typeface="Calibri" pitchFamily="34" charset="-122"/>
                <a:cs typeface="Calibri" pitchFamily="34" charset="-120"/>
              </a:rPr>
              <a:t>Printing</a:t>
            </a:r>
            <a:endParaRPr lang="en-US" sz="1800" dirty="0"/>
          </a:p>
        </p:txBody>
      </p:sp>
      <p:sp>
        <p:nvSpPr>
          <p:cNvPr id="15" name="Text 11"/>
          <p:cNvSpPr txBox="1"/>
          <p:nvPr/>
        </p:nvSpPr>
        <p:spPr>
          <a:xfrm>
            <a:off x="3651199" y="2834640"/>
            <a:ext cx="214884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Xerox</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Colour Printing</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Report/Bulk Printing</a:t>
            </a:r>
            <a:endParaRPr lang="en-US" sz="1300" dirty="0"/>
          </a:p>
        </p:txBody>
      </p:sp>
      <p:sp>
        <p:nvSpPr>
          <p:cNvPr id="16" name="Shape 12"/>
          <p:cNvSpPr/>
          <p:nvPr/>
        </p:nvSpPr>
        <p:spPr>
          <a:xfrm>
            <a:off x="3651199" y="3858768"/>
            <a:ext cx="2057400" cy="329184"/>
          </a:xfrm>
          <a:prstGeom prst="roundRect">
            <a:avLst>
              <a:gd name="adj" fmla="val 27778"/>
            </a:avLst>
          </a:prstGeom>
          <a:solidFill>
            <a:srgbClr val="F3F4F9"/>
          </a:solidFill>
          <a:ln/>
        </p:spPr>
      </p:sp>
      <p:sp>
        <p:nvSpPr>
          <p:cNvPr id="17" name="Text 13"/>
          <p:cNvSpPr txBox="1"/>
          <p:nvPr/>
        </p:nvSpPr>
        <p:spPr>
          <a:xfrm>
            <a:off x="3651199" y="3858768"/>
            <a:ext cx="2057400" cy="329184"/>
          </a:xfrm>
          <a:prstGeom prst="rect">
            <a:avLst/>
          </a:prstGeom>
          <a:noFill/>
          <a:ln/>
        </p:spPr>
        <p:txBody>
          <a:bodyPr wrap="square" lIns="0" tIns="0" rIns="0" bIns="0" rtlCol="0" anchor="ctr"/>
          <a:lstStyle/>
          <a:p>
            <a:pPr algn="ctr" indent="0" marL="0">
              <a:buNone/>
            </a:pPr>
            <a:r>
              <a:rPr lang="en-US" sz="1050" b="1" dirty="0">
                <a:solidFill>
                  <a:srgbClr val="5B6478"/>
                </a:solidFill>
                <a:latin typeface="Calibri" pitchFamily="34" charset="0"/>
                <a:ea typeface="Calibri" pitchFamily="34" charset="-122"/>
                <a:cs typeface="Calibri" pitchFamily="34" charset="-120"/>
              </a:rPr>
              <a:t>Main demo service</a:t>
            </a:r>
            <a:endParaRPr lang="en-US" sz="1050" dirty="0"/>
          </a:p>
        </p:txBody>
      </p:sp>
      <p:sp>
        <p:nvSpPr>
          <p:cNvPr id="18" name="Shape 14"/>
          <p:cNvSpPr/>
          <p:nvPr/>
        </p:nvSpPr>
        <p:spPr>
          <a:xfrm>
            <a:off x="6205118" y="1463040"/>
            <a:ext cx="2606040" cy="2926080"/>
          </a:xfrm>
          <a:prstGeom prst="roundRect">
            <a:avLst>
              <a:gd name="adj" fmla="val 6316"/>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19" name="Shape 15"/>
          <p:cNvSpPr/>
          <p:nvPr/>
        </p:nvSpPr>
        <p:spPr>
          <a:xfrm>
            <a:off x="6479438" y="1737360"/>
            <a:ext cx="548640" cy="548640"/>
          </a:xfrm>
          <a:prstGeom prst="roundRect">
            <a:avLst>
              <a:gd name="adj" fmla="val 28000"/>
            </a:avLst>
          </a:prstGeom>
          <a:solidFill>
            <a:srgbClr val="EDE9FE"/>
          </a:solidFill>
          <a:ln/>
        </p:spPr>
      </p:sp>
      <p:pic>
        <p:nvPicPr>
          <p:cNvPr id="20" name="Image 2" descr="preencoded.png">    </p:cNvPr>
          <p:cNvPicPr>
            <a:picLocks noChangeAspect="1"/>
          </p:cNvPicPr>
          <p:nvPr/>
        </p:nvPicPr>
        <p:blipFill>
          <a:blip r:embed="rId3"/>
          <a:stretch>
            <a:fillRect/>
          </a:stretch>
        </p:blipFill>
        <p:spPr>
          <a:xfrm>
            <a:off x="6600139" y="1858061"/>
            <a:ext cx="307238" cy="307238"/>
          </a:xfrm>
          <a:prstGeom prst="rect">
            <a:avLst/>
          </a:prstGeom>
        </p:spPr>
      </p:pic>
      <p:sp>
        <p:nvSpPr>
          <p:cNvPr id="21" name="Text 16"/>
          <p:cNvSpPr txBox="1"/>
          <p:nvPr/>
        </p:nvSpPr>
        <p:spPr>
          <a:xfrm>
            <a:off x="6479438" y="2423160"/>
            <a:ext cx="21488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Calibri" pitchFamily="34" charset="0"/>
                <a:ea typeface="Calibri" pitchFamily="34" charset="-122"/>
                <a:cs typeface="Calibri" pitchFamily="34" charset="-120"/>
              </a:rPr>
              <a:t>Cafeteria</a:t>
            </a:r>
            <a:endParaRPr lang="en-US" sz="1800" dirty="0"/>
          </a:p>
        </p:txBody>
      </p:sp>
      <p:sp>
        <p:nvSpPr>
          <p:cNvPr id="22" name="Text 17"/>
          <p:cNvSpPr txBox="1"/>
          <p:nvPr/>
        </p:nvSpPr>
        <p:spPr>
          <a:xfrm>
            <a:off x="6479438" y="2834640"/>
            <a:ext cx="214884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Reserve my place</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Place-in-line management</a:t>
            </a:r>
            <a:endParaRPr lang="en-US" sz="1300" dirty="0"/>
          </a:p>
        </p:txBody>
      </p:sp>
      <p:sp>
        <p:nvSpPr>
          <p:cNvPr id="23" name="Shape 18"/>
          <p:cNvSpPr/>
          <p:nvPr/>
        </p:nvSpPr>
        <p:spPr>
          <a:xfrm>
            <a:off x="6479438" y="3858768"/>
            <a:ext cx="2057400" cy="329184"/>
          </a:xfrm>
          <a:prstGeom prst="roundRect">
            <a:avLst>
              <a:gd name="adj" fmla="val 27778"/>
            </a:avLst>
          </a:prstGeom>
          <a:solidFill>
            <a:srgbClr val="EEF1F5"/>
          </a:solidFill>
          <a:ln/>
        </p:spPr>
      </p:sp>
      <p:sp>
        <p:nvSpPr>
          <p:cNvPr id="24" name="Text 19"/>
          <p:cNvSpPr txBox="1"/>
          <p:nvPr/>
        </p:nvSpPr>
        <p:spPr>
          <a:xfrm>
            <a:off x="6479438" y="3858768"/>
            <a:ext cx="2057400" cy="329184"/>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Queue only — no food ordering</a:t>
            </a:r>
            <a:endParaRPr lang="en-US" sz="1050" dirty="0"/>
          </a:p>
        </p:txBody>
      </p:sp>
      <p:sp>
        <p:nvSpPr>
          <p:cNvPr id="25" name="Shape 20"/>
          <p:cNvSpPr/>
          <p:nvPr/>
        </p:nvSpPr>
        <p:spPr>
          <a:xfrm>
            <a:off x="9033358" y="1463040"/>
            <a:ext cx="2606040" cy="2926080"/>
          </a:xfrm>
          <a:prstGeom prst="roundRect">
            <a:avLst>
              <a:gd name="adj" fmla="val 6316"/>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26" name="Shape 21"/>
          <p:cNvSpPr/>
          <p:nvPr/>
        </p:nvSpPr>
        <p:spPr>
          <a:xfrm>
            <a:off x="9307678" y="1737360"/>
            <a:ext cx="548640" cy="548640"/>
          </a:xfrm>
          <a:prstGeom prst="roundRect">
            <a:avLst>
              <a:gd name="adj" fmla="val 28000"/>
            </a:avLst>
          </a:prstGeom>
          <a:solidFill>
            <a:srgbClr val="EDE9FE"/>
          </a:solidFill>
          <a:ln/>
        </p:spPr>
      </p:sp>
      <p:pic>
        <p:nvPicPr>
          <p:cNvPr id="27" name="Image 3" descr="preencoded.png">    </p:cNvPr>
          <p:cNvPicPr>
            <a:picLocks noChangeAspect="1"/>
          </p:cNvPicPr>
          <p:nvPr/>
        </p:nvPicPr>
        <p:blipFill>
          <a:blip r:embed="rId4"/>
          <a:stretch>
            <a:fillRect/>
          </a:stretch>
        </p:blipFill>
        <p:spPr>
          <a:xfrm>
            <a:off x="9428378" y="1858061"/>
            <a:ext cx="307238" cy="307238"/>
          </a:xfrm>
          <a:prstGeom prst="rect">
            <a:avLst/>
          </a:prstGeom>
        </p:spPr>
      </p:pic>
      <p:sp>
        <p:nvSpPr>
          <p:cNvPr id="28" name="Text 22"/>
          <p:cNvSpPr txBox="1"/>
          <p:nvPr/>
        </p:nvSpPr>
        <p:spPr>
          <a:xfrm>
            <a:off x="9307678" y="2423160"/>
            <a:ext cx="2148840" cy="365760"/>
          </a:xfrm>
          <a:prstGeom prst="rect">
            <a:avLst/>
          </a:prstGeom>
          <a:noFill/>
          <a:ln/>
        </p:spPr>
        <p:txBody>
          <a:bodyPr wrap="square" lIns="0" tIns="0" rIns="0" bIns="0" rtlCol="0" anchor="t"/>
          <a:lstStyle/>
          <a:p>
            <a:pPr algn="l" indent="0" marL="0">
              <a:buNone/>
            </a:pPr>
            <a:r>
              <a:rPr lang="en-US" sz="1800" b="1" dirty="0">
                <a:solidFill>
                  <a:srgbClr val="0F172A"/>
                </a:solidFill>
                <a:latin typeface="Calibri" pitchFamily="34" charset="0"/>
                <a:ea typeface="Calibri" pitchFamily="34" charset="-122"/>
                <a:cs typeface="Calibri" pitchFamily="34" charset="-120"/>
              </a:rPr>
              <a:t>Elevator / Lift</a:t>
            </a:r>
            <a:endParaRPr lang="en-US" sz="1800" dirty="0"/>
          </a:p>
        </p:txBody>
      </p:sp>
      <p:sp>
        <p:nvSpPr>
          <p:cNvPr id="29" name="Text 23"/>
          <p:cNvSpPr txBox="1"/>
          <p:nvPr/>
        </p:nvSpPr>
        <p:spPr>
          <a:xfrm>
            <a:off x="9307678" y="2834640"/>
            <a:ext cx="2148840" cy="96012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Virtual boarding queue</a:t>
            </a:r>
            <a:endParaRPr lang="en-US" sz="1300" dirty="0"/>
          </a:p>
          <a:p>
            <a:pPr marL="177800" indent="-177800">
              <a:spcAft>
                <a:spcPts val="300"/>
              </a:spcAft>
              <a:buSzPct val="100000"/>
              <a:buChar char="•"/>
            </a:pPr>
            <a:r>
              <a:rPr lang="en-US" sz="1300" dirty="0">
                <a:solidFill>
                  <a:srgbClr val="334155"/>
                </a:solidFill>
                <a:latin typeface="Calibri" pitchFamily="34" charset="0"/>
                <a:ea typeface="Calibri" pitchFamily="34" charset="-122"/>
                <a:cs typeface="Calibri" pitchFamily="34" charset="-120"/>
              </a:rPr>
              <a:t>Traffic estimation</a:t>
            </a:r>
            <a:endParaRPr lang="en-US" sz="1300" dirty="0"/>
          </a:p>
        </p:txBody>
      </p:sp>
      <p:sp>
        <p:nvSpPr>
          <p:cNvPr id="30" name="Shape 24"/>
          <p:cNvSpPr/>
          <p:nvPr/>
        </p:nvSpPr>
        <p:spPr>
          <a:xfrm>
            <a:off x="9307678" y="3858768"/>
            <a:ext cx="2057400" cy="329184"/>
          </a:xfrm>
          <a:prstGeom prst="roundRect">
            <a:avLst>
              <a:gd name="adj" fmla="val 27778"/>
            </a:avLst>
          </a:prstGeom>
          <a:solidFill>
            <a:srgbClr val="EEF1F5"/>
          </a:solidFill>
          <a:ln/>
        </p:spPr>
      </p:sp>
      <p:sp>
        <p:nvSpPr>
          <p:cNvPr id="31" name="Text 25"/>
          <p:cNvSpPr txBox="1"/>
          <p:nvPr/>
        </p:nvSpPr>
        <p:spPr>
          <a:xfrm>
            <a:off x="9307678" y="3858768"/>
            <a:ext cx="2057400" cy="329184"/>
          </a:xfrm>
          <a:prstGeom prst="rect">
            <a:avLst/>
          </a:prstGeom>
          <a:noFill/>
          <a:ln/>
        </p:spPr>
        <p:txBody>
          <a:bodyPr wrap="square" lIns="0" tIns="0" rIns="0" bIns="0" rtlCol="0" anchor="ctr"/>
          <a:lstStyle/>
          <a:p>
            <a:pPr algn="ctr" indent="0" marL="0">
              <a:buNone/>
            </a:pPr>
            <a:r>
              <a:rPr lang="en-US" sz="1050" b="1" dirty="0">
                <a:solidFill>
                  <a:srgbClr val="334155"/>
                </a:solidFill>
                <a:latin typeface="Calibri" pitchFamily="34" charset="0"/>
                <a:ea typeface="Calibri" pitchFamily="34" charset="-122"/>
                <a:cs typeface="Calibri" pitchFamily="34" charset="-120"/>
              </a:rPr>
              <a:t>No physical elevator control</a:t>
            </a:r>
            <a:endParaRPr lang="en-US" sz="1050" dirty="0"/>
          </a:p>
        </p:txBody>
      </p:sp>
      <p:sp>
        <p:nvSpPr>
          <p:cNvPr id="32" name="Text 26"/>
          <p:cNvSpPr txBox="1"/>
          <p:nvPr/>
        </p:nvSpPr>
        <p:spPr>
          <a:xfrm>
            <a:off x="548640" y="4645152"/>
            <a:ext cx="4572000" cy="228600"/>
          </a:xfrm>
          <a:prstGeom prst="rect">
            <a:avLst/>
          </a:prstGeom>
          <a:noFill/>
          <a:ln/>
        </p:spPr>
        <p:txBody>
          <a:bodyPr wrap="square" lIns="0" tIns="0" rIns="0" bIns="0" rtlCol="0" anchor="t"/>
          <a:lstStyle/>
          <a:p>
            <a:pPr algn="l" indent="0" marL="0">
              <a:buNone/>
            </a:pPr>
            <a:r>
              <a:rPr lang="en-US" sz="1000" b="1" spc="200" kern="0" dirty="0">
                <a:solidFill>
                  <a:srgbClr val="5B6478"/>
                </a:solidFill>
                <a:latin typeface="Calibri" pitchFamily="34" charset="0"/>
                <a:ea typeface="Calibri" pitchFamily="34" charset="-122"/>
                <a:cs typeface="Calibri" pitchFamily="34" charset="-120"/>
              </a:rPr>
              <a:t>HOW EVERY SERVICE IS MODELLED</a:t>
            </a:r>
            <a:endParaRPr lang="en-US" sz="1000" dirty="0"/>
          </a:p>
        </p:txBody>
      </p:sp>
      <p:sp>
        <p:nvSpPr>
          <p:cNvPr id="33" name="Shape 27"/>
          <p:cNvSpPr/>
          <p:nvPr/>
        </p:nvSpPr>
        <p:spPr>
          <a:xfrm>
            <a:off x="548640" y="4956048"/>
            <a:ext cx="2468880" cy="822960"/>
          </a:xfrm>
          <a:prstGeom prst="roundRect">
            <a:avLst>
              <a:gd name="adj" fmla="val 15556"/>
            </a:avLst>
          </a:prstGeom>
          <a:solidFill>
            <a:srgbClr val="0B1026"/>
          </a:solidFill>
          <a:ln/>
        </p:spPr>
      </p:sp>
      <p:sp>
        <p:nvSpPr>
          <p:cNvPr id="34" name="Text 28"/>
          <p:cNvSpPr txBox="1"/>
          <p:nvPr/>
        </p:nvSpPr>
        <p:spPr>
          <a:xfrm>
            <a:off x="749808" y="5074920"/>
            <a:ext cx="2194560" cy="228600"/>
          </a:xfrm>
          <a:prstGeom prst="rect">
            <a:avLst/>
          </a:prstGeom>
          <a:noFill/>
          <a:ln/>
        </p:spPr>
        <p:txBody>
          <a:bodyPr wrap="square" lIns="0" tIns="0" rIns="0" bIns="0" rtlCol="0" anchor="t"/>
          <a:lstStyle/>
          <a:p>
            <a:pPr algn="l" indent="0" marL="0">
              <a:buNone/>
            </a:pPr>
            <a:r>
              <a:rPr lang="en-US" sz="1000" b="1" spc="200" kern="0" dirty="0">
                <a:solidFill>
                  <a:srgbClr val="A78BFA"/>
                </a:solidFill>
                <a:latin typeface="Calibri" pitchFamily="34" charset="0"/>
                <a:ea typeface="Calibri" pitchFamily="34" charset="-122"/>
                <a:cs typeface="Calibri" pitchFamily="34" charset="-120"/>
              </a:rPr>
              <a:t>SERVICE</a:t>
            </a:r>
            <a:endParaRPr lang="en-US" sz="1000" dirty="0"/>
          </a:p>
        </p:txBody>
      </p:sp>
      <p:sp>
        <p:nvSpPr>
          <p:cNvPr id="35" name="Text 29"/>
          <p:cNvSpPr txBox="1"/>
          <p:nvPr/>
        </p:nvSpPr>
        <p:spPr>
          <a:xfrm>
            <a:off x="749808" y="5321808"/>
            <a:ext cx="2194560" cy="347472"/>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Printing</a:t>
            </a:r>
            <a:endParaRPr lang="en-US" sz="1500" dirty="0"/>
          </a:p>
        </p:txBody>
      </p:sp>
      <p:sp>
        <p:nvSpPr>
          <p:cNvPr id="36" name="Shape 30"/>
          <p:cNvSpPr/>
          <p:nvPr/>
        </p:nvSpPr>
        <p:spPr>
          <a:xfrm>
            <a:off x="3081528" y="5367528"/>
            <a:ext cx="277063" cy="0"/>
          </a:xfrm>
          <a:prstGeom prst="line">
            <a:avLst/>
          </a:prstGeom>
          <a:noFill/>
          <a:ln w="19050">
            <a:solidFill>
              <a:srgbClr val="8A93A8"/>
            </a:solidFill>
            <a:prstDash val="solid"/>
            <a:tailEnd type="triangle"/>
          </a:ln>
        </p:spPr>
      </p:sp>
      <p:sp>
        <p:nvSpPr>
          <p:cNvPr id="37" name="Shape 31"/>
          <p:cNvSpPr/>
          <p:nvPr/>
        </p:nvSpPr>
        <p:spPr>
          <a:xfrm>
            <a:off x="3422599" y="4956048"/>
            <a:ext cx="2468880" cy="822960"/>
          </a:xfrm>
          <a:prstGeom prst="roundRect">
            <a:avLst>
              <a:gd name="adj" fmla="val 15556"/>
            </a:avLst>
          </a:prstGeom>
          <a:solidFill>
            <a:srgbClr val="0B1026"/>
          </a:solidFill>
          <a:ln/>
        </p:spPr>
      </p:sp>
      <p:sp>
        <p:nvSpPr>
          <p:cNvPr id="38" name="Text 32"/>
          <p:cNvSpPr txBox="1"/>
          <p:nvPr/>
        </p:nvSpPr>
        <p:spPr>
          <a:xfrm>
            <a:off x="3623767" y="5074920"/>
            <a:ext cx="2194560" cy="228600"/>
          </a:xfrm>
          <a:prstGeom prst="rect">
            <a:avLst/>
          </a:prstGeom>
          <a:noFill/>
          <a:ln/>
        </p:spPr>
        <p:txBody>
          <a:bodyPr wrap="square" lIns="0" tIns="0" rIns="0" bIns="0" rtlCol="0" anchor="t"/>
          <a:lstStyle/>
          <a:p>
            <a:pPr algn="l" indent="0" marL="0">
              <a:buNone/>
            </a:pPr>
            <a:r>
              <a:rPr lang="en-US" sz="1000" b="1" spc="200" kern="0" dirty="0">
                <a:solidFill>
                  <a:srgbClr val="A78BFA"/>
                </a:solidFill>
                <a:latin typeface="Calibri" pitchFamily="34" charset="0"/>
                <a:ea typeface="Calibri" pitchFamily="34" charset="-122"/>
                <a:cs typeface="Calibri" pitchFamily="34" charset="-120"/>
              </a:rPr>
              <a:t>QUEUE GROUP</a:t>
            </a:r>
            <a:endParaRPr lang="en-US" sz="1000" dirty="0"/>
          </a:p>
        </p:txBody>
      </p:sp>
      <p:sp>
        <p:nvSpPr>
          <p:cNvPr id="39" name="Text 33"/>
          <p:cNvSpPr txBox="1"/>
          <p:nvPr/>
        </p:nvSpPr>
        <p:spPr>
          <a:xfrm>
            <a:off x="3623767" y="5321808"/>
            <a:ext cx="2194560" cy="347472"/>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Report/Bulk Printing</a:t>
            </a:r>
            <a:endParaRPr lang="en-US" sz="1500" dirty="0"/>
          </a:p>
        </p:txBody>
      </p:sp>
      <p:sp>
        <p:nvSpPr>
          <p:cNvPr id="40" name="Shape 34"/>
          <p:cNvSpPr/>
          <p:nvPr/>
        </p:nvSpPr>
        <p:spPr>
          <a:xfrm>
            <a:off x="5955487" y="5367528"/>
            <a:ext cx="277063" cy="0"/>
          </a:xfrm>
          <a:prstGeom prst="line">
            <a:avLst/>
          </a:prstGeom>
          <a:noFill/>
          <a:ln w="19050">
            <a:solidFill>
              <a:srgbClr val="8A93A8"/>
            </a:solidFill>
            <a:prstDash val="solid"/>
            <a:tailEnd type="triangle"/>
          </a:ln>
        </p:spPr>
      </p:sp>
      <p:sp>
        <p:nvSpPr>
          <p:cNvPr id="41" name="Shape 35"/>
          <p:cNvSpPr/>
          <p:nvPr/>
        </p:nvSpPr>
        <p:spPr>
          <a:xfrm>
            <a:off x="6296558" y="4956048"/>
            <a:ext cx="2468880" cy="822960"/>
          </a:xfrm>
          <a:prstGeom prst="roundRect">
            <a:avLst>
              <a:gd name="adj" fmla="val 15556"/>
            </a:avLst>
          </a:prstGeom>
          <a:solidFill>
            <a:srgbClr val="0B1026"/>
          </a:solidFill>
          <a:ln/>
        </p:spPr>
      </p:sp>
      <p:sp>
        <p:nvSpPr>
          <p:cNvPr id="42" name="Text 36"/>
          <p:cNvSpPr txBox="1"/>
          <p:nvPr/>
        </p:nvSpPr>
        <p:spPr>
          <a:xfrm>
            <a:off x="6497726" y="5074920"/>
            <a:ext cx="2194560" cy="228600"/>
          </a:xfrm>
          <a:prstGeom prst="rect">
            <a:avLst/>
          </a:prstGeom>
          <a:noFill/>
          <a:ln/>
        </p:spPr>
        <p:txBody>
          <a:bodyPr wrap="square" lIns="0" tIns="0" rIns="0" bIns="0" rtlCol="0" anchor="t"/>
          <a:lstStyle/>
          <a:p>
            <a:pPr algn="l" indent="0" marL="0">
              <a:buNone/>
            </a:pPr>
            <a:r>
              <a:rPr lang="en-US" sz="1000" b="1" spc="200" kern="0" dirty="0">
                <a:solidFill>
                  <a:srgbClr val="A78BFA"/>
                </a:solidFill>
                <a:latin typeface="Calibri" pitchFamily="34" charset="0"/>
                <a:ea typeface="Calibri" pitchFamily="34" charset="-122"/>
                <a:cs typeface="Calibri" pitchFamily="34" charset="-120"/>
              </a:rPr>
              <a:t>COUNTER</a:t>
            </a:r>
            <a:endParaRPr lang="en-US" sz="1000" dirty="0"/>
          </a:p>
        </p:txBody>
      </p:sp>
      <p:sp>
        <p:nvSpPr>
          <p:cNvPr id="43" name="Text 37"/>
          <p:cNvSpPr txBox="1"/>
          <p:nvPr/>
        </p:nvSpPr>
        <p:spPr>
          <a:xfrm>
            <a:off x="6497726" y="5321808"/>
            <a:ext cx="2194560" cy="347472"/>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Report Counter A</a:t>
            </a:r>
            <a:endParaRPr lang="en-US" sz="1500" dirty="0"/>
          </a:p>
        </p:txBody>
      </p:sp>
      <p:sp>
        <p:nvSpPr>
          <p:cNvPr id="44" name="Shape 38"/>
          <p:cNvSpPr/>
          <p:nvPr/>
        </p:nvSpPr>
        <p:spPr>
          <a:xfrm>
            <a:off x="8829446" y="5367528"/>
            <a:ext cx="277063" cy="0"/>
          </a:xfrm>
          <a:prstGeom prst="line">
            <a:avLst/>
          </a:prstGeom>
          <a:noFill/>
          <a:ln w="19050">
            <a:solidFill>
              <a:srgbClr val="8A93A8"/>
            </a:solidFill>
            <a:prstDash val="solid"/>
            <a:tailEnd type="triangle"/>
          </a:ln>
        </p:spPr>
      </p:sp>
      <p:sp>
        <p:nvSpPr>
          <p:cNvPr id="45" name="Shape 39"/>
          <p:cNvSpPr/>
          <p:nvPr/>
        </p:nvSpPr>
        <p:spPr>
          <a:xfrm>
            <a:off x="9170518" y="4956048"/>
            <a:ext cx="2468880" cy="822960"/>
          </a:xfrm>
          <a:prstGeom prst="roundRect">
            <a:avLst>
              <a:gd name="adj" fmla="val 15556"/>
            </a:avLst>
          </a:prstGeom>
          <a:solidFill>
            <a:srgbClr val="6D28D9"/>
          </a:solidFill>
          <a:ln/>
        </p:spPr>
      </p:sp>
      <p:sp>
        <p:nvSpPr>
          <p:cNvPr id="46" name="Text 40"/>
          <p:cNvSpPr txBox="1"/>
          <p:nvPr/>
        </p:nvSpPr>
        <p:spPr>
          <a:xfrm>
            <a:off x="9371686" y="5074920"/>
            <a:ext cx="2194560" cy="228600"/>
          </a:xfrm>
          <a:prstGeom prst="rect">
            <a:avLst/>
          </a:prstGeom>
          <a:noFill/>
          <a:ln/>
        </p:spPr>
        <p:txBody>
          <a:bodyPr wrap="square" lIns="0" tIns="0" rIns="0" bIns="0" rtlCol="0" anchor="t"/>
          <a:lstStyle/>
          <a:p>
            <a:pPr algn="l" indent="0" marL="0">
              <a:buNone/>
            </a:pPr>
            <a:r>
              <a:rPr lang="en-US" sz="1000" b="1" spc="200" kern="0" dirty="0">
                <a:solidFill>
                  <a:srgbClr val="DDD6FE"/>
                </a:solidFill>
                <a:latin typeface="Calibri" pitchFamily="34" charset="0"/>
                <a:ea typeface="Calibri" pitchFamily="34" charset="-122"/>
                <a:cs typeface="Calibri" pitchFamily="34" charset="-120"/>
              </a:rPr>
              <a:t>QUEUE ENTRIES</a:t>
            </a:r>
            <a:endParaRPr lang="en-US" sz="1000" dirty="0"/>
          </a:p>
        </p:txBody>
      </p:sp>
      <p:sp>
        <p:nvSpPr>
          <p:cNvPr id="47" name="Text 41"/>
          <p:cNvSpPr txBox="1"/>
          <p:nvPr/>
        </p:nvSpPr>
        <p:spPr>
          <a:xfrm>
            <a:off x="9371686" y="5321808"/>
            <a:ext cx="2194560" cy="347472"/>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RA001 · RA002 · RA003</a:t>
            </a:r>
            <a:endParaRPr lang="en-US" sz="1500" dirty="0"/>
          </a:p>
        </p:txBody>
      </p:sp>
      <p:sp>
        <p:nvSpPr>
          <p:cNvPr id="48" name="Text 42"/>
          <p:cNvSpPr txBox="1"/>
          <p:nvPr/>
        </p:nvSpPr>
        <p:spPr>
          <a:xfrm>
            <a:off x="548640" y="5943600"/>
            <a:ext cx="11064240" cy="274320"/>
          </a:xfrm>
          <a:prstGeom prst="rect">
            <a:avLst/>
          </a:prstGeom>
          <a:noFill/>
          <a:ln/>
        </p:spPr>
        <p:txBody>
          <a:bodyPr wrap="square" lIns="0" tIns="0" rIns="0" bIns="0" rtlCol="0" anchor="t"/>
          <a:lstStyle/>
          <a:p>
            <a:pPr algn="l" indent="0" marL="0">
              <a:buNone/>
            </a:pPr>
            <a:r>
              <a:rPr lang="en-US" sz="1150" i="1" dirty="0">
                <a:solidFill>
                  <a:srgbClr val="5B6478"/>
                </a:solidFill>
                <a:latin typeface="Calibri" pitchFamily="34" charset="0"/>
                <a:ea typeface="Calibri" pitchFamily="34" charset="-122"/>
                <a:cs typeface="Calibri" pitchFamily="34" charset="-120"/>
              </a:rPr>
              <a:t>QueueSense manages digital queueing; it does not order food or physically control elevators.</a:t>
            </a:r>
            <a:endParaRPr lang="en-US" sz="1150" dirty="0"/>
          </a:p>
        </p:txBody>
      </p:sp>
      <p:sp>
        <p:nvSpPr>
          <p:cNvPr id="49" name="Text 43"/>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50" name="Text 44"/>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04  ·  TECHNOLOGY STACK</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Technology Stack</a:t>
            </a:r>
            <a:endParaRPr lang="en-US" sz="3000" dirty="0"/>
          </a:p>
        </p:txBody>
      </p:sp>
      <p:sp>
        <p:nvSpPr>
          <p:cNvPr id="4" name="Shape 2"/>
          <p:cNvSpPr/>
          <p:nvPr/>
        </p:nvSpPr>
        <p:spPr>
          <a:xfrm>
            <a:off x="548640" y="1463040"/>
            <a:ext cx="3566160" cy="2331720"/>
          </a:xfrm>
          <a:prstGeom prst="roundRect">
            <a:avLst>
              <a:gd name="adj" fmla="val 7059"/>
            </a:avLst>
          </a:prstGeom>
          <a:solidFill>
            <a:srgbClr val="F3F4F9"/>
          </a:solidFill>
          <a:ln/>
        </p:spPr>
      </p:sp>
      <p:sp>
        <p:nvSpPr>
          <p:cNvPr id="5" name="Shape 3"/>
          <p:cNvSpPr/>
          <p:nvPr/>
        </p:nvSpPr>
        <p:spPr>
          <a:xfrm>
            <a:off x="777240" y="1691640"/>
            <a:ext cx="502920" cy="502920"/>
          </a:xfrm>
          <a:prstGeom prst="roundRect">
            <a:avLst>
              <a:gd name="adj" fmla="val 28000"/>
            </a:avLst>
          </a:prstGeom>
          <a:solidFill>
            <a:srgbClr val="6D28D9"/>
          </a:solidFill>
          <a:ln/>
        </p:spPr>
      </p:sp>
      <p:pic>
        <p:nvPicPr>
          <p:cNvPr id="6" name="Image 0" descr="preencoded.png">    </p:cNvPr>
          <p:cNvPicPr>
            <a:picLocks noChangeAspect="1"/>
          </p:cNvPicPr>
          <p:nvPr/>
        </p:nvPicPr>
        <p:blipFill>
          <a:blip r:embed="rId1"/>
          <a:stretch>
            <a:fillRect/>
          </a:stretch>
        </p:blipFill>
        <p:spPr>
          <a:xfrm>
            <a:off x="887882" y="1802282"/>
            <a:ext cx="281635" cy="281635"/>
          </a:xfrm>
          <a:prstGeom prst="rect">
            <a:avLst/>
          </a:prstGeom>
        </p:spPr>
      </p:pic>
      <p:sp>
        <p:nvSpPr>
          <p:cNvPr id="7" name="Text 4"/>
          <p:cNvSpPr txBox="1"/>
          <p:nvPr/>
        </p:nvSpPr>
        <p:spPr>
          <a:xfrm>
            <a:off x="1417320" y="168249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Frontend</a:t>
            </a:r>
            <a:endParaRPr lang="en-US" sz="1700" dirty="0"/>
          </a:p>
        </p:txBody>
      </p:sp>
      <p:sp>
        <p:nvSpPr>
          <p:cNvPr id="8" name="Text 5"/>
          <p:cNvSpPr txBox="1"/>
          <p:nvPr/>
        </p:nvSpPr>
        <p:spPr>
          <a:xfrm>
            <a:off x="1417320" y="196596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Typed, component-based UI</a:t>
            </a:r>
            <a:endParaRPr lang="en-US" sz="1100" dirty="0"/>
          </a:p>
        </p:txBody>
      </p:sp>
      <p:sp>
        <p:nvSpPr>
          <p:cNvPr id="9" name="Shape 6"/>
          <p:cNvSpPr/>
          <p:nvPr/>
        </p:nvSpPr>
        <p:spPr>
          <a:xfrm>
            <a:off x="777240" y="2331720"/>
            <a:ext cx="863194" cy="310896"/>
          </a:xfrm>
          <a:prstGeom prst="roundRect">
            <a:avLst>
              <a:gd name="adj" fmla="val 50000"/>
            </a:avLst>
          </a:prstGeom>
          <a:solidFill>
            <a:srgbClr val="FFFFFF"/>
          </a:solidFill>
          <a:ln w="12700">
            <a:solidFill>
              <a:srgbClr val="DDE1EC"/>
            </a:solidFill>
            <a:prstDash val="solid"/>
          </a:ln>
        </p:spPr>
      </p:sp>
      <p:sp>
        <p:nvSpPr>
          <p:cNvPr id="10" name="Text 7"/>
          <p:cNvSpPr txBox="1"/>
          <p:nvPr/>
        </p:nvSpPr>
        <p:spPr>
          <a:xfrm>
            <a:off x="832104" y="2331720"/>
            <a:ext cx="753466"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React 19</a:t>
            </a:r>
            <a:endParaRPr lang="en-US" sz="1150" dirty="0"/>
          </a:p>
        </p:txBody>
      </p:sp>
      <p:sp>
        <p:nvSpPr>
          <p:cNvPr id="11" name="Shape 8"/>
          <p:cNvSpPr/>
          <p:nvPr/>
        </p:nvSpPr>
        <p:spPr>
          <a:xfrm>
            <a:off x="1713586" y="2331720"/>
            <a:ext cx="1005840" cy="310896"/>
          </a:xfrm>
          <a:prstGeom prst="roundRect">
            <a:avLst>
              <a:gd name="adj" fmla="val 50000"/>
            </a:avLst>
          </a:prstGeom>
          <a:solidFill>
            <a:srgbClr val="FFFFFF"/>
          </a:solidFill>
          <a:ln w="12700">
            <a:solidFill>
              <a:srgbClr val="DDE1EC"/>
            </a:solidFill>
            <a:prstDash val="solid"/>
          </a:ln>
        </p:spPr>
      </p:sp>
      <p:sp>
        <p:nvSpPr>
          <p:cNvPr id="12" name="Text 9"/>
          <p:cNvSpPr txBox="1"/>
          <p:nvPr/>
        </p:nvSpPr>
        <p:spPr>
          <a:xfrm>
            <a:off x="1768450" y="2331720"/>
            <a:ext cx="89611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TypeScript</a:t>
            </a:r>
            <a:endParaRPr lang="en-US" sz="1150" dirty="0"/>
          </a:p>
        </p:txBody>
      </p:sp>
      <p:sp>
        <p:nvSpPr>
          <p:cNvPr id="13" name="Shape 10"/>
          <p:cNvSpPr/>
          <p:nvPr/>
        </p:nvSpPr>
        <p:spPr>
          <a:xfrm>
            <a:off x="2792578" y="2331720"/>
            <a:ext cx="720547" cy="310896"/>
          </a:xfrm>
          <a:prstGeom prst="roundRect">
            <a:avLst>
              <a:gd name="adj" fmla="val 50000"/>
            </a:avLst>
          </a:prstGeom>
          <a:solidFill>
            <a:srgbClr val="FFFFFF"/>
          </a:solidFill>
          <a:ln w="12700">
            <a:solidFill>
              <a:srgbClr val="DDE1EC"/>
            </a:solidFill>
            <a:prstDash val="solid"/>
          </a:ln>
        </p:spPr>
      </p:sp>
      <p:sp>
        <p:nvSpPr>
          <p:cNvPr id="14" name="Text 11"/>
          <p:cNvSpPr txBox="1"/>
          <p:nvPr/>
        </p:nvSpPr>
        <p:spPr>
          <a:xfrm>
            <a:off x="2847442" y="2331720"/>
            <a:ext cx="61081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Vite 7</a:t>
            </a:r>
            <a:endParaRPr lang="en-US" sz="1150" dirty="0"/>
          </a:p>
        </p:txBody>
      </p:sp>
      <p:sp>
        <p:nvSpPr>
          <p:cNvPr id="15" name="Shape 12"/>
          <p:cNvSpPr/>
          <p:nvPr/>
        </p:nvSpPr>
        <p:spPr>
          <a:xfrm>
            <a:off x="777240" y="2715768"/>
            <a:ext cx="1291133" cy="310896"/>
          </a:xfrm>
          <a:prstGeom prst="roundRect">
            <a:avLst>
              <a:gd name="adj" fmla="val 50000"/>
            </a:avLst>
          </a:prstGeom>
          <a:solidFill>
            <a:srgbClr val="FFFFFF"/>
          </a:solidFill>
          <a:ln w="12700">
            <a:solidFill>
              <a:srgbClr val="DDE1EC"/>
            </a:solidFill>
            <a:prstDash val="solid"/>
          </a:ln>
        </p:spPr>
      </p:sp>
      <p:sp>
        <p:nvSpPr>
          <p:cNvPr id="16" name="Text 13"/>
          <p:cNvSpPr txBox="1"/>
          <p:nvPr/>
        </p:nvSpPr>
        <p:spPr>
          <a:xfrm>
            <a:off x="832104" y="2715768"/>
            <a:ext cx="1181405"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TanStack Query</a:t>
            </a:r>
            <a:endParaRPr lang="en-US" sz="1150" dirty="0"/>
          </a:p>
        </p:txBody>
      </p:sp>
      <p:sp>
        <p:nvSpPr>
          <p:cNvPr id="17" name="Shape 14"/>
          <p:cNvSpPr/>
          <p:nvPr/>
        </p:nvSpPr>
        <p:spPr>
          <a:xfrm>
            <a:off x="2141525" y="2715768"/>
            <a:ext cx="720547" cy="310896"/>
          </a:xfrm>
          <a:prstGeom prst="roundRect">
            <a:avLst>
              <a:gd name="adj" fmla="val 50000"/>
            </a:avLst>
          </a:prstGeom>
          <a:solidFill>
            <a:srgbClr val="FFFFFF"/>
          </a:solidFill>
          <a:ln w="12700">
            <a:solidFill>
              <a:srgbClr val="DDE1EC"/>
            </a:solidFill>
            <a:prstDash val="solid"/>
          </a:ln>
        </p:spPr>
      </p:sp>
      <p:sp>
        <p:nvSpPr>
          <p:cNvPr id="18" name="Text 15"/>
          <p:cNvSpPr txBox="1"/>
          <p:nvPr/>
        </p:nvSpPr>
        <p:spPr>
          <a:xfrm>
            <a:off x="2196389" y="2715768"/>
            <a:ext cx="61081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Wouter</a:t>
            </a:r>
            <a:endParaRPr lang="en-US" sz="1150" dirty="0"/>
          </a:p>
        </p:txBody>
      </p:sp>
      <p:sp>
        <p:nvSpPr>
          <p:cNvPr id="19" name="Shape 16"/>
          <p:cNvSpPr/>
          <p:nvPr/>
        </p:nvSpPr>
        <p:spPr>
          <a:xfrm>
            <a:off x="2935224" y="2715768"/>
            <a:ext cx="863194" cy="310896"/>
          </a:xfrm>
          <a:prstGeom prst="roundRect">
            <a:avLst>
              <a:gd name="adj" fmla="val 50000"/>
            </a:avLst>
          </a:prstGeom>
          <a:solidFill>
            <a:srgbClr val="FFFFFF"/>
          </a:solidFill>
          <a:ln w="12700">
            <a:solidFill>
              <a:srgbClr val="DDE1EC"/>
            </a:solidFill>
            <a:prstDash val="solid"/>
          </a:ln>
        </p:spPr>
      </p:sp>
      <p:sp>
        <p:nvSpPr>
          <p:cNvPr id="20" name="Text 17"/>
          <p:cNvSpPr txBox="1"/>
          <p:nvPr/>
        </p:nvSpPr>
        <p:spPr>
          <a:xfrm>
            <a:off x="2990088" y="2715768"/>
            <a:ext cx="753466"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Radix UI</a:t>
            </a:r>
            <a:endParaRPr lang="en-US" sz="1150" dirty="0"/>
          </a:p>
        </p:txBody>
      </p:sp>
      <p:sp>
        <p:nvSpPr>
          <p:cNvPr id="21" name="Text 18"/>
          <p:cNvSpPr txBox="1"/>
          <p:nvPr/>
        </p:nvSpPr>
        <p:spPr>
          <a:xfrm>
            <a:off x="777240" y="336499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 Recharts · Lucide React · Sonner · custom CSS</a:t>
            </a:r>
            <a:endParaRPr lang="en-US" sz="1000" dirty="0"/>
          </a:p>
        </p:txBody>
      </p:sp>
      <p:sp>
        <p:nvSpPr>
          <p:cNvPr id="22" name="Shape 19"/>
          <p:cNvSpPr/>
          <p:nvPr/>
        </p:nvSpPr>
        <p:spPr>
          <a:xfrm>
            <a:off x="4311396" y="1463040"/>
            <a:ext cx="3566160" cy="2331720"/>
          </a:xfrm>
          <a:prstGeom prst="roundRect">
            <a:avLst>
              <a:gd name="adj" fmla="val 7059"/>
            </a:avLst>
          </a:prstGeom>
          <a:solidFill>
            <a:srgbClr val="F3F4F9"/>
          </a:solidFill>
          <a:ln/>
        </p:spPr>
      </p:sp>
      <p:sp>
        <p:nvSpPr>
          <p:cNvPr id="23" name="Shape 20"/>
          <p:cNvSpPr/>
          <p:nvPr/>
        </p:nvSpPr>
        <p:spPr>
          <a:xfrm>
            <a:off x="4539996" y="1691640"/>
            <a:ext cx="502920" cy="502920"/>
          </a:xfrm>
          <a:prstGeom prst="roundRect">
            <a:avLst>
              <a:gd name="adj" fmla="val 28000"/>
            </a:avLst>
          </a:prstGeom>
          <a:solidFill>
            <a:srgbClr val="6D28D9"/>
          </a:solidFill>
          <a:ln/>
        </p:spPr>
      </p:sp>
      <p:pic>
        <p:nvPicPr>
          <p:cNvPr id="24" name="Image 1" descr="preencoded.png">    </p:cNvPr>
          <p:cNvPicPr>
            <a:picLocks noChangeAspect="1"/>
          </p:cNvPicPr>
          <p:nvPr/>
        </p:nvPicPr>
        <p:blipFill>
          <a:blip r:embed="rId2"/>
          <a:stretch>
            <a:fillRect/>
          </a:stretch>
        </p:blipFill>
        <p:spPr>
          <a:xfrm>
            <a:off x="4650638" y="1802282"/>
            <a:ext cx="281635" cy="281635"/>
          </a:xfrm>
          <a:prstGeom prst="rect">
            <a:avLst/>
          </a:prstGeom>
        </p:spPr>
      </p:pic>
      <p:sp>
        <p:nvSpPr>
          <p:cNvPr id="25" name="Text 21"/>
          <p:cNvSpPr txBox="1"/>
          <p:nvPr/>
        </p:nvSpPr>
        <p:spPr>
          <a:xfrm>
            <a:off x="5180076" y="168249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Backend</a:t>
            </a:r>
            <a:endParaRPr lang="en-US" sz="1700" dirty="0"/>
          </a:p>
        </p:txBody>
      </p:sp>
      <p:sp>
        <p:nvSpPr>
          <p:cNvPr id="26" name="Text 22"/>
          <p:cNvSpPr txBox="1"/>
          <p:nvPr/>
        </p:nvSpPr>
        <p:spPr>
          <a:xfrm>
            <a:off x="5180076" y="196596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Type-safe API layer</a:t>
            </a:r>
            <a:endParaRPr lang="en-US" sz="1100" dirty="0"/>
          </a:p>
        </p:txBody>
      </p:sp>
      <p:sp>
        <p:nvSpPr>
          <p:cNvPr id="27" name="Shape 23"/>
          <p:cNvSpPr/>
          <p:nvPr/>
        </p:nvSpPr>
        <p:spPr>
          <a:xfrm>
            <a:off x="4539996" y="2331720"/>
            <a:ext cx="791870" cy="310896"/>
          </a:xfrm>
          <a:prstGeom prst="roundRect">
            <a:avLst>
              <a:gd name="adj" fmla="val 50000"/>
            </a:avLst>
          </a:prstGeom>
          <a:solidFill>
            <a:srgbClr val="FFFFFF"/>
          </a:solidFill>
          <a:ln w="12700">
            <a:solidFill>
              <a:srgbClr val="DDE1EC"/>
            </a:solidFill>
            <a:prstDash val="solid"/>
          </a:ln>
        </p:spPr>
      </p:sp>
      <p:sp>
        <p:nvSpPr>
          <p:cNvPr id="28" name="Text 24"/>
          <p:cNvSpPr txBox="1"/>
          <p:nvPr/>
        </p:nvSpPr>
        <p:spPr>
          <a:xfrm>
            <a:off x="4594860" y="2331720"/>
            <a:ext cx="68214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Node.js</a:t>
            </a:r>
            <a:endParaRPr lang="en-US" sz="1150" dirty="0"/>
          </a:p>
        </p:txBody>
      </p:sp>
      <p:sp>
        <p:nvSpPr>
          <p:cNvPr id="29" name="Shape 25"/>
          <p:cNvSpPr/>
          <p:nvPr/>
        </p:nvSpPr>
        <p:spPr>
          <a:xfrm>
            <a:off x="5405018" y="2331720"/>
            <a:ext cx="934517" cy="310896"/>
          </a:xfrm>
          <a:prstGeom prst="roundRect">
            <a:avLst>
              <a:gd name="adj" fmla="val 50000"/>
            </a:avLst>
          </a:prstGeom>
          <a:solidFill>
            <a:srgbClr val="FFFFFF"/>
          </a:solidFill>
          <a:ln w="12700">
            <a:solidFill>
              <a:srgbClr val="DDE1EC"/>
            </a:solidFill>
            <a:prstDash val="solid"/>
          </a:ln>
        </p:spPr>
      </p:sp>
      <p:sp>
        <p:nvSpPr>
          <p:cNvPr id="30" name="Text 26"/>
          <p:cNvSpPr txBox="1"/>
          <p:nvPr/>
        </p:nvSpPr>
        <p:spPr>
          <a:xfrm>
            <a:off x="5459882" y="2331720"/>
            <a:ext cx="82478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Express 4</a:t>
            </a:r>
            <a:endParaRPr lang="en-US" sz="1150" dirty="0"/>
          </a:p>
        </p:txBody>
      </p:sp>
      <p:sp>
        <p:nvSpPr>
          <p:cNvPr id="31" name="Shape 27"/>
          <p:cNvSpPr/>
          <p:nvPr/>
        </p:nvSpPr>
        <p:spPr>
          <a:xfrm>
            <a:off x="6412687" y="2331720"/>
            <a:ext cx="791870" cy="310896"/>
          </a:xfrm>
          <a:prstGeom prst="roundRect">
            <a:avLst>
              <a:gd name="adj" fmla="val 50000"/>
            </a:avLst>
          </a:prstGeom>
          <a:solidFill>
            <a:srgbClr val="FFFFFF"/>
          </a:solidFill>
          <a:ln w="12700">
            <a:solidFill>
              <a:srgbClr val="DDE1EC"/>
            </a:solidFill>
            <a:prstDash val="solid"/>
          </a:ln>
        </p:spPr>
      </p:sp>
      <p:sp>
        <p:nvSpPr>
          <p:cNvPr id="32" name="Text 28"/>
          <p:cNvSpPr txBox="1"/>
          <p:nvPr/>
        </p:nvSpPr>
        <p:spPr>
          <a:xfrm>
            <a:off x="6467551" y="2331720"/>
            <a:ext cx="68214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tRPC 11</a:t>
            </a:r>
            <a:endParaRPr lang="en-US" sz="1150" dirty="0"/>
          </a:p>
        </p:txBody>
      </p:sp>
      <p:sp>
        <p:nvSpPr>
          <p:cNvPr id="33" name="Shape 29"/>
          <p:cNvSpPr/>
          <p:nvPr/>
        </p:nvSpPr>
        <p:spPr>
          <a:xfrm>
            <a:off x="4539996" y="2715768"/>
            <a:ext cx="506578" cy="310896"/>
          </a:xfrm>
          <a:prstGeom prst="roundRect">
            <a:avLst>
              <a:gd name="adj" fmla="val 50000"/>
            </a:avLst>
          </a:prstGeom>
          <a:solidFill>
            <a:srgbClr val="FFFFFF"/>
          </a:solidFill>
          <a:ln w="12700">
            <a:solidFill>
              <a:srgbClr val="DDE1EC"/>
            </a:solidFill>
            <a:prstDash val="solid"/>
          </a:ln>
        </p:spPr>
      </p:sp>
      <p:sp>
        <p:nvSpPr>
          <p:cNvPr id="34" name="Text 30"/>
          <p:cNvSpPr txBox="1"/>
          <p:nvPr/>
        </p:nvSpPr>
        <p:spPr>
          <a:xfrm>
            <a:off x="4594860" y="2715768"/>
            <a:ext cx="396850"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Zod</a:t>
            </a:r>
            <a:endParaRPr lang="en-US" sz="1150" dirty="0"/>
          </a:p>
        </p:txBody>
      </p:sp>
      <p:sp>
        <p:nvSpPr>
          <p:cNvPr id="35" name="Shape 31"/>
          <p:cNvSpPr/>
          <p:nvPr/>
        </p:nvSpPr>
        <p:spPr>
          <a:xfrm>
            <a:off x="5119726" y="2715768"/>
            <a:ext cx="934517" cy="310896"/>
          </a:xfrm>
          <a:prstGeom prst="roundRect">
            <a:avLst>
              <a:gd name="adj" fmla="val 50000"/>
            </a:avLst>
          </a:prstGeom>
          <a:solidFill>
            <a:srgbClr val="FFFFFF"/>
          </a:solidFill>
          <a:ln w="12700">
            <a:solidFill>
              <a:srgbClr val="DDE1EC"/>
            </a:solidFill>
            <a:prstDash val="solid"/>
          </a:ln>
        </p:spPr>
      </p:sp>
      <p:sp>
        <p:nvSpPr>
          <p:cNvPr id="36" name="Text 32"/>
          <p:cNvSpPr txBox="1"/>
          <p:nvPr/>
        </p:nvSpPr>
        <p:spPr>
          <a:xfrm>
            <a:off x="5174590" y="2715768"/>
            <a:ext cx="82478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SuperJSON</a:t>
            </a:r>
            <a:endParaRPr lang="en-US" sz="1150" dirty="0"/>
          </a:p>
        </p:txBody>
      </p:sp>
      <p:sp>
        <p:nvSpPr>
          <p:cNvPr id="37" name="Text 33"/>
          <p:cNvSpPr txBox="1"/>
          <p:nvPr/>
        </p:nvSpPr>
        <p:spPr>
          <a:xfrm>
            <a:off x="4539996" y="336499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End-to-end types from server to client</a:t>
            </a:r>
            <a:endParaRPr lang="en-US" sz="1000" dirty="0"/>
          </a:p>
        </p:txBody>
      </p:sp>
      <p:sp>
        <p:nvSpPr>
          <p:cNvPr id="38" name="Shape 34"/>
          <p:cNvSpPr/>
          <p:nvPr/>
        </p:nvSpPr>
        <p:spPr>
          <a:xfrm>
            <a:off x="8074152" y="1463040"/>
            <a:ext cx="3566160" cy="2331720"/>
          </a:xfrm>
          <a:prstGeom prst="roundRect">
            <a:avLst>
              <a:gd name="adj" fmla="val 7059"/>
            </a:avLst>
          </a:prstGeom>
          <a:solidFill>
            <a:srgbClr val="F3F4F9"/>
          </a:solidFill>
          <a:ln/>
        </p:spPr>
      </p:sp>
      <p:sp>
        <p:nvSpPr>
          <p:cNvPr id="39" name="Shape 35"/>
          <p:cNvSpPr/>
          <p:nvPr/>
        </p:nvSpPr>
        <p:spPr>
          <a:xfrm>
            <a:off x="8302752" y="1691640"/>
            <a:ext cx="502920" cy="502920"/>
          </a:xfrm>
          <a:prstGeom prst="roundRect">
            <a:avLst>
              <a:gd name="adj" fmla="val 28000"/>
            </a:avLst>
          </a:prstGeom>
          <a:solidFill>
            <a:srgbClr val="6D28D9"/>
          </a:solidFill>
          <a:ln/>
        </p:spPr>
      </p:sp>
      <p:pic>
        <p:nvPicPr>
          <p:cNvPr id="40" name="Image 2" descr="preencoded.png">    </p:cNvPr>
          <p:cNvPicPr>
            <a:picLocks noChangeAspect="1"/>
          </p:cNvPicPr>
          <p:nvPr/>
        </p:nvPicPr>
        <p:blipFill>
          <a:blip r:embed="rId3"/>
          <a:stretch>
            <a:fillRect/>
          </a:stretch>
        </p:blipFill>
        <p:spPr>
          <a:xfrm>
            <a:off x="8413394" y="1802282"/>
            <a:ext cx="281635" cy="281635"/>
          </a:xfrm>
          <a:prstGeom prst="rect">
            <a:avLst/>
          </a:prstGeom>
        </p:spPr>
      </p:pic>
      <p:sp>
        <p:nvSpPr>
          <p:cNvPr id="41" name="Text 36"/>
          <p:cNvSpPr txBox="1"/>
          <p:nvPr/>
        </p:nvSpPr>
        <p:spPr>
          <a:xfrm>
            <a:off x="8942832" y="168249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Database</a:t>
            </a:r>
            <a:endParaRPr lang="en-US" sz="1700" dirty="0"/>
          </a:p>
        </p:txBody>
      </p:sp>
      <p:sp>
        <p:nvSpPr>
          <p:cNvPr id="42" name="Text 37"/>
          <p:cNvSpPr txBox="1"/>
          <p:nvPr/>
        </p:nvSpPr>
        <p:spPr>
          <a:xfrm>
            <a:off x="8942832" y="196596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Relational, constraint-enforced</a:t>
            </a:r>
            <a:endParaRPr lang="en-US" sz="1100" dirty="0"/>
          </a:p>
        </p:txBody>
      </p:sp>
      <p:sp>
        <p:nvSpPr>
          <p:cNvPr id="43" name="Shape 38"/>
          <p:cNvSpPr/>
          <p:nvPr/>
        </p:nvSpPr>
        <p:spPr>
          <a:xfrm>
            <a:off x="8302752" y="2331720"/>
            <a:ext cx="791870" cy="310896"/>
          </a:xfrm>
          <a:prstGeom prst="roundRect">
            <a:avLst>
              <a:gd name="adj" fmla="val 50000"/>
            </a:avLst>
          </a:prstGeom>
          <a:solidFill>
            <a:srgbClr val="FFFFFF"/>
          </a:solidFill>
          <a:ln w="12700">
            <a:solidFill>
              <a:srgbClr val="DDE1EC"/>
            </a:solidFill>
            <a:prstDash val="solid"/>
          </a:ln>
        </p:spPr>
      </p:sp>
      <p:sp>
        <p:nvSpPr>
          <p:cNvPr id="44" name="Text 39"/>
          <p:cNvSpPr txBox="1"/>
          <p:nvPr/>
        </p:nvSpPr>
        <p:spPr>
          <a:xfrm>
            <a:off x="8357616" y="2331720"/>
            <a:ext cx="68214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MySQL 8</a:t>
            </a:r>
            <a:endParaRPr lang="en-US" sz="1150" dirty="0"/>
          </a:p>
        </p:txBody>
      </p:sp>
      <p:sp>
        <p:nvSpPr>
          <p:cNvPr id="45" name="Shape 40"/>
          <p:cNvSpPr/>
          <p:nvPr/>
        </p:nvSpPr>
        <p:spPr>
          <a:xfrm>
            <a:off x="9167774" y="2331720"/>
            <a:ext cx="1077163" cy="310896"/>
          </a:xfrm>
          <a:prstGeom prst="roundRect">
            <a:avLst>
              <a:gd name="adj" fmla="val 50000"/>
            </a:avLst>
          </a:prstGeom>
          <a:solidFill>
            <a:srgbClr val="FFFFFF"/>
          </a:solidFill>
          <a:ln w="12700">
            <a:solidFill>
              <a:srgbClr val="DDE1EC"/>
            </a:solidFill>
            <a:prstDash val="solid"/>
          </a:ln>
        </p:spPr>
      </p:sp>
      <p:sp>
        <p:nvSpPr>
          <p:cNvPr id="46" name="Text 41"/>
          <p:cNvSpPr txBox="1"/>
          <p:nvPr/>
        </p:nvSpPr>
        <p:spPr>
          <a:xfrm>
            <a:off x="9222638" y="2331720"/>
            <a:ext cx="967435"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Drizzle ORM</a:t>
            </a:r>
            <a:endParaRPr lang="en-US" sz="1150" dirty="0"/>
          </a:p>
        </p:txBody>
      </p:sp>
      <p:sp>
        <p:nvSpPr>
          <p:cNvPr id="47" name="Shape 42"/>
          <p:cNvSpPr/>
          <p:nvPr/>
        </p:nvSpPr>
        <p:spPr>
          <a:xfrm>
            <a:off x="10318090" y="2331720"/>
            <a:ext cx="1077163" cy="310896"/>
          </a:xfrm>
          <a:prstGeom prst="roundRect">
            <a:avLst>
              <a:gd name="adj" fmla="val 50000"/>
            </a:avLst>
          </a:prstGeom>
          <a:solidFill>
            <a:srgbClr val="FFFFFF"/>
          </a:solidFill>
          <a:ln w="12700">
            <a:solidFill>
              <a:srgbClr val="DDE1EC"/>
            </a:solidFill>
            <a:prstDash val="solid"/>
          </a:ln>
        </p:spPr>
      </p:sp>
      <p:sp>
        <p:nvSpPr>
          <p:cNvPr id="48" name="Text 43"/>
          <p:cNvSpPr txBox="1"/>
          <p:nvPr/>
        </p:nvSpPr>
        <p:spPr>
          <a:xfrm>
            <a:off x="10372954" y="2331720"/>
            <a:ext cx="967435"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drizzle-kit</a:t>
            </a:r>
            <a:endParaRPr lang="en-US" sz="1150" dirty="0"/>
          </a:p>
        </p:txBody>
      </p:sp>
      <p:sp>
        <p:nvSpPr>
          <p:cNvPr id="49" name="Shape 44"/>
          <p:cNvSpPr/>
          <p:nvPr/>
        </p:nvSpPr>
        <p:spPr>
          <a:xfrm>
            <a:off x="8302752" y="2715768"/>
            <a:ext cx="720547" cy="310896"/>
          </a:xfrm>
          <a:prstGeom prst="roundRect">
            <a:avLst>
              <a:gd name="adj" fmla="val 50000"/>
            </a:avLst>
          </a:prstGeom>
          <a:solidFill>
            <a:srgbClr val="FFFFFF"/>
          </a:solidFill>
          <a:ln w="12700">
            <a:solidFill>
              <a:srgbClr val="DDE1EC"/>
            </a:solidFill>
            <a:prstDash val="solid"/>
          </a:ln>
        </p:spPr>
      </p:sp>
      <p:sp>
        <p:nvSpPr>
          <p:cNvPr id="50" name="Text 45"/>
          <p:cNvSpPr txBox="1"/>
          <p:nvPr/>
        </p:nvSpPr>
        <p:spPr>
          <a:xfrm>
            <a:off x="8357616" y="2715768"/>
            <a:ext cx="61081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mysql2</a:t>
            </a:r>
            <a:endParaRPr lang="en-US" sz="1150" dirty="0"/>
          </a:p>
        </p:txBody>
      </p:sp>
      <p:sp>
        <p:nvSpPr>
          <p:cNvPr id="51" name="Text 46"/>
          <p:cNvSpPr txBox="1"/>
          <p:nvPr/>
        </p:nvSpPr>
        <p:spPr>
          <a:xfrm>
            <a:off x="8302752" y="336499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Schema &amp; migrations in TypeScript</a:t>
            </a:r>
            <a:endParaRPr lang="en-US" sz="1000" dirty="0"/>
          </a:p>
        </p:txBody>
      </p:sp>
      <p:sp>
        <p:nvSpPr>
          <p:cNvPr id="52" name="Shape 47"/>
          <p:cNvSpPr/>
          <p:nvPr/>
        </p:nvSpPr>
        <p:spPr>
          <a:xfrm>
            <a:off x="548640" y="3931920"/>
            <a:ext cx="3566160" cy="2331720"/>
          </a:xfrm>
          <a:prstGeom prst="roundRect">
            <a:avLst>
              <a:gd name="adj" fmla="val 7059"/>
            </a:avLst>
          </a:prstGeom>
          <a:solidFill>
            <a:srgbClr val="F3F4F9"/>
          </a:solidFill>
          <a:ln/>
        </p:spPr>
      </p:sp>
      <p:sp>
        <p:nvSpPr>
          <p:cNvPr id="53" name="Shape 48"/>
          <p:cNvSpPr/>
          <p:nvPr/>
        </p:nvSpPr>
        <p:spPr>
          <a:xfrm>
            <a:off x="777240" y="4160520"/>
            <a:ext cx="502920" cy="502920"/>
          </a:xfrm>
          <a:prstGeom prst="roundRect">
            <a:avLst>
              <a:gd name="adj" fmla="val 28000"/>
            </a:avLst>
          </a:prstGeom>
          <a:solidFill>
            <a:srgbClr val="6D28D9"/>
          </a:solidFill>
          <a:ln/>
        </p:spPr>
      </p:sp>
      <p:pic>
        <p:nvPicPr>
          <p:cNvPr id="54" name="Image 3" descr="preencoded.png">    </p:cNvPr>
          <p:cNvPicPr>
            <a:picLocks noChangeAspect="1"/>
          </p:cNvPicPr>
          <p:nvPr/>
        </p:nvPicPr>
        <p:blipFill>
          <a:blip r:embed="rId4"/>
          <a:stretch>
            <a:fillRect/>
          </a:stretch>
        </p:blipFill>
        <p:spPr>
          <a:xfrm>
            <a:off x="887882" y="4271162"/>
            <a:ext cx="281635" cy="281635"/>
          </a:xfrm>
          <a:prstGeom prst="rect">
            <a:avLst/>
          </a:prstGeom>
        </p:spPr>
      </p:pic>
      <p:sp>
        <p:nvSpPr>
          <p:cNvPr id="55" name="Text 49"/>
          <p:cNvSpPr txBox="1"/>
          <p:nvPr/>
        </p:nvSpPr>
        <p:spPr>
          <a:xfrm>
            <a:off x="1417320" y="415137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Realtime</a:t>
            </a:r>
            <a:endParaRPr lang="en-US" sz="1700" dirty="0"/>
          </a:p>
        </p:txBody>
      </p:sp>
      <p:sp>
        <p:nvSpPr>
          <p:cNvPr id="56" name="Text 50"/>
          <p:cNvSpPr txBox="1"/>
          <p:nvPr/>
        </p:nvSpPr>
        <p:spPr>
          <a:xfrm>
            <a:off x="1417320" y="443484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Live updates without refresh</a:t>
            </a:r>
            <a:endParaRPr lang="en-US" sz="1100" dirty="0"/>
          </a:p>
        </p:txBody>
      </p:sp>
      <p:sp>
        <p:nvSpPr>
          <p:cNvPr id="57" name="Shape 51"/>
          <p:cNvSpPr/>
          <p:nvPr/>
        </p:nvSpPr>
        <p:spPr>
          <a:xfrm>
            <a:off x="777240" y="4800600"/>
            <a:ext cx="2004365" cy="310896"/>
          </a:xfrm>
          <a:prstGeom prst="roundRect">
            <a:avLst>
              <a:gd name="adj" fmla="val 50000"/>
            </a:avLst>
          </a:prstGeom>
          <a:solidFill>
            <a:srgbClr val="FFFFFF"/>
          </a:solidFill>
          <a:ln w="12700">
            <a:solidFill>
              <a:srgbClr val="DDE1EC"/>
            </a:solidFill>
            <a:prstDash val="solid"/>
          </a:ln>
        </p:spPr>
      </p:sp>
      <p:sp>
        <p:nvSpPr>
          <p:cNvPr id="58" name="Text 52"/>
          <p:cNvSpPr txBox="1"/>
          <p:nvPr/>
        </p:nvSpPr>
        <p:spPr>
          <a:xfrm>
            <a:off x="832104" y="4800600"/>
            <a:ext cx="1894637"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Server-Sent Events (SSE)</a:t>
            </a:r>
            <a:endParaRPr lang="en-US" sz="1150" dirty="0"/>
          </a:p>
        </p:txBody>
      </p:sp>
      <p:sp>
        <p:nvSpPr>
          <p:cNvPr id="59" name="Text 53"/>
          <p:cNvSpPr txBox="1"/>
          <p:nvPr/>
        </p:nvSpPr>
        <p:spPr>
          <a:xfrm>
            <a:off x="777240" y="583387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One-way server → client event stream for queue updates and notifications</a:t>
            </a:r>
            <a:endParaRPr lang="en-US" sz="1000" dirty="0"/>
          </a:p>
        </p:txBody>
      </p:sp>
      <p:sp>
        <p:nvSpPr>
          <p:cNvPr id="60" name="Shape 54"/>
          <p:cNvSpPr/>
          <p:nvPr/>
        </p:nvSpPr>
        <p:spPr>
          <a:xfrm>
            <a:off x="4311396" y="3931920"/>
            <a:ext cx="3566160" cy="2331720"/>
          </a:xfrm>
          <a:prstGeom prst="roundRect">
            <a:avLst>
              <a:gd name="adj" fmla="val 7059"/>
            </a:avLst>
          </a:prstGeom>
          <a:solidFill>
            <a:srgbClr val="F3F4F9"/>
          </a:solidFill>
          <a:ln/>
        </p:spPr>
      </p:sp>
      <p:sp>
        <p:nvSpPr>
          <p:cNvPr id="61" name="Shape 55"/>
          <p:cNvSpPr/>
          <p:nvPr/>
        </p:nvSpPr>
        <p:spPr>
          <a:xfrm>
            <a:off x="4539996" y="4160520"/>
            <a:ext cx="502920" cy="502920"/>
          </a:xfrm>
          <a:prstGeom prst="roundRect">
            <a:avLst>
              <a:gd name="adj" fmla="val 28000"/>
            </a:avLst>
          </a:prstGeom>
          <a:solidFill>
            <a:srgbClr val="6D28D9"/>
          </a:solidFill>
          <a:ln/>
        </p:spPr>
      </p:sp>
      <p:pic>
        <p:nvPicPr>
          <p:cNvPr id="62" name="Image 4" descr="preencoded.png">    </p:cNvPr>
          <p:cNvPicPr>
            <a:picLocks noChangeAspect="1"/>
          </p:cNvPicPr>
          <p:nvPr/>
        </p:nvPicPr>
        <p:blipFill>
          <a:blip r:embed="rId5"/>
          <a:stretch>
            <a:fillRect/>
          </a:stretch>
        </p:blipFill>
        <p:spPr>
          <a:xfrm>
            <a:off x="4650638" y="4271162"/>
            <a:ext cx="281635" cy="281635"/>
          </a:xfrm>
          <a:prstGeom prst="rect">
            <a:avLst/>
          </a:prstGeom>
        </p:spPr>
      </p:pic>
      <p:sp>
        <p:nvSpPr>
          <p:cNvPr id="63" name="Text 56"/>
          <p:cNvSpPr txBox="1"/>
          <p:nvPr/>
        </p:nvSpPr>
        <p:spPr>
          <a:xfrm>
            <a:off x="5180076" y="415137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Computer Vision</a:t>
            </a:r>
            <a:endParaRPr lang="en-US" sz="1700" dirty="0"/>
          </a:p>
        </p:txBody>
      </p:sp>
      <p:sp>
        <p:nvSpPr>
          <p:cNvPr id="64" name="Text 57"/>
          <p:cNvSpPr txBox="1"/>
          <p:nvPr/>
        </p:nvSpPr>
        <p:spPr>
          <a:xfrm>
            <a:off x="5180076" y="443484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Optional, in-browser</a:t>
            </a:r>
            <a:endParaRPr lang="en-US" sz="1100" dirty="0"/>
          </a:p>
        </p:txBody>
      </p:sp>
      <p:sp>
        <p:nvSpPr>
          <p:cNvPr id="65" name="Shape 58"/>
          <p:cNvSpPr/>
          <p:nvPr/>
        </p:nvSpPr>
        <p:spPr>
          <a:xfrm>
            <a:off x="4539996" y="4800600"/>
            <a:ext cx="1219810" cy="310896"/>
          </a:xfrm>
          <a:prstGeom prst="roundRect">
            <a:avLst>
              <a:gd name="adj" fmla="val 50000"/>
            </a:avLst>
          </a:prstGeom>
          <a:solidFill>
            <a:srgbClr val="FFFFFF"/>
          </a:solidFill>
          <a:ln w="12700">
            <a:solidFill>
              <a:srgbClr val="DDE1EC"/>
            </a:solidFill>
            <a:prstDash val="solid"/>
          </a:ln>
        </p:spPr>
      </p:sp>
      <p:sp>
        <p:nvSpPr>
          <p:cNvPr id="66" name="Text 59"/>
          <p:cNvSpPr txBox="1"/>
          <p:nvPr/>
        </p:nvSpPr>
        <p:spPr>
          <a:xfrm>
            <a:off x="4594860" y="4800600"/>
            <a:ext cx="111008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TensorFlow.js</a:t>
            </a:r>
            <a:endParaRPr lang="en-US" sz="1150" dirty="0"/>
          </a:p>
        </p:txBody>
      </p:sp>
      <p:sp>
        <p:nvSpPr>
          <p:cNvPr id="67" name="Shape 60"/>
          <p:cNvSpPr/>
          <p:nvPr/>
        </p:nvSpPr>
        <p:spPr>
          <a:xfrm>
            <a:off x="5832958" y="4800600"/>
            <a:ext cx="863194" cy="310896"/>
          </a:xfrm>
          <a:prstGeom prst="roundRect">
            <a:avLst>
              <a:gd name="adj" fmla="val 50000"/>
            </a:avLst>
          </a:prstGeom>
          <a:solidFill>
            <a:srgbClr val="FFFFFF"/>
          </a:solidFill>
          <a:ln w="12700">
            <a:solidFill>
              <a:srgbClr val="DDE1EC"/>
            </a:solidFill>
            <a:prstDash val="solid"/>
          </a:ln>
        </p:spPr>
      </p:sp>
      <p:sp>
        <p:nvSpPr>
          <p:cNvPr id="68" name="Text 61"/>
          <p:cNvSpPr txBox="1"/>
          <p:nvPr/>
        </p:nvSpPr>
        <p:spPr>
          <a:xfrm>
            <a:off x="5887822" y="4800600"/>
            <a:ext cx="753466"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COCO-SSD</a:t>
            </a:r>
            <a:endParaRPr lang="en-US" sz="1150" dirty="0"/>
          </a:p>
        </p:txBody>
      </p:sp>
      <p:sp>
        <p:nvSpPr>
          <p:cNvPr id="69" name="Shape 62"/>
          <p:cNvSpPr/>
          <p:nvPr/>
        </p:nvSpPr>
        <p:spPr>
          <a:xfrm>
            <a:off x="4539996" y="5184648"/>
            <a:ext cx="1505102" cy="310896"/>
          </a:xfrm>
          <a:prstGeom prst="roundRect">
            <a:avLst>
              <a:gd name="adj" fmla="val 50000"/>
            </a:avLst>
          </a:prstGeom>
          <a:solidFill>
            <a:srgbClr val="FFFFFF"/>
          </a:solidFill>
          <a:ln w="12700">
            <a:solidFill>
              <a:srgbClr val="DDE1EC"/>
            </a:solidFill>
            <a:prstDash val="solid"/>
          </a:ln>
        </p:spPr>
      </p:sp>
      <p:sp>
        <p:nvSpPr>
          <p:cNvPr id="70" name="Text 63"/>
          <p:cNvSpPr txBox="1"/>
          <p:nvPr/>
        </p:nvSpPr>
        <p:spPr>
          <a:xfrm>
            <a:off x="4594860" y="5184648"/>
            <a:ext cx="1395374"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lite_mobilenet_v2</a:t>
            </a:r>
            <a:endParaRPr lang="en-US" sz="1150" dirty="0"/>
          </a:p>
        </p:txBody>
      </p:sp>
      <p:sp>
        <p:nvSpPr>
          <p:cNvPr id="71" name="Text 64"/>
          <p:cNvSpPr txBox="1"/>
          <p:nvPr/>
        </p:nvSpPr>
        <p:spPr>
          <a:xfrm>
            <a:off x="4539996" y="583387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Runs locally in the browser — aggregate counts only</a:t>
            </a:r>
            <a:endParaRPr lang="en-US" sz="1000" dirty="0"/>
          </a:p>
        </p:txBody>
      </p:sp>
      <p:sp>
        <p:nvSpPr>
          <p:cNvPr id="72" name="Shape 65"/>
          <p:cNvSpPr/>
          <p:nvPr/>
        </p:nvSpPr>
        <p:spPr>
          <a:xfrm>
            <a:off x="8074152" y="3931920"/>
            <a:ext cx="3566160" cy="2331720"/>
          </a:xfrm>
          <a:prstGeom prst="roundRect">
            <a:avLst>
              <a:gd name="adj" fmla="val 7059"/>
            </a:avLst>
          </a:prstGeom>
          <a:solidFill>
            <a:srgbClr val="F3F4F9"/>
          </a:solidFill>
          <a:ln/>
        </p:spPr>
      </p:sp>
      <p:sp>
        <p:nvSpPr>
          <p:cNvPr id="73" name="Shape 66"/>
          <p:cNvSpPr/>
          <p:nvPr/>
        </p:nvSpPr>
        <p:spPr>
          <a:xfrm>
            <a:off x="8302752" y="4160520"/>
            <a:ext cx="502920" cy="502920"/>
          </a:xfrm>
          <a:prstGeom prst="roundRect">
            <a:avLst>
              <a:gd name="adj" fmla="val 28000"/>
            </a:avLst>
          </a:prstGeom>
          <a:solidFill>
            <a:srgbClr val="6D28D9"/>
          </a:solidFill>
          <a:ln/>
        </p:spPr>
      </p:sp>
      <p:pic>
        <p:nvPicPr>
          <p:cNvPr id="74" name="Image 5" descr="preencoded.png">    </p:cNvPr>
          <p:cNvPicPr>
            <a:picLocks noChangeAspect="1"/>
          </p:cNvPicPr>
          <p:nvPr/>
        </p:nvPicPr>
        <p:blipFill>
          <a:blip r:embed="rId6"/>
          <a:stretch>
            <a:fillRect/>
          </a:stretch>
        </p:blipFill>
        <p:spPr>
          <a:xfrm>
            <a:off x="8413394" y="4271162"/>
            <a:ext cx="281635" cy="281635"/>
          </a:xfrm>
          <a:prstGeom prst="rect">
            <a:avLst/>
          </a:prstGeom>
        </p:spPr>
      </p:pic>
      <p:sp>
        <p:nvSpPr>
          <p:cNvPr id="75" name="Text 67"/>
          <p:cNvSpPr txBox="1"/>
          <p:nvPr/>
        </p:nvSpPr>
        <p:spPr>
          <a:xfrm>
            <a:off x="8942832" y="4151376"/>
            <a:ext cx="2560320" cy="292608"/>
          </a:xfrm>
          <a:prstGeom prst="rect">
            <a:avLst/>
          </a:prstGeom>
          <a:noFill/>
          <a:ln/>
        </p:spPr>
        <p:txBody>
          <a:bodyPr wrap="square" lIns="0" tIns="0" rIns="0" bIns="0" rtlCol="0" anchor="t"/>
          <a:lstStyle/>
          <a:p>
            <a:pPr algn="l" indent="0" marL="0">
              <a:buNone/>
            </a:pPr>
            <a:r>
              <a:rPr lang="en-US" sz="1700" b="1" dirty="0">
                <a:solidFill>
                  <a:srgbClr val="0F172A"/>
                </a:solidFill>
                <a:latin typeface="Calibri" pitchFamily="34" charset="0"/>
                <a:ea typeface="Calibri" pitchFamily="34" charset="-122"/>
                <a:cs typeface="Calibri" pitchFamily="34" charset="-120"/>
              </a:rPr>
              <a:t>Testing &amp; Build</a:t>
            </a:r>
            <a:endParaRPr lang="en-US" sz="1700" dirty="0"/>
          </a:p>
        </p:txBody>
      </p:sp>
      <p:sp>
        <p:nvSpPr>
          <p:cNvPr id="76" name="Text 68"/>
          <p:cNvSpPr txBox="1"/>
          <p:nvPr/>
        </p:nvSpPr>
        <p:spPr>
          <a:xfrm>
            <a:off x="8942832" y="4434840"/>
            <a:ext cx="2560320" cy="22860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Quality and delivery</a:t>
            </a:r>
            <a:endParaRPr lang="en-US" sz="1100" dirty="0"/>
          </a:p>
        </p:txBody>
      </p:sp>
      <p:sp>
        <p:nvSpPr>
          <p:cNvPr id="77" name="Shape 69"/>
          <p:cNvSpPr/>
          <p:nvPr/>
        </p:nvSpPr>
        <p:spPr>
          <a:xfrm>
            <a:off x="8302752" y="4800600"/>
            <a:ext cx="720547" cy="310896"/>
          </a:xfrm>
          <a:prstGeom prst="roundRect">
            <a:avLst>
              <a:gd name="adj" fmla="val 50000"/>
            </a:avLst>
          </a:prstGeom>
          <a:solidFill>
            <a:srgbClr val="FFFFFF"/>
          </a:solidFill>
          <a:ln w="12700">
            <a:solidFill>
              <a:srgbClr val="DDE1EC"/>
            </a:solidFill>
            <a:prstDash val="solid"/>
          </a:ln>
        </p:spPr>
      </p:sp>
      <p:sp>
        <p:nvSpPr>
          <p:cNvPr id="78" name="Text 70"/>
          <p:cNvSpPr txBox="1"/>
          <p:nvPr/>
        </p:nvSpPr>
        <p:spPr>
          <a:xfrm>
            <a:off x="8357616" y="4800600"/>
            <a:ext cx="61081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Vitest</a:t>
            </a:r>
            <a:endParaRPr lang="en-US" sz="1150" dirty="0"/>
          </a:p>
        </p:txBody>
      </p:sp>
      <p:sp>
        <p:nvSpPr>
          <p:cNvPr id="79" name="Shape 71"/>
          <p:cNvSpPr/>
          <p:nvPr/>
        </p:nvSpPr>
        <p:spPr>
          <a:xfrm>
            <a:off x="9096451" y="4800600"/>
            <a:ext cx="863194" cy="310896"/>
          </a:xfrm>
          <a:prstGeom prst="roundRect">
            <a:avLst>
              <a:gd name="adj" fmla="val 50000"/>
            </a:avLst>
          </a:prstGeom>
          <a:solidFill>
            <a:srgbClr val="FFFFFF"/>
          </a:solidFill>
          <a:ln w="12700">
            <a:solidFill>
              <a:srgbClr val="DDE1EC"/>
            </a:solidFill>
            <a:prstDash val="solid"/>
          </a:ln>
        </p:spPr>
      </p:sp>
      <p:sp>
        <p:nvSpPr>
          <p:cNvPr id="80" name="Text 72"/>
          <p:cNvSpPr txBox="1"/>
          <p:nvPr/>
        </p:nvSpPr>
        <p:spPr>
          <a:xfrm>
            <a:off x="9151315" y="4800600"/>
            <a:ext cx="753466"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axe-core</a:t>
            </a:r>
            <a:endParaRPr lang="en-US" sz="1150" dirty="0"/>
          </a:p>
        </p:txBody>
      </p:sp>
      <p:sp>
        <p:nvSpPr>
          <p:cNvPr id="81" name="Shape 73"/>
          <p:cNvSpPr/>
          <p:nvPr/>
        </p:nvSpPr>
        <p:spPr>
          <a:xfrm>
            <a:off x="10032797" y="4800600"/>
            <a:ext cx="791870" cy="310896"/>
          </a:xfrm>
          <a:prstGeom prst="roundRect">
            <a:avLst>
              <a:gd name="adj" fmla="val 50000"/>
            </a:avLst>
          </a:prstGeom>
          <a:solidFill>
            <a:srgbClr val="FFFFFF"/>
          </a:solidFill>
          <a:ln w="12700">
            <a:solidFill>
              <a:srgbClr val="DDE1EC"/>
            </a:solidFill>
            <a:prstDash val="solid"/>
          </a:ln>
        </p:spPr>
      </p:sp>
      <p:sp>
        <p:nvSpPr>
          <p:cNvPr id="82" name="Text 74"/>
          <p:cNvSpPr txBox="1"/>
          <p:nvPr/>
        </p:nvSpPr>
        <p:spPr>
          <a:xfrm>
            <a:off x="10087661" y="4800600"/>
            <a:ext cx="682142"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esbuild</a:t>
            </a:r>
            <a:endParaRPr lang="en-US" sz="1150" dirty="0"/>
          </a:p>
        </p:txBody>
      </p:sp>
      <p:sp>
        <p:nvSpPr>
          <p:cNvPr id="83" name="Shape 75"/>
          <p:cNvSpPr/>
          <p:nvPr/>
        </p:nvSpPr>
        <p:spPr>
          <a:xfrm>
            <a:off x="10897819" y="4800600"/>
            <a:ext cx="506578" cy="310896"/>
          </a:xfrm>
          <a:prstGeom prst="roundRect">
            <a:avLst>
              <a:gd name="adj" fmla="val 50000"/>
            </a:avLst>
          </a:prstGeom>
          <a:solidFill>
            <a:srgbClr val="FFFFFF"/>
          </a:solidFill>
          <a:ln w="12700">
            <a:solidFill>
              <a:srgbClr val="DDE1EC"/>
            </a:solidFill>
            <a:prstDash val="solid"/>
          </a:ln>
        </p:spPr>
      </p:sp>
      <p:sp>
        <p:nvSpPr>
          <p:cNvPr id="84" name="Text 76"/>
          <p:cNvSpPr txBox="1"/>
          <p:nvPr/>
        </p:nvSpPr>
        <p:spPr>
          <a:xfrm>
            <a:off x="10952683" y="4800600"/>
            <a:ext cx="396850"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tsx</a:t>
            </a:r>
            <a:endParaRPr lang="en-US" sz="1150" dirty="0"/>
          </a:p>
        </p:txBody>
      </p:sp>
      <p:sp>
        <p:nvSpPr>
          <p:cNvPr id="85" name="Shape 77"/>
          <p:cNvSpPr/>
          <p:nvPr/>
        </p:nvSpPr>
        <p:spPr>
          <a:xfrm>
            <a:off x="8302752" y="5184648"/>
            <a:ext cx="863194" cy="310896"/>
          </a:xfrm>
          <a:prstGeom prst="roundRect">
            <a:avLst>
              <a:gd name="adj" fmla="val 50000"/>
            </a:avLst>
          </a:prstGeom>
          <a:solidFill>
            <a:srgbClr val="FFFFFF"/>
          </a:solidFill>
          <a:ln w="12700">
            <a:solidFill>
              <a:srgbClr val="DDE1EC"/>
            </a:solidFill>
            <a:prstDash val="solid"/>
          </a:ln>
        </p:spPr>
      </p:sp>
      <p:sp>
        <p:nvSpPr>
          <p:cNvPr id="86" name="Text 78"/>
          <p:cNvSpPr txBox="1"/>
          <p:nvPr/>
        </p:nvSpPr>
        <p:spPr>
          <a:xfrm>
            <a:off x="8357616" y="5184648"/>
            <a:ext cx="753466"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Prettier</a:t>
            </a:r>
            <a:endParaRPr lang="en-US" sz="1150" dirty="0"/>
          </a:p>
        </p:txBody>
      </p:sp>
      <p:sp>
        <p:nvSpPr>
          <p:cNvPr id="87" name="Shape 79"/>
          <p:cNvSpPr/>
          <p:nvPr/>
        </p:nvSpPr>
        <p:spPr>
          <a:xfrm>
            <a:off x="9239098" y="5184648"/>
            <a:ext cx="720547" cy="310896"/>
          </a:xfrm>
          <a:prstGeom prst="roundRect">
            <a:avLst>
              <a:gd name="adj" fmla="val 50000"/>
            </a:avLst>
          </a:prstGeom>
          <a:solidFill>
            <a:srgbClr val="FFFFFF"/>
          </a:solidFill>
          <a:ln w="12700">
            <a:solidFill>
              <a:srgbClr val="DDE1EC"/>
            </a:solidFill>
            <a:prstDash val="solid"/>
          </a:ln>
        </p:spPr>
      </p:sp>
      <p:sp>
        <p:nvSpPr>
          <p:cNvPr id="88" name="Text 80"/>
          <p:cNvSpPr txBox="1"/>
          <p:nvPr/>
        </p:nvSpPr>
        <p:spPr>
          <a:xfrm>
            <a:off x="9293962" y="5184648"/>
            <a:ext cx="610819" cy="310896"/>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Docker</a:t>
            </a:r>
            <a:endParaRPr lang="en-US" sz="1150" dirty="0"/>
          </a:p>
        </p:txBody>
      </p:sp>
      <p:sp>
        <p:nvSpPr>
          <p:cNvPr id="89" name="Text 81"/>
          <p:cNvSpPr txBox="1"/>
          <p:nvPr/>
        </p:nvSpPr>
        <p:spPr>
          <a:xfrm>
            <a:off x="8302752" y="5833872"/>
            <a:ext cx="3154680" cy="338328"/>
          </a:xfrm>
          <a:prstGeom prst="rect">
            <a:avLst/>
          </a:prstGeom>
          <a:noFill/>
          <a:ln/>
        </p:spPr>
        <p:txBody>
          <a:bodyPr wrap="square" lIns="0" tIns="0" rIns="0" bIns="0" rtlCol="0" anchor="b"/>
          <a:lstStyle/>
          <a:p>
            <a:pPr algn="l" indent="0" marL="0">
              <a:buNone/>
            </a:pPr>
            <a:r>
              <a:rPr lang="en-US" sz="1000" i="1" dirty="0">
                <a:solidFill>
                  <a:srgbClr val="5B6478"/>
                </a:solidFill>
                <a:latin typeface="Calibri" pitchFamily="34" charset="0"/>
                <a:ea typeface="Calibri" pitchFamily="34" charset="-122"/>
                <a:cs typeface="Calibri" pitchFamily="34" charset="-120"/>
              </a:rPr>
              <a:t>Tests run against a real MySQL test database</a:t>
            </a:r>
            <a:endParaRPr lang="en-US" sz="1000" dirty="0"/>
          </a:p>
        </p:txBody>
      </p:sp>
      <p:sp>
        <p:nvSpPr>
          <p:cNvPr id="90" name="Text 82"/>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91" name="Text 83"/>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05  ·  SYSTEM ARCHITECTURE</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How QueueSense Works</a:t>
            </a:r>
            <a:endParaRPr lang="en-US" sz="3000" dirty="0"/>
          </a:p>
        </p:txBody>
      </p:sp>
      <p:sp>
        <p:nvSpPr>
          <p:cNvPr id="4" name="Text 2"/>
          <p:cNvSpPr txBox="1"/>
          <p:nvPr/>
        </p:nvSpPr>
        <p:spPr>
          <a:xfrm>
            <a:off x="548640" y="1481328"/>
            <a:ext cx="1463040" cy="228600"/>
          </a:xfrm>
          <a:prstGeom prst="rect">
            <a:avLst/>
          </a:prstGeom>
          <a:noFill/>
          <a:ln/>
        </p:spPr>
        <p:txBody>
          <a:bodyPr wrap="square" lIns="0" tIns="0" rIns="0" bIns="0" rtlCol="0" anchor="t"/>
          <a:lstStyle/>
          <a:p>
            <a:pPr algn="l" indent="0" marL="0">
              <a:buNone/>
            </a:pPr>
            <a:r>
              <a:rPr lang="en-US" sz="1000" b="1" spc="200" kern="0" dirty="0">
                <a:solidFill>
                  <a:srgbClr val="5B6478"/>
                </a:solidFill>
                <a:latin typeface="Calibri" pitchFamily="34" charset="0"/>
                <a:ea typeface="Calibri" pitchFamily="34" charset="-122"/>
                <a:cs typeface="Calibri" pitchFamily="34" charset="-120"/>
              </a:rPr>
              <a:t>USERS</a:t>
            </a:r>
            <a:endParaRPr lang="en-US" sz="1000" dirty="0"/>
          </a:p>
        </p:txBody>
      </p:sp>
      <p:sp>
        <p:nvSpPr>
          <p:cNvPr id="5" name="Shape 3"/>
          <p:cNvSpPr/>
          <p:nvPr/>
        </p:nvSpPr>
        <p:spPr>
          <a:xfrm>
            <a:off x="548640" y="1828800"/>
            <a:ext cx="1463040" cy="731520"/>
          </a:xfrm>
          <a:prstGeom prst="roundRect">
            <a:avLst>
              <a:gd name="adj" fmla="val 17500"/>
            </a:avLst>
          </a:prstGeom>
          <a:solidFill>
            <a:srgbClr val="EDE9FE"/>
          </a:solidFill>
          <a:ln/>
        </p:spPr>
      </p:sp>
      <p:pic>
        <p:nvPicPr>
          <p:cNvPr id="6" name="Image 0" descr="preencoded.png">    </p:cNvPr>
          <p:cNvPicPr>
            <a:picLocks noChangeAspect="1"/>
          </p:cNvPicPr>
          <p:nvPr/>
        </p:nvPicPr>
        <p:blipFill>
          <a:blip r:embed="rId1"/>
          <a:stretch>
            <a:fillRect/>
          </a:stretch>
        </p:blipFill>
        <p:spPr>
          <a:xfrm>
            <a:off x="713232" y="2048256"/>
            <a:ext cx="292608" cy="292608"/>
          </a:xfrm>
          <a:prstGeom prst="rect">
            <a:avLst/>
          </a:prstGeom>
        </p:spPr>
      </p:pic>
      <p:sp>
        <p:nvSpPr>
          <p:cNvPr id="7" name="Text 4"/>
          <p:cNvSpPr txBox="1"/>
          <p:nvPr/>
        </p:nvSpPr>
        <p:spPr>
          <a:xfrm>
            <a:off x="1097280" y="1828800"/>
            <a:ext cx="868680" cy="731520"/>
          </a:xfrm>
          <a:prstGeom prst="rect">
            <a:avLst/>
          </a:prstGeom>
          <a:noFill/>
          <a:ln/>
        </p:spPr>
        <p:txBody>
          <a:bodyPr wrap="square" lIns="0" tIns="0" rIns="0" bIns="0" rtlCol="0" anchor="ctr"/>
          <a:lstStyle/>
          <a:p>
            <a:pPr algn="l" indent="0" marL="0">
              <a:buNone/>
            </a:pPr>
            <a:r>
              <a:rPr lang="en-US" sz="1400" b="1" dirty="0">
                <a:solidFill>
                  <a:srgbClr val="4C1D95"/>
                </a:solidFill>
                <a:latin typeface="Calibri" pitchFamily="34" charset="0"/>
                <a:ea typeface="Calibri" pitchFamily="34" charset="-122"/>
                <a:cs typeface="Calibri" pitchFamily="34" charset="-120"/>
              </a:rPr>
              <a:t>Student</a:t>
            </a:r>
            <a:endParaRPr lang="en-US" sz="1400" dirty="0"/>
          </a:p>
        </p:txBody>
      </p:sp>
      <p:sp>
        <p:nvSpPr>
          <p:cNvPr id="8" name="Shape 5"/>
          <p:cNvSpPr/>
          <p:nvPr/>
        </p:nvSpPr>
        <p:spPr>
          <a:xfrm>
            <a:off x="2029968" y="2194560"/>
            <a:ext cx="466344" cy="0"/>
          </a:xfrm>
          <a:prstGeom prst="line">
            <a:avLst/>
          </a:prstGeom>
          <a:noFill/>
          <a:ln w="19050">
            <a:solidFill>
              <a:srgbClr val="8A93A8"/>
            </a:solidFill>
            <a:prstDash val="solid"/>
            <a:tailEnd type="triangle"/>
          </a:ln>
        </p:spPr>
      </p:sp>
      <p:sp>
        <p:nvSpPr>
          <p:cNvPr id="9" name="Shape 6"/>
          <p:cNvSpPr/>
          <p:nvPr/>
        </p:nvSpPr>
        <p:spPr>
          <a:xfrm>
            <a:off x="548640" y="2788920"/>
            <a:ext cx="1463040" cy="731520"/>
          </a:xfrm>
          <a:prstGeom prst="roundRect">
            <a:avLst>
              <a:gd name="adj" fmla="val 17500"/>
            </a:avLst>
          </a:prstGeom>
          <a:solidFill>
            <a:srgbClr val="EDE9FE"/>
          </a:solidFill>
          <a:ln/>
        </p:spPr>
      </p:sp>
      <p:pic>
        <p:nvPicPr>
          <p:cNvPr id="10" name="Image 1" descr="preencoded.png">    </p:cNvPr>
          <p:cNvPicPr>
            <a:picLocks noChangeAspect="1"/>
          </p:cNvPicPr>
          <p:nvPr/>
        </p:nvPicPr>
        <p:blipFill>
          <a:blip r:embed="rId2"/>
          <a:stretch>
            <a:fillRect/>
          </a:stretch>
        </p:blipFill>
        <p:spPr>
          <a:xfrm>
            <a:off x="713232" y="3008376"/>
            <a:ext cx="292608" cy="292608"/>
          </a:xfrm>
          <a:prstGeom prst="rect">
            <a:avLst/>
          </a:prstGeom>
        </p:spPr>
      </p:pic>
      <p:sp>
        <p:nvSpPr>
          <p:cNvPr id="11" name="Text 7"/>
          <p:cNvSpPr txBox="1"/>
          <p:nvPr/>
        </p:nvSpPr>
        <p:spPr>
          <a:xfrm>
            <a:off x="1097280" y="2788920"/>
            <a:ext cx="868680" cy="731520"/>
          </a:xfrm>
          <a:prstGeom prst="rect">
            <a:avLst/>
          </a:prstGeom>
          <a:noFill/>
          <a:ln/>
        </p:spPr>
        <p:txBody>
          <a:bodyPr wrap="square" lIns="0" tIns="0" rIns="0" bIns="0" rtlCol="0" anchor="ctr"/>
          <a:lstStyle/>
          <a:p>
            <a:pPr algn="l" indent="0" marL="0">
              <a:buNone/>
            </a:pPr>
            <a:r>
              <a:rPr lang="en-US" sz="1400" b="1" dirty="0">
                <a:solidFill>
                  <a:srgbClr val="4C1D95"/>
                </a:solidFill>
                <a:latin typeface="Calibri" pitchFamily="34" charset="0"/>
                <a:ea typeface="Calibri" pitchFamily="34" charset="-122"/>
                <a:cs typeface="Calibri" pitchFamily="34" charset="-120"/>
              </a:rPr>
              <a:t>Staff</a:t>
            </a:r>
            <a:endParaRPr lang="en-US" sz="1400" dirty="0"/>
          </a:p>
        </p:txBody>
      </p:sp>
      <p:sp>
        <p:nvSpPr>
          <p:cNvPr id="12" name="Shape 8"/>
          <p:cNvSpPr/>
          <p:nvPr/>
        </p:nvSpPr>
        <p:spPr>
          <a:xfrm>
            <a:off x="2029968" y="3154680"/>
            <a:ext cx="466344" cy="0"/>
          </a:xfrm>
          <a:prstGeom prst="line">
            <a:avLst/>
          </a:prstGeom>
          <a:noFill/>
          <a:ln w="19050">
            <a:solidFill>
              <a:srgbClr val="8A93A8"/>
            </a:solidFill>
            <a:prstDash val="solid"/>
            <a:tailEnd type="triangle"/>
          </a:ln>
        </p:spPr>
      </p:sp>
      <p:sp>
        <p:nvSpPr>
          <p:cNvPr id="13" name="Shape 9"/>
          <p:cNvSpPr/>
          <p:nvPr/>
        </p:nvSpPr>
        <p:spPr>
          <a:xfrm>
            <a:off x="548640" y="3749040"/>
            <a:ext cx="1463040" cy="731520"/>
          </a:xfrm>
          <a:prstGeom prst="roundRect">
            <a:avLst>
              <a:gd name="adj" fmla="val 17500"/>
            </a:avLst>
          </a:prstGeom>
          <a:solidFill>
            <a:srgbClr val="EDE9FE"/>
          </a:solidFill>
          <a:ln/>
        </p:spPr>
      </p:sp>
      <p:pic>
        <p:nvPicPr>
          <p:cNvPr id="14" name="Image 2" descr="preencoded.png">    </p:cNvPr>
          <p:cNvPicPr>
            <a:picLocks noChangeAspect="1"/>
          </p:cNvPicPr>
          <p:nvPr/>
        </p:nvPicPr>
        <p:blipFill>
          <a:blip r:embed="rId3"/>
          <a:stretch>
            <a:fillRect/>
          </a:stretch>
        </p:blipFill>
        <p:spPr>
          <a:xfrm>
            <a:off x="713232" y="3968496"/>
            <a:ext cx="292608" cy="292608"/>
          </a:xfrm>
          <a:prstGeom prst="rect">
            <a:avLst/>
          </a:prstGeom>
        </p:spPr>
      </p:pic>
      <p:sp>
        <p:nvSpPr>
          <p:cNvPr id="15" name="Text 10"/>
          <p:cNvSpPr txBox="1"/>
          <p:nvPr/>
        </p:nvSpPr>
        <p:spPr>
          <a:xfrm>
            <a:off x="1097280" y="3749040"/>
            <a:ext cx="868680" cy="731520"/>
          </a:xfrm>
          <a:prstGeom prst="rect">
            <a:avLst/>
          </a:prstGeom>
          <a:noFill/>
          <a:ln/>
        </p:spPr>
        <p:txBody>
          <a:bodyPr wrap="square" lIns="0" tIns="0" rIns="0" bIns="0" rtlCol="0" anchor="ctr"/>
          <a:lstStyle/>
          <a:p>
            <a:pPr algn="l" indent="0" marL="0">
              <a:buNone/>
            </a:pPr>
            <a:r>
              <a:rPr lang="en-US" sz="1400" b="1" dirty="0">
                <a:solidFill>
                  <a:srgbClr val="4C1D95"/>
                </a:solidFill>
                <a:latin typeface="Calibri" pitchFamily="34" charset="0"/>
                <a:ea typeface="Calibri" pitchFamily="34" charset="-122"/>
                <a:cs typeface="Calibri" pitchFamily="34" charset="-120"/>
              </a:rPr>
              <a:t>Admin</a:t>
            </a:r>
            <a:endParaRPr lang="en-US" sz="1400" dirty="0"/>
          </a:p>
        </p:txBody>
      </p:sp>
      <p:sp>
        <p:nvSpPr>
          <p:cNvPr id="16" name="Shape 11"/>
          <p:cNvSpPr/>
          <p:nvPr/>
        </p:nvSpPr>
        <p:spPr>
          <a:xfrm>
            <a:off x="2029968" y="4114800"/>
            <a:ext cx="466344" cy="0"/>
          </a:xfrm>
          <a:prstGeom prst="line">
            <a:avLst/>
          </a:prstGeom>
          <a:noFill/>
          <a:ln w="19050">
            <a:solidFill>
              <a:srgbClr val="8A93A8"/>
            </a:solidFill>
            <a:prstDash val="solid"/>
            <a:tailEnd type="triangle"/>
          </a:ln>
        </p:spPr>
      </p:sp>
      <p:sp>
        <p:nvSpPr>
          <p:cNvPr id="17" name="Shape 12"/>
          <p:cNvSpPr/>
          <p:nvPr/>
        </p:nvSpPr>
        <p:spPr>
          <a:xfrm>
            <a:off x="2514600" y="1737360"/>
            <a:ext cx="1920240" cy="2743200"/>
          </a:xfrm>
          <a:prstGeom prst="roundRect">
            <a:avLst>
              <a:gd name="adj" fmla="val 7619"/>
            </a:avLst>
          </a:prstGeom>
          <a:solidFill>
            <a:srgbClr val="0B1026"/>
          </a:solidFill>
          <a:ln/>
        </p:spPr>
      </p:sp>
      <p:pic>
        <p:nvPicPr>
          <p:cNvPr id="18" name="Image 3" descr="preencoded.png">    </p:cNvPr>
          <p:cNvPicPr>
            <a:picLocks noChangeAspect="1"/>
          </p:cNvPicPr>
          <p:nvPr/>
        </p:nvPicPr>
        <p:blipFill>
          <a:blip r:embed="rId4"/>
          <a:stretch>
            <a:fillRect/>
          </a:stretch>
        </p:blipFill>
        <p:spPr>
          <a:xfrm>
            <a:off x="2697480" y="1920240"/>
            <a:ext cx="365760" cy="365760"/>
          </a:xfrm>
          <a:prstGeom prst="rect">
            <a:avLst/>
          </a:prstGeom>
        </p:spPr>
      </p:pic>
      <p:sp>
        <p:nvSpPr>
          <p:cNvPr id="19" name="Text 13"/>
          <p:cNvSpPr txBox="1"/>
          <p:nvPr/>
        </p:nvSpPr>
        <p:spPr>
          <a:xfrm>
            <a:off x="2697480" y="2377440"/>
            <a:ext cx="1645920" cy="548640"/>
          </a:xfrm>
          <a:prstGeom prst="rect">
            <a:avLst/>
          </a:prstGeom>
          <a:noFill/>
          <a:ln/>
        </p:spPr>
        <p:txBody>
          <a:bodyPr wrap="square" lIns="0" tIns="0" rIns="0" bIns="0" rtlCol="0" anchor="t"/>
          <a:lstStyle/>
          <a:p>
            <a:pPr algn="l" indent="0" marL="0">
              <a:buNone/>
            </a:pPr>
            <a:r>
              <a:rPr lang="en-US" sz="1400" b="1" dirty="0">
                <a:solidFill>
                  <a:srgbClr val="FFFFFF"/>
                </a:solidFill>
                <a:latin typeface="Calibri" pitchFamily="34" charset="0"/>
                <a:ea typeface="Calibri" pitchFamily="34" charset="-122"/>
                <a:cs typeface="Calibri" pitchFamily="34" charset="-120"/>
              </a:rPr>
              <a:t>React + TypeScript Frontend</a:t>
            </a:r>
            <a:endParaRPr lang="en-US" sz="1400" dirty="0"/>
          </a:p>
        </p:txBody>
      </p:sp>
      <p:sp>
        <p:nvSpPr>
          <p:cNvPr id="20" name="Text 14"/>
          <p:cNvSpPr txBox="1"/>
          <p:nvPr/>
        </p:nvSpPr>
        <p:spPr>
          <a:xfrm>
            <a:off x="2697480" y="2944368"/>
            <a:ext cx="1645920" cy="411480"/>
          </a:xfrm>
          <a:prstGeom prst="rect">
            <a:avLst/>
          </a:prstGeom>
          <a:noFill/>
          <a:ln/>
        </p:spPr>
        <p:txBody>
          <a:bodyPr wrap="square" lIns="0" tIns="0" rIns="0" bIns="0" rtlCol="0" anchor="t"/>
          <a:lstStyle/>
          <a:p>
            <a:pPr algn="l" indent="0" marL="0">
              <a:buNone/>
            </a:pPr>
            <a:r>
              <a:rPr lang="en-US" sz="1000" dirty="0">
                <a:solidFill>
                  <a:srgbClr val="A5B0CF"/>
                </a:solidFill>
                <a:latin typeface="Calibri" pitchFamily="34" charset="0"/>
                <a:ea typeface="Calibri" pitchFamily="34" charset="-122"/>
                <a:cs typeface="Calibri" pitchFamily="34" charset="-120"/>
              </a:rPr>
              <a:t>Vite · TanStack Query · Wouter</a:t>
            </a:r>
            <a:endParaRPr lang="en-US" sz="1000" dirty="0"/>
          </a:p>
        </p:txBody>
      </p:sp>
      <p:sp>
        <p:nvSpPr>
          <p:cNvPr id="21" name="Text 15"/>
          <p:cNvSpPr txBox="1"/>
          <p:nvPr/>
        </p:nvSpPr>
        <p:spPr>
          <a:xfrm>
            <a:off x="2697480" y="3474720"/>
            <a:ext cx="1645920" cy="822960"/>
          </a:xfrm>
          <a:prstGeom prst="rect">
            <a:avLst/>
          </a:prstGeom>
          <a:noFill/>
          <a:ln/>
        </p:spPr>
        <p:txBody>
          <a:bodyPr wrap="square" lIns="0" tIns="0" rIns="0" bIns="0" rtlCol="0" anchor="t"/>
          <a:lstStyle/>
          <a:p>
            <a:pPr algn="l" indent="0" marL="0">
              <a:buNone/>
            </a:pPr>
            <a:r>
              <a:rPr lang="en-US" sz="1050" dirty="0">
                <a:solidFill>
                  <a:srgbClr val="CBD5E1"/>
                </a:solidFill>
                <a:latin typeface="Calibri" pitchFamily="34" charset="0"/>
                <a:ea typeface="Calibri" pitchFamily="34" charset="-122"/>
                <a:cs typeface="Calibri" pitchFamily="34" charset="-120"/>
              </a:rPr>
              <a:t>Student ticket</a:t>
            </a:r>
            <a:endParaRPr lang="en-US" sz="1050" dirty="0"/>
          </a:p>
          <a:p>
            <a:pPr algn="l" indent="0" marL="0">
              <a:buNone/>
            </a:pPr>
            <a:r>
              <a:rPr lang="en-US" sz="1050" dirty="0">
                <a:solidFill>
                  <a:srgbClr val="CBD5E1"/>
                </a:solidFill>
                <a:latin typeface="Calibri" pitchFamily="34" charset="0"/>
                <a:ea typeface="Calibri" pitchFamily="34" charset="-122"/>
                <a:cs typeface="Calibri" pitchFamily="34" charset="-120"/>
              </a:rPr>
              <a:t>Staff console</a:t>
            </a:r>
            <a:endParaRPr lang="en-US" sz="1050" dirty="0"/>
          </a:p>
          <a:p>
            <a:pPr algn="l" indent="0" marL="0">
              <a:buNone/>
            </a:pPr>
            <a:r>
              <a:rPr lang="en-US" sz="1050" dirty="0">
                <a:solidFill>
                  <a:srgbClr val="CBD5E1"/>
                </a:solidFill>
                <a:latin typeface="Calibri" pitchFamily="34" charset="0"/>
                <a:ea typeface="Calibri" pitchFamily="34" charset="-122"/>
                <a:cs typeface="Calibri" pitchFamily="34" charset="-120"/>
              </a:rPr>
              <a:t>Admin dashboard</a:t>
            </a:r>
            <a:endParaRPr lang="en-US" sz="1050" dirty="0"/>
          </a:p>
        </p:txBody>
      </p:sp>
      <p:sp>
        <p:nvSpPr>
          <p:cNvPr id="22" name="Shape 16"/>
          <p:cNvSpPr/>
          <p:nvPr/>
        </p:nvSpPr>
        <p:spPr>
          <a:xfrm>
            <a:off x="2514600" y="4800600"/>
            <a:ext cx="1920240" cy="1371600"/>
          </a:xfrm>
          <a:prstGeom prst="roundRect">
            <a:avLst>
              <a:gd name="adj" fmla="val 10667"/>
            </a:avLst>
          </a:prstGeom>
          <a:solidFill>
            <a:srgbClr val="F3F4F9"/>
          </a:solidFill>
          <a:ln w="12700">
            <a:solidFill>
              <a:srgbClr val="DDE1EC"/>
            </a:solidFill>
            <a:prstDash val="solid"/>
          </a:ln>
        </p:spPr>
      </p:sp>
      <p:pic>
        <p:nvPicPr>
          <p:cNvPr id="23" name="Image 4" descr="preencoded.png">    </p:cNvPr>
          <p:cNvPicPr>
            <a:picLocks noChangeAspect="1"/>
          </p:cNvPicPr>
          <p:nvPr/>
        </p:nvPicPr>
        <p:blipFill>
          <a:blip r:embed="rId5"/>
          <a:stretch>
            <a:fillRect/>
          </a:stretch>
        </p:blipFill>
        <p:spPr>
          <a:xfrm>
            <a:off x="2697480" y="4956048"/>
            <a:ext cx="310896" cy="310896"/>
          </a:xfrm>
          <a:prstGeom prst="rect">
            <a:avLst/>
          </a:prstGeom>
        </p:spPr>
      </p:pic>
      <p:sp>
        <p:nvSpPr>
          <p:cNvPr id="24" name="Text 17"/>
          <p:cNvSpPr txBox="1"/>
          <p:nvPr/>
        </p:nvSpPr>
        <p:spPr>
          <a:xfrm>
            <a:off x="3063240" y="4956048"/>
            <a:ext cx="1325880" cy="310896"/>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Camera (in browser)</a:t>
            </a:r>
            <a:endParaRPr lang="en-US" sz="1150" dirty="0"/>
          </a:p>
        </p:txBody>
      </p:sp>
      <p:sp>
        <p:nvSpPr>
          <p:cNvPr id="25" name="Text 18"/>
          <p:cNvSpPr txBox="1"/>
          <p:nvPr/>
        </p:nvSpPr>
        <p:spPr>
          <a:xfrm>
            <a:off x="2697480" y="5376672"/>
            <a:ext cx="1691640" cy="640080"/>
          </a:xfrm>
          <a:prstGeom prst="rect">
            <a:avLst/>
          </a:prstGeom>
          <a:noFill/>
          <a:ln/>
        </p:spPr>
        <p:txBody>
          <a:bodyPr wrap="square" lIns="0" tIns="0" rIns="0" bIns="0" rtlCol="0" anchor="t"/>
          <a:lstStyle/>
          <a:p>
            <a:pPr algn="l" indent="0" marL="0">
              <a:buNone/>
            </a:pPr>
            <a:r>
              <a:rPr lang="en-US" sz="1000" dirty="0">
                <a:solidFill>
                  <a:srgbClr val="5B6478"/>
                </a:solidFill>
                <a:latin typeface="Calibri" pitchFamily="34" charset="0"/>
                <a:ea typeface="Calibri" pitchFamily="34" charset="-122"/>
                <a:cs typeface="Calibri" pitchFamily="34" charset="-120"/>
              </a:rPr>
              <a:t>TensorFlow.js · COCO-SSD</a:t>
            </a:r>
            <a:endParaRPr lang="en-US" sz="1000" dirty="0"/>
          </a:p>
          <a:p>
            <a:pPr algn="l" indent="0" marL="0">
              <a:buNone/>
            </a:pPr>
            <a:r>
              <a:rPr lang="en-US" sz="1000" dirty="0">
                <a:solidFill>
                  <a:srgbClr val="5B6478"/>
                </a:solidFill>
                <a:latin typeface="Calibri" pitchFamily="34" charset="0"/>
                <a:ea typeface="Calibri" pitchFamily="34" charset="-122"/>
                <a:cs typeface="Calibri" pitchFamily="34" charset="-120"/>
              </a:rPr>
              <a:t>No video stored · no faces</a:t>
            </a:r>
            <a:endParaRPr lang="en-US" sz="1000" dirty="0"/>
          </a:p>
        </p:txBody>
      </p:sp>
      <p:sp>
        <p:nvSpPr>
          <p:cNvPr id="26" name="Shape 19"/>
          <p:cNvSpPr/>
          <p:nvPr/>
        </p:nvSpPr>
        <p:spPr>
          <a:xfrm>
            <a:off x="5806440" y="1463040"/>
            <a:ext cx="3474720" cy="4709160"/>
          </a:xfrm>
          <a:prstGeom prst="roundRect">
            <a:avLst>
              <a:gd name="adj" fmla="val 4737"/>
            </a:avLst>
          </a:prstGeom>
          <a:solidFill>
            <a:srgbClr val="F3F4F9"/>
          </a:solidFill>
          <a:ln w="19050">
            <a:solidFill>
              <a:srgbClr val="C4B5FD"/>
            </a:solidFill>
            <a:prstDash val="solid"/>
          </a:ln>
        </p:spPr>
      </p:sp>
      <p:pic>
        <p:nvPicPr>
          <p:cNvPr id="27" name="Image 5" descr="preencoded.png">    </p:cNvPr>
          <p:cNvPicPr>
            <a:picLocks noChangeAspect="1"/>
          </p:cNvPicPr>
          <p:nvPr/>
        </p:nvPicPr>
        <p:blipFill>
          <a:blip r:embed="rId6"/>
          <a:stretch>
            <a:fillRect/>
          </a:stretch>
        </p:blipFill>
        <p:spPr>
          <a:xfrm>
            <a:off x="5989320" y="1600200"/>
            <a:ext cx="329184" cy="329184"/>
          </a:xfrm>
          <a:prstGeom prst="rect">
            <a:avLst/>
          </a:prstGeom>
        </p:spPr>
      </p:pic>
      <p:sp>
        <p:nvSpPr>
          <p:cNvPr id="28" name="Text 20"/>
          <p:cNvSpPr txBox="1"/>
          <p:nvPr/>
        </p:nvSpPr>
        <p:spPr>
          <a:xfrm>
            <a:off x="6400800" y="1572768"/>
            <a:ext cx="2743200" cy="384048"/>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Express + tRPC Backend</a:t>
            </a:r>
            <a:endParaRPr lang="en-US" sz="1500" dirty="0"/>
          </a:p>
        </p:txBody>
      </p:sp>
      <p:sp>
        <p:nvSpPr>
          <p:cNvPr id="29" name="Text 21"/>
          <p:cNvSpPr txBox="1"/>
          <p:nvPr/>
        </p:nvSpPr>
        <p:spPr>
          <a:xfrm>
            <a:off x="8503920" y="1572768"/>
            <a:ext cx="594360" cy="384048"/>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Node.js</a:t>
            </a:r>
            <a:endParaRPr lang="en-US" sz="1000" dirty="0"/>
          </a:p>
        </p:txBody>
      </p:sp>
      <p:sp>
        <p:nvSpPr>
          <p:cNvPr id="30" name="Text 22"/>
          <p:cNvSpPr txBox="1"/>
          <p:nvPr/>
        </p:nvSpPr>
        <p:spPr>
          <a:xfrm>
            <a:off x="5989320" y="2029968"/>
            <a:ext cx="2743200" cy="201168"/>
          </a:xfrm>
          <a:prstGeom prst="rect">
            <a:avLst/>
          </a:prstGeom>
          <a:noFill/>
          <a:ln/>
        </p:spPr>
        <p:txBody>
          <a:bodyPr wrap="square" lIns="0" tIns="0" rIns="0" bIns="0" rtlCol="0" anchor="t"/>
          <a:lstStyle/>
          <a:p>
            <a:pPr algn="l" indent="0" marL="0">
              <a:buNone/>
            </a:pPr>
            <a:r>
              <a:rPr lang="en-US" sz="900" b="1" spc="200" kern="0" dirty="0">
                <a:solidFill>
                  <a:srgbClr val="5B6478"/>
                </a:solidFill>
                <a:latin typeface="Calibri" pitchFamily="34" charset="0"/>
                <a:ea typeface="Calibri" pitchFamily="34" charset="-122"/>
                <a:cs typeface="Calibri" pitchFamily="34" charset="-120"/>
              </a:rPr>
              <a:t>SECURITY CONTROLS</a:t>
            </a:r>
            <a:endParaRPr lang="en-US" sz="900" dirty="0"/>
          </a:p>
        </p:txBody>
      </p:sp>
      <p:sp>
        <p:nvSpPr>
          <p:cNvPr id="31" name="Shape 23"/>
          <p:cNvSpPr/>
          <p:nvPr/>
        </p:nvSpPr>
        <p:spPr>
          <a:xfrm>
            <a:off x="5989320" y="2286000"/>
            <a:ext cx="1490472" cy="384048"/>
          </a:xfrm>
          <a:prstGeom prst="roundRect">
            <a:avLst>
              <a:gd name="adj" fmla="val 19048"/>
            </a:avLst>
          </a:prstGeom>
          <a:solidFill>
            <a:srgbClr val="FFFFFF"/>
          </a:solidFill>
          <a:ln w="12700">
            <a:solidFill>
              <a:srgbClr val="DDE1EC"/>
            </a:solidFill>
            <a:prstDash val="solid"/>
          </a:ln>
        </p:spPr>
      </p:sp>
      <p:sp>
        <p:nvSpPr>
          <p:cNvPr id="32" name="Text 24"/>
          <p:cNvSpPr txBox="1"/>
          <p:nvPr/>
        </p:nvSpPr>
        <p:spPr>
          <a:xfrm>
            <a:off x="6044184" y="2286000"/>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Authentication</a:t>
            </a:r>
            <a:endParaRPr lang="en-US" sz="1100" dirty="0"/>
          </a:p>
        </p:txBody>
      </p:sp>
      <p:sp>
        <p:nvSpPr>
          <p:cNvPr id="33" name="Shape 25"/>
          <p:cNvSpPr/>
          <p:nvPr/>
        </p:nvSpPr>
        <p:spPr>
          <a:xfrm>
            <a:off x="7607808" y="2286000"/>
            <a:ext cx="1490472" cy="384048"/>
          </a:xfrm>
          <a:prstGeom prst="roundRect">
            <a:avLst>
              <a:gd name="adj" fmla="val 19048"/>
            </a:avLst>
          </a:prstGeom>
          <a:solidFill>
            <a:srgbClr val="FFFFFF"/>
          </a:solidFill>
          <a:ln w="12700">
            <a:solidFill>
              <a:srgbClr val="DDE1EC"/>
            </a:solidFill>
            <a:prstDash val="solid"/>
          </a:ln>
        </p:spPr>
      </p:sp>
      <p:sp>
        <p:nvSpPr>
          <p:cNvPr id="34" name="Text 26"/>
          <p:cNvSpPr txBox="1"/>
          <p:nvPr/>
        </p:nvSpPr>
        <p:spPr>
          <a:xfrm>
            <a:off x="7662672" y="2286000"/>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RBAC</a:t>
            </a:r>
            <a:endParaRPr lang="en-US" sz="1100" dirty="0"/>
          </a:p>
        </p:txBody>
      </p:sp>
      <p:sp>
        <p:nvSpPr>
          <p:cNvPr id="35" name="Shape 27"/>
          <p:cNvSpPr/>
          <p:nvPr/>
        </p:nvSpPr>
        <p:spPr>
          <a:xfrm>
            <a:off x="5989320" y="2761488"/>
            <a:ext cx="1490472" cy="384048"/>
          </a:xfrm>
          <a:prstGeom prst="roundRect">
            <a:avLst>
              <a:gd name="adj" fmla="val 19048"/>
            </a:avLst>
          </a:prstGeom>
          <a:solidFill>
            <a:srgbClr val="FFFFFF"/>
          </a:solidFill>
          <a:ln w="12700">
            <a:solidFill>
              <a:srgbClr val="DDE1EC"/>
            </a:solidFill>
            <a:prstDash val="solid"/>
          </a:ln>
        </p:spPr>
      </p:sp>
      <p:sp>
        <p:nvSpPr>
          <p:cNvPr id="36" name="Text 28"/>
          <p:cNvSpPr txBox="1"/>
          <p:nvPr/>
        </p:nvSpPr>
        <p:spPr>
          <a:xfrm>
            <a:off x="6044184" y="2761488"/>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Zod Validation</a:t>
            </a:r>
            <a:endParaRPr lang="en-US" sz="1100" dirty="0"/>
          </a:p>
        </p:txBody>
      </p:sp>
      <p:sp>
        <p:nvSpPr>
          <p:cNvPr id="37" name="Shape 29"/>
          <p:cNvSpPr/>
          <p:nvPr/>
        </p:nvSpPr>
        <p:spPr>
          <a:xfrm>
            <a:off x="7607808" y="2761488"/>
            <a:ext cx="1490472" cy="384048"/>
          </a:xfrm>
          <a:prstGeom prst="roundRect">
            <a:avLst>
              <a:gd name="adj" fmla="val 19048"/>
            </a:avLst>
          </a:prstGeom>
          <a:solidFill>
            <a:srgbClr val="FFFFFF"/>
          </a:solidFill>
          <a:ln w="12700">
            <a:solidFill>
              <a:srgbClr val="DDE1EC"/>
            </a:solidFill>
            <a:prstDash val="solid"/>
          </a:ln>
        </p:spPr>
      </p:sp>
      <p:sp>
        <p:nvSpPr>
          <p:cNvPr id="38" name="Text 30"/>
          <p:cNvSpPr txBox="1"/>
          <p:nvPr/>
        </p:nvSpPr>
        <p:spPr>
          <a:xfrm>
            <a:off x="7662672" y="2761488"/>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Object Authorization</a:t>
            </a:r>
            <a:endParaRPr lang="en-US" sz="1100" dirty="0"/>
          </a:p>
        </p:txBody>
      </p:sp>
      <p:sp>
        <p:nvSpPr>
          <p:cNvPr id="39" name="Shape 31"/>
          <p:cNvSpPr/>
          <p:nvPr/>
        </p:nvSpPr>
        <p:spPr>
          <a:xfrm>
            <a:off x="5989320" y="3236976"/>
            <a:ext cx="1490472" cy="384048"/>
          </a:xfrm>
          <a:prstGeom prst="roundRect">
            <a:avLst>
              <a:gd name="adj" fmla="val 19048"/>
            </a:avLst>
          </a:prstGeom>
          <a:solidFill>
            <a:srgbClr val="FFFFFF"/>
          </a:solidFill>
          <a:ln w="12700">
            <a:solidFill>
              <a:srgbClr val="DDE1EC"/>
            </a:solidFill>
            <a:prstDash val="solid"/>
          </a:ln>
        </p:spPr>
      </p:sp>
      <p:sp>
        <p:nvSpPr>
          <p:cNvPr id="40" name="Text 32"/>
          <p:cNvSpPr txBox="1"/>
          <p:nvPr/>
        </p:nvSpPr>
        <p:spPr>
          <a:xfrm>
            <a:off x="6044184" y="3236976"/>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Rate Limiting</a:t>
            </a:r>
            <a:endParaRPr lang="en-US" sz="1100" dirty="0"/>
          </a:p>
        </p:txBody>
      </p:sp>
      <p:sp>
        <p:nvSpPr>
          <p:cNvPr id="41" name="Shape 33"/>
          <p:cNvSpPr/>
          <p:nvPr/>
        </p:nvSpPr>
        <p:spPr>
          <a:xfrm>
            <a:off x="7607808" y="3236976"/>
            <a:ext cx="1490472" cy="384048"/>
          </a:xfrm>
          <a:prstGeom prst="roundRect">
            <a:avLst>
              <a:gd name="adj" fmla="val 19048"/>
            </a:avLst>
          </a:prstGeom>
          <a:solidFill>
            <a:srgbClr val="FFFFFF"/>
          </a:solidFill>
          <a:ln w="12700">
            <a:solidFill>
              <a:srgbClr val="DDE1EC"/>
            </a:solidFill>
            <a:prstDash val="solid"/>
          </a:ln>
        </p:spPr>
      </p:sp>
      <p:sp>
        <p:nvSpPr>
          <p:cNvPr id="42" name="Text 34"/>
          <p:cNvSpPr txBox="1"/>
          <p:nvPr/>
        </p:nvSpPr>
        <p:spPr>
          <a:xfrm>
            <a:off x="7662672" y="3236976"/>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CSP · HSTS</a:t>
            </a:r>
            <a:endParaRPr lang="en-US" sz="1100" dirty="0"/>
          </a:p>
        </p:txBody>
      </p:sp>
      <p:sp>
        <p:nvSpPr>
          <p:cNvPr id="43" name="Text 35"/>
          <p:cNvSpPr txBox="1"/>
          <p:nvPr/>
        </p:nvSpPr>
        <p:spPr>
          <a:xfrm>
            <a:off x="5989320" y="3749040"/>
            <a:ext cx="2743200" cy="201168"/>
          </a:xfrm>
          <a:prstGeom prst="rect">
            <a:avLst/>
          </a:prstGeom>
          <a:noFill/>
          <a:ln/>
        </p:spPr>
        <p:txBody>
          <a:bodyPr wrap="square" lIns="0" tIns="0" rIns="0" bIns="0" rtlCol="0" anchor="t"/>
          <a:lstStyle/>
          <a:p>
            <a:pPr algn="l" indent="0" marL="0">
              <a:buNone/>
            </a:pPr>
            <a:r>
              <a:rPr lang="en-US" sz="900" b="1" spc="200" kern="0" dirty="0">
                <a:solidFill>
                  <a:srgbClr val="5B6478"/>
                </a:solidFill>
                <a:latin typeface="Calibri" pitchFamily="34" charset="0"/>
                <a:ea typeface="Calibri" pitchFamily="34" charset="-122"/>
                <a:cs typeface="Calibri" pitchFamily="34" charset="-120"/>
              </a:rPr>
              <a:t>CORE</a:t>
            </a:r>
            <a:endParaRPr lang="en-US" sz="900" dirty="0"/>
          </a:p>
        </p:txBody>
      </p:sp>
      <p:sp>
        <p:nvSpPr>
          <p:cNvPr id="44" name="Shape 36"/>
          <p:cNvSpPr/>
          <p:nvPr/>
        </p:nvSpPr>
        <p:spPr>
          <a:xfrm>
            <a:off x="5989320" y="4005072"/>
            <a:ext cx="3108960" cy="566928"/>
          </a:xfrm>
          <a:prstGeom prst="roundRect">
            <a:avLst>
              <a:gd name="adj" fmla="val 16129"/>
            </a:avLst>
          </a:prstGeom>
          <a:solidFill>
            <a:srgbClr val="6D28D9"/>
          </a:solidFill>
          <a:ln/>
        </p:spPr>
      </p:sp>
      <p:pic>
        <p:nvPicPr>
          <p:cNvPr id="45" name="Image 6" descr="preencoded.png">    </p:cNvPr>
          <p:cNvPicPr>
            <a:picLocks noChangeAspect="1"/>
          </p:cNvPicPr>
          <p:nvPr/>
        </p:nvPicPr>
        <p:blipFill>
          <a:blip r:embed="rId7"/>
          <a:stretch>
            <a:fillRect/>
          </a:stretch>
        </p:blipFill>
        <p:spPr>
          <a:xfrm>
            <a:off x="6172200" y="4142232"/>
            <a:ext cx="292608" cy="292608"/>
          </a:xfrm>
          <a:prstGeom prst="rect">
            <a:avLst/>
          </a:prstGeom>
        </p:spPr>
      </p:pic>
      <p:sp>
        <p:nvSpPr>
          <p:cNvPr id="46" name="Text 37"/>
          <p:cNvSpPr txBox="1"/>
          <p:nvPr/>
        </p:nvSpPr>
        <p:spPr>
          <a:xfrm>
            <a:off x="6556248" y="4005072"/>
            <a:ext cx="2011680" cy="566928"/>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Queue Engine</a:t>
            </a:r>
            <a:endParaRPr lang="en-US" sz="1500" dirty="0"/>
          </a:p>
        </p:txBody>
      </p:sp>
      <p:sp>
        <p:nvSpPr>
          <p:cNvPr id="47" name="Shape 38"/>
          <p:cNvSpPr/>
          <p:nvPr/>
        </p:nvSpPr>
        <p:spPr>
          <a:xfrm>
            <a:off x="5989320" y="4681728"/>
            <a:ext cx="1490472" cy="384048"/>
          </a:xfrm>
          <a:prstGeom prst="roundRect">
            <a:avLst>
              <a:gd name="adj" fmla="val 19048"/>
            </a:avLst>
          </a:prstGeom>
          <a:solidFill>
            <a:srgbClr val="FFFFFF"/>
          </a:solidFill>
          <a:ln w="12700">
            <a:solidFill>
              <a:srgbClr val="DDE1EC"/>
            </a:solidFill>
            <a:prstDash val="solid"/>
          </a:ln>
        </p:spPr>
      </p:sp>
      <p:sp>
        <p:nvSpPr>
          <p:cNvPr id="48" name="Text 39"/>
          <p:cNvSpPr txBox="1"/>
          <p:nvPr/>
        </p:nvSpPr>
        <p:spPr>
          <a:xfrm>
            <a:off x="6044184" y="4681728"/>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Wait Estimation</a:t>
            </a:r>
            <a:endParaRPr lang="en-US" sz="1100" dirty="0"/>
          </a:p>
        </p:txBody>
      </p:sp>
      <p:sp>
        <p:nvSpPr>
          <p:cNvPr id="49" name="Shape 40"/>
          <p:cNvSpPr/>
          <p:nvPr/>
        </p:nvSpPr>
        <p:spPr>
          <a:xfrm>
            <a:off x="7607808" y="4681728"/>
            <a:ext cx="1490472" cy="384048"/>
          </a:xfrm>
          <a:prstGeom prst="roundRect">
            <a:avLst>
              <a:gd name="adj" fmla="val 19048"/>
            </a:avLst>
          </a:prstGeom>
          <a:solidFill>
            <a:srgbClr val="FFFFFF"/>
          </a:solidFill>
          <a:ln w="12700">
            <a:solidFill>
              <a:srgbClr val="DDE1EC"/>
            </a:solidFill>
            <a:prstDash val="solid"/>
          </a:ln>
        </p:spPr>
      </p:sp>
      <p:sp>
        <p:nvSpPr>
          <p:cNvPr id="50" name="Text 41"/>
          <p:cNvSpPr txBox="1"/>
          <p:nvPr/>
        </p:nvSpPr>
        <p:spPr>
          <a:xfrm>
            <a:off x="7662672" y="4681728"/>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Notifications</a:t>
            </a:r>
            <a:endParaRPr lang="en-US" sz="1100" dirty="0"/>
          </a:p>
        </p:txBody>
      </p:sp>
      <p:sp>
        <p:nvSpPr>
          <p:cNvPr id="51" name="Shape 42"/>
          <p:cNvSpPr/>
          <p:nvPr/>
        </p:nvSpPr>
        <p:spPr>
          <a:xfrm>
            <a:off x="5989320" y="5157216"/>
            <a:ext cx="1490472" cy="384048"/>
          </a:xfrm>
          <a:prstGeom prst="roundRect">
            <a:avLst>
              <a:gd name="adj" fmla="val 19048"/>
            </a:avLst>
          </a:prstGeom>
          <a:solidFill>
            <a:srgbClr val="FFFFFF"/>
          </a:solidFill>
          <a:ln w="12700">
            <a:solidFill>
              <a:srgbClr val="DDE1EC"/>
            </a:solidFill>
            <a:prstDash val="solid"/>
          </a:ln>
        </p:spPr>
      </p:sp>
      <p:sp>
        <p:nvSpPr>
          <p:cNvPr id="52" name="Text 43"/>
          <p:cNvSpPr txBox="1"/>
          <p:nvPr/>
        </p:nvSpPr>
        <p:spPr>
          <a:xfrm>
            <a:off x="6044184" y="5157216"/>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Traffic Updates</a:t>
            </a:r>
            <a:endParaRPr lang="en-US" sz="1100" dirty="0"/>
          </a:p>
        </p:txBody>
      </p:sp>
      <p:sp>
        <p:nvSpPr>
          <p:cNvPr id="53" name="Shape 44"/>
          <p:cNvSpPr/>
          <p:nvPr/>
        </p:nvSpPr>
        <p:spPr>
          <a:xfrm>
            <a:off x="7607808" y="5157216"/>
            <a:ext cx="1490472" cy="384048"/>
          </a:xfrm>
          <a:prstGeom prst="roundRect">
            <a:avLst>
              <a:gd name="adj" fmla="val 19048"/>
            </a:avLst>
          </a:prstGeom>
          <a:solidFill>
            <a:srgbClr val="FFFFFF"/>
          </a:solidFill>
          <a:ln w="12700">
            <a:solidFill>
              <a:srgbClr val="DDE1EC"/>
            </a:solidFill>
            <a:prstDash val="solid"/>
          </a:ln>
        </p:spPr>
      </p:sp>
      <p:sp>
        <p:nvSpPr>
          <p:cNvPr id="54" name="Text 45"/>
          <p:cNvSpPr txBox="1"/>
          <p:nvPr/>
        </p:nvSpPr>
        <p:spPr>
          <a:xfrm>
            <a:off x="7662672" y="5157216"/>
            <a:ext cx="1380744" cy="384048"/>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Audit Logging</a:t>
            </a:r>
            <a:endParaRPr lang="en-US" sz="1100" dirty="0"/>
          </a:p>
        </p:txBody>
      </p:sp>
      <p:sp>
        <p:nvSpPr>
          <p:cNvPr id="55" name="Text 46"/>
          <p:cNvSpPr txBox="1"/>
          <p:nvPr/>
        </p:nvSpPr>
        <p:spPr>
          <a:xfrm>
            <a:off x="5989320" y="5687568"/>
            <a:ext cx="3108960" cy="274320"/>
          </a:xfrm>
          <a:prstGeom prst="rect">
            <a:avLst/>
          </a:prstGeom>
          <a:noFill/>
          <a:ln/>
        </p:spPr>
        <p:txBody>
          <a:bodyPr wrap="square" lIns="0" tIns="0" rIns="0" bIns="0" rtlCol="0" anchor="t"/>
          <a:lstStyle/>
          <a:p>
            <a:pPr algn="l" indent="0" marL="0">
              <a:buNone/>
            </a:pPr>
            <a:r>
              <a:rPr lang="en-US" sz="1100" b="1" i="1" dirty="0">
                <a:solidFill>
                  <a:srgbClr val="6D28D9"/>
                </a:solidFill>
                <a:latin typeface="Calibri" pitchFamily="34" charset="0"/>
                <a:ea typeface="Calibri" pitchFamily="34" charset="-122"/>
                <a:cs typeface="Calibri" pitchFamily="34" charset="-120"/>
              </a:rPr>
              <a:t>Server-authoritative queue state</a:t>
            </a:r>
            <a:endParaRPr lang="en-US" sz="1100" dirty="0"/>
          </a:p>
        </p:txBody>
      </p:sp>
      <p:sp>
        <p:nvSpPr>
          <p:cNvPr id="56" name="Text 47"/>
          <p:cNvSpPr txBox="1"/>
          <p:nvPr/>
        </p:nvSpPr>
        <p:spPr>
          <a:xfrm>
            <a:off x="4480560" y="2011680"/>
            <a:ext cx="1280160" cy="256032"/>
          </a:xfrm>
          <a:prstGeom prst="rect">
            <a:avLst/>
          </a:prstGeom>
          <a:noFill/>
          <a:ln/>
        </p:spPr>
        <p:txBody>
          <a:bodyPr wrap="square" lIns="0" tIns="0" rIns="0" bIns="0" rtlCol="0" anchor="t"/>
          <a:lstStyle/>
          <a:p>
            <a:pPr algn="ctr" indent="0" marL="0">
              <a:buNone/>
            </a:pPr>
            <a:r>
              <a:rPr lang="en-US" sz="1100" b="1" dirty="0">
                <a:solidFill>
                  <a:srgbClr val="0F172A"/>
                </a:solidFill>
                <a:latin typeface="Calibri" pitchFamily="34" charset="0"/>
                <a:ea typeface="Calibri" pitchFamily="34" charset="-122"/>
                <a:cs typeface="Calibri" pitchFamily="34" charset="-120"/>
              </a:rPr>
              <a:t>HTTPS / tRPC</a:t>
            </a:r>
            <a:endParaRPr lang="en-US" sz="1100" dirty="0"/>
          </a:p>
        </p:txBody>
      </p:sp>
      <p:sp>
        <p:nvSpPr>
          <p:cNvPr id="57" name="Shape 48"/>
          <p:cNvSpPr/>
          <p:nvPr/>
        </p:nvSpPr>
        <p:spPr>
          <a:xfrm>
            <a:off x="4453128" y="2331720"/>
            <a:ext cx="1335024" cy="0"/>
          </a:xfrm>
          <a:prstGeom prst="line">
            <a:avLst/>
          </a:prstGeom>
          <a:noFill/>
          <a:ln w="22225">
            <a:solidFill>
              <a:srgbClr val="0F172A"/>
            </a:solidFill>
            <a:prstDash val="solid"/>
            <a:tailEnd type="triangle"/>
          </a:ln>
        </p:spPr>
      </p:sp>
      <p:sp>
        <p:nvSpPr>
          <p:cNvPr id="58" name="Shape 49"/>
          <p:cNvSpPr/>
          <p:nvPr/>
        </p:nvSpPr>
        <p:spPr>
          <a:xfrm flipH="1">
            <a:off x="4453128" y="3886200"/>
            <a:ext cx="1335024" cy="0"/>
          </a:xfrm>
          <a:prstGeom prst="line">
            <a:avLst/>
          </a:prstGeom>
          <a:noFill/>
          <a:ln w="22225">
            <a:solidFill>
              <a:srgbClr val="6D28D9"/>
            </a:solidFill>
            <a:prstDash val="dash"/>
            <a:tailEnd type="triangle"/>
          </a:ln>
        </p:spPr>
      </p:sp>
      <p:sp>
        <p:nvSpPr>
          <p:cNvPr id="59" name="Shape 50"/>
          <p:cNvSpPr/>
          <p:nvPr/>
        </p:nvSpPr>
        <p:spPr>
          <a:xfrm>
            <a:off x="4507992" y="3401568"/>
            <a:ext cx="1225296" cy="310896"/>
          </a:xfrm>
          <a:prstGeom prst="roundRect">
            <a:avLst>
              <a:gd name="adj" fmla="val 50000"/>
            </a:avLst>
          </a:prstGeom>
          <a:solidFill>
            <a:srgbClr val="EDE9FE"/>
          </a:solidFill>
          <a:ln/>
        </p:spPr>
      </p:sp>
      <p:sp>
        <p:nvSpPr>
          <p:cNvPr id="60" name="Text 51"/>
          <p:cNvSpPr txBox="1"/>
          <p:nvPr/>
        </p:nvSpPr>
        <p:spPr>
          <a:xfrm>
            <a:off x="4562856" y="3401568"/>
            <a:ext cx="1115568" cy="310896"/>
          </a:xfrm>
          <a:prstGeom prst="rect">
            <a:avLst/>
          </a:prstGeom>
          <a:noFill/>
          <a:ln/>
        </p:spPr>
        <p:txBody>
          <a:bodyPr wrap="square" lIns="0" tIns="0" rIns="0" bIns="0" rtlCol="0" anchor="ctr"/>
          <a:lstStyle/>
          <a:p>
            <a:pPr algn="ctr" indent="0" marL="0">
              <a:buNone/>
            </a:pPr>
            <a:r>
              <a:rPr lang="en-US" sz="1000" b="1" dirty="0">
                <a:solidFill>
                  <a:srgbClr val="4C1D95"/>
                </a:solidFill>
                <a:latin typeface="Calibri" pitchFamily="34" charset="0"/>
                <a:ea typeface="Calibri" pitchFamily="34" charset="-122"/>
                <a:cs typeface="Calibri" pitchFamily="34" charset="-120"/>
              </a:rPr>
              <a:t>SSE · live events</a:t>
            </a:r>
            <a:endParaRPr lang="en-US" sz="1000" dirty="0"/>
          </a:p>
        </p:txBody>
      </p:sp>
      <p:sp>
        <p:nvSpPr>
          <p:cNvPr id="61" name="Shape 52"/>
          <p:cNvSpPr/>
          <p:nvPr/>
        </p:nvSpPr>
        <p:spPr>
          <a:xfrm>
            <a:off x="4453128" y="5486400"/>
            <a:ext cx="1335024" cy="0"/>
          </a:xfrm>
          <a:prstGeom prst="line">
            <a:avLst/>
          </a:prstGeom>
          <a:noFill/>
          <a:ln w="19050">
            <a:solidFill>
              <a:srgbClr val="8A93A8"/>
            </a:solidFill>
            <a:prstDash val="solid"/>
            <a:tailEnd type="triangle"/>
          </a:ln>
        </p:spPr>
      </p:sp>
      <p:sp>
        <p:nvSpPr>
          <p:cNvPr id="62" name="Text 53"/>
          <p:cNvSpPr txBox="1"/>
          <p:nvPr/>
        </p:nvSpPr>
        <p:spPr>
          <a:xfrm>
            <a:off x="4480560" y="5166360"/>
            <a:ext cx="1280160" cy="256032"/>
          </a:xfrm>
          <a:prstGeom prst="rect">
            <a:avLst/>
          </a:prstGeom>
          <a:noFill/>
          <a:ln/>
        </p:spPr>
        <p:txBody>
          <a:bodyPr wrap="square" lIns="0" tIns="0" rIns="0" bIns="0" rtlCol="0" anchor="t"/>
          <a:lstStyle/>
          <a:p>
            <a:pPr algn="ctr" indent="0" marL="0">
              <a:buNone/>
            </a:pPr>
            <a:r>
              <a:rPr lang="en-US" sz="1000" i="1" dirty="0">
                <a:solidFill>
                  <a:srgbClr val="5B6478"/>
                </a:solidFill>
                <a:latin typeface="Calibri" pitchFamily="34" charset="0"/>
                <a:ea typeface="Calibri" pitchFamily="34" charset="-122"/>
                <a:cs typeface="Calibri" pitchFamily="34" charset="-120"/>
              </a:rPr>
              <a:t>aggregate count</a:t>
            </a:r>
            <a:endParaRPr lang="en-US" sz="1000" dirty="0"/>
          </a:p>
        </p:txBody>
      </p:sp>
      <p:sp>
        <p:nvSpPr>
          <p:cNvPr id="63" name="Shape 54"/>
          <p:cNvSpPr/>
          <p:nvPr/>
        </p:nvSpPr>
        <p:spPr>
          <a:xfrm>
            <a:off x="9738360" y="1463040"/>
            <a:ext cx="1901952" cy="3063240"/>
          </a:xfrm>
          <a:prstGeom prst="roundRect">
            <a:avLst>
              <a:gd name="adj" fmla="val 7692"/>
            </a:avLst>
          </a:prstGeom>
          <a:solidFill>
            <a:srgbClr val="0B1026"/>
          </a:solidFill>
          <a:ln/>
        </p:spPr>
      </p:sp>
      <p:pic>
        <p:nvPicPr>
          <p:cNvPr id="64" name="Image 7" descr="preencoded.png">    </p:cNvPr>
          <p:cNvPicPr>
            <a:picLocks noChangeAspect="1"/>
          </p:cNvPicPr>
          <p:nvPr/>
        </p:nvPicPr>
        <p:blipFill>
          <a:blip r:embed="rId8"/>
          <a:stretch>
            <a:fillRect/>
          </a:stretch>
        </p:blipFill>
        <p:spPr>
          <a:xfrm>
            <a:off x="9921240" y="1627632"/>
            <a:ext cx="329184" cy="329184"/>
          </a:xfrm>
          <a:prstGeom prst="rect">
            <a:avLst/>
          </a:prstGeom>
        </p:spPr>
      </p:pic>
      <p:sp>
        <p:nvSpPr>
          <p:cNvPr id="65" name="Text 55"/>
          <p:cNvSpPr txBox="1"/>
          <p:nvPr/>
        </p:nvSpPr>
        <p:spPr>
          <a:xfrm>
            <a:off x="10332720" y="1572768"/>
            <a:ext cx="1280160" cy="502920"/>
          </a:xfrm>
          <a:prstGeom prst="rect">
            <a:avLst/>
          </a:prstGeom>
          <a:noFill/>
          <a:ln/>
        </p:spPr>
        <p:txBody>
          <a:bodyPr wrap="square" lIns="0" tIns="0" rIns="0" bIns="0" rtlCol="0" anchor="t"/>
          <a:lstStyle/>
          <a:p>
            <a:pPr algn="l" indent="0" marL="0">
              <a:buNone/>
            </a:pPr>
            <a:r>
              <a:rPr lang="en-US" sz="1250" b="1" dirty="0">
                <a:solidFill>
                  <a:srgbClr val="FFFFFF"/>
                </a:solidFill>
                <a:latin typeface="Calibri" pitchFamily="34" charset="0"/>
                <a:ea typeface="Calibri" pitchFamily="34" charset="-122"/>
                <a:cs typeface="Calibri" pitchFamily="34" charset="-120"/>
              </a:rPr>
              <a:t>MySQL 8</a:t>
            </a:r>
            <a:endParaRPr lang="en-US" sz="1250" dirty="0"/>
          </a:p>
          <a:p>
            <a:pPr algn="l" indent="0" marL="0">
              <a:buNone/>
            </a:pPr>
            <a:r>
              <a:rPr lang="en-US" sz="1250" b="1" dirty="0">
                <a:solidFill>
                  <a:srgbClr val="FFFFFF"/>
                </a:solidFill>
                <a:latin typeface="Calibri" pitchFamily="34" charset="0"/>
                <a:ea typeface="Calibri" pitchFamily="34" charset="-122"/>
                <a:cs typeface="Calibri" pitchFamily="34" charset="-120"/>
              </a:rPr>
              <a:t>+ Drizzle ORM</a:t>
            </a:r>
            <a:endParaRPr lang="en-US" sz="1250" dirty="0"/>
          </a:p>
        </p:txBody>
      </p:sp>
      <p:sp>
        <p:nvSpPr>
          <p:cNvPr id="66" name="Text 56"/>
          <p:cNvSpPr txBox="1"/>
          <p:nvPr/>
        </p:nvSpPr>
        <p:spPr>
          <a:xfrm>
            <a:off x="9921240" y="2212848"/>
            <a:ext cx="1645920" cy="1691640"/>
          </a:xfrm>
          <a:prstGeom prst="rect">
            <a:avLst/>
          </a:prstGeom>
          <a:noFill/>
          <a:ln/>
        </p:spPr>
        <p:txBody>
          <a:bodyPr wrap="square" lIns="0" tIns="0" rIns="0" bIns="0" rtlCol="0" anchor="t"/>
          <a:lstStyle/>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Users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Services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Queue Groups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Counters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Queue Entries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Notifications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Audit Logs</a:t>
            </a:r>
            <a:endParaRPr lang="en-US" sz="1050" dirty="0"/>
          </a:p>
          <a:p>
            <a:pPr algn="l" indent="0" marL="0">
              <a:lnSpc>
                <a:spcPct val="100000"/>
              </a:lnSpc>
              <a:buNone/>
            </a:pPr>
            <a:r>
              <a:rPr lang="en-US" sz="1050" dirty="0">
                <a:solidFill>
                  <a:srgbClr val="CBD5E1"/>
                </a:solidFill>
                <a:latin typeface="Calibri" pitchFamily="34" charset="0"/>
                <a:ea typeface="Calibri" pitchFamily="34" charset="-122"/>
                <a:cs typeface="Calibri" pitchFamily="34" charset="-120"/>
              </a:rPr>
              <a:t>Traffic / Ops Data</a:t>
            </a:r>
            <a:endParaRPr lang="en-US" sz="1050" dirty="0"/>
          </a:p>
        </p:txBody>
      </p:sp>
      <p:sp>
        <p:nvSpPr>
          <p:cNvPr id="67" name="Text 57"/>
          <p:cNvSpPr txBox="1"/>
          <p:nvPr/>
        </p:nvSpPr>
        <p:spPr>
          <a:xfrm>
            <a:off x="9921240" y="4005072"/>
            <a:ext cx="1645920" cy="411480"/>
          </a:xfrm>
          <a:prstGeom prst="rect">
            <a:avLst/>
          </a:prstGeom>
          <a:noFill/>
          <a:ln/>
        </p:spPr>
        <p:txBody>
          <a:bodyPr wrap="square" lIns="0" tIns="0" rIns="0" bIns="0" rtlCol="0" anchor="t"/>
          <a:lstStyle/>
          <a:p>
            <a:pPr algn="l" indent="0" marL="0">
              <a:buNone/>
            </a:pPr>
            <a:r>
              <a:rPr lang="en-US" sz="950" i="1" dirty="0">
                <a:solidFill>
                  <a:srgbClr val="A78BFA"/>
                </a:solidFill>
                <a:latin typeface="Calibri" pitchFamily="34" charset="0"/>
                <a:ea typeface="Calibri" pitchFamily="34" charset="-122"/>
                <a:cs typeface="Calibri" pitchFamily="34" charset="-120"/>
              </a:rPr>
              <a:t>FKs · unique · CHECK constraints</a:t>
            </a:r>
            <a:endParaRPr lang="en-US" sz="950" dirty="0"/>
          </a:p>
        </p:txBody>
      </p:sp>
      <p:sp>
        <p:nvSpPr>
          <p:cNvPr id="68" name="Shape 58"/>
          <p:cNvSpPr/>
          <p:nvPr/>
        </p:nvSpPr>
        <p:spPr>
          <a:xfrm>
            <a:off x="9299448" y="2651760"/>
            <a:ext cx="420624" cy="0"/>
          </a:xfrm>
          <a:prstGeom prst="line">
            <a:avLst/>
          </a:prstGeom>
          <a:noFill/>
          <a:ln w="19050">
            <a:solidFill>
              <a:srgbClr val="0F172A"/>
            </a:solidFill>
            <a:prstDash val="solid"/>
            <a:headEnd type="triangle"/>
            <a:tailEnd type="triangle"/>
          </a:ln>
        </p:spPr>
      </p:sp>
      <p:sp>
        <p:nvSpPr>
          <p:cNvPr id="69" name="Shape 59"/>
          <p:cNvSpPr/>
          <p:nvPr/>
        </p:nvSpPr>
        <p:spPr>
          <a:xfrm>
            <a:off x="9738360" y="4754880"/>
            <a:ext cx="1901952" cy="1417320"/>
          </a:xfrm>
          <a:prstGeom prst="roundRect">
            <a:avLst>
              <a:gd name="adj" fmla="val 10323"/>
            </a:avLst>
          </a:prstGeom>
          <a:solidFill>
            <a:srgbClr val="EDE9FE"/>
          </a:solidFill>
          <a:ln/>
        </p:spPr>
      </p:sp>
      <p:pic>
        <p:nvPicPr>
          <p:cNvPr id="70" name="Image 8" descr="preencoded.png">    </p:cNvPr>
          <p:cNvPicPr>
            <a:picLocks noChangeAspect="1"/>
          </p:cNvPicPr>
          <p:nvPr/>
        </p:nvPicPr>
        <p:blipFill>
          <a:blip r:embed="rId9"/>
          <a:stretch>
            <a:fillRect/>
          </a:stretch>
        </p:blipFill>
        <p:spPr>
          <a:xfrm>
            <a:off x="9921240" y="4901184"/>
            <a:ext cx="310896" cy="310896"/>
          </a:xfrm>
          <a:prstGeom prst="rect">
            <a:avLst/>
          </a:prstGeom>
        </p:spPr>
      </p:pic>
      <p:sp>
        <p:nvSpPr>
          <p:cNvPr id="71" name="Text 60"/>
          <p:cNvSpPr txBox="1"/>
          <p:nvPr/>
        </p:nvSpPr>
        <p:spPr>
          <a:xfrm>
            <a:off x="10305288" y="4901184"/>
            <a:ext cx="1280160" cy="310896"/>
          </a:xfrm>
          <a:prstGeom prst="rect">
            <a:avLst/>
          </a:prstGeom>
          <a:noFill/>
          <a:ln/>
        </p:spPr>
        <p:txBody>
          <a:bodyPr wrap="square" lIns="0" tIns="0" rIns="0" bIns="0" rtlCol="0" anchor="ctr"/>
          <a:lstStyle/>
          <a:p>
            <a:pPr algn="l" indent="0" marL="0">
              <a:buNone/>
            </a:pPr>
            <a:r>
              <a:rPr lang="en-US" sz="1300" b="1" dirty="0">
                <a:solidFill>
                  <a:srgbClr val="4C1D95"/>
                </a:solidFill>
                <a:latin typeface="Calibri" pitchFamily="34" charset="0"/>
                <a:ea typeface="Calibri" pitchFamily="34" charset="-122"/>
                <a:cs typeface="Calibri" pitchFamily="34" charset="-120"/>
              </a:rPr>
              <a:t>SSE Stream</a:t>
            </a:r>
            <a:endParaRPr lang="en-US" sz="1300" dirty="0"/>
          </a:p>
        </p:txBody>
      </p:sp>
      <p:sp>
        <p:nvSpPr>
          <p:cNvPr id="72" name="Text 61"/>
          <p:cNvSpPr txBox="1"/>
          <p:nvPr/>
        </p:nvSpPr>
        <p:spPr>
          <a:xfrm>
            <a:off x="9921240" y="5303520"/>
            <a:ext cx="1645920" cy="777240"/>
          </a:xfrm>
          <a:prstGeom prst="rect">
            <a:avLst/>
          </a:prstGeom>
          <a:noFill/>
          <a:ln/>
        </p:spPr>
        <p:txBody>
          <a:bodyPr wrap="square" lIns="0" tIns="0" rIns="0" bIns="0" rtlCol="0" anchor="t"/>
          <a:lstStyle/>
          <a:p>
            <a:pPr algn="l" indent="0" marL="0">
              <a:buNone/>
            </a:pPr>
            <a:r>
              <a:rPr lang="en-US" sz="1000" dirty="0">
                <a:solidFill>
                  <a:srgbClr val="4C1D95"/>
                </a:solidFill>
                <a:latin typeface="Calibri" pitchFamily="34" charset="0"/>
                <a:ea typeface="Calibri" pitchFamily="34" charset="-122"/>
                <a:cs typeface="Calibri" pitchFamily="34" charset="-120"/>
              </a:rPr>
              <a:t>Pushes queue &amp; notification events to every connected client</a:t>
            </a:r>
            <a:endParaRPr lang="en-US" sz="1000" dirty="0"/>
          </a:p>
        </p:txBody>
      </p:sp>
      <p:sp>
        <p:nvSpPr>
          <p:cNvPr id="73" name="Shape 62"/>
          <p:cNvSpPr/>
          <p:nvPr/>
        </p:nvSpPr>
        <p:spPr>
          <a:xfrm>
            <a:off x="9299448" y="5440680"/>
            <a:ext cx="420624" cy="0"/>
          </a:xfrm>
          <a:prstGeom prst="line">
            <a:avLst/>
          </a:prstGeom>
          <a:noFill/>
          <a:ln w="19050">
            <a:solidFill>
              <a:srgbClr val="6D28D9"/>
            </a:solidFill>
            <a:prstDash val="solid"/>
            <a:tailEnd type="triangle"/>
          </a:ln>
        </p:spPr>
      </p:sp>
      <p:sp>
        <p:nvSpPr>
          <p:cNvPr id="74" name="Text 63"/>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75" name="Text 64"/>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06  ·  WORKING PRINCIPLE</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From Queue Entry to Completion</a:t>
            </a:r>
            <a:endParaRPr lang="en-US" sz="3000" dirty="0"/>
          </a:p>
        </p:txBody>
      </p:sp>
      <p:sp>
        <p:nvSpPr>
          <p:cNvPr id="4" name="Shape 2"/>
          <p:cNvSpPr/>
          <p:nvPr/>
        </p:nvSpPr>
        <p:spPr>
          <a:xfrm>
            <a:off x="548640" y="1463040"/>
            <a:ext cx="11091672" cy="1417320"/>
          </a:xfrm>
          <a:prstGeom prst="roundRect">
            <a:avLst>
              <a:gd name="adj" fmla="val 10323"/>
            </a:avLst>
          </a:prstGeom>
          <a:solidFill>
            <a:srgbClr val="F3F4F9"/>
          </a:solidFill>
          <a:ln/>
        </p:spPr>
      </p:sp>
      <p:pic>
        <p:nvPicPr>
          <p:cNvPr id="5" name="Image 0" descr="preencoded.png">    </p:cNvPr>
          <p:cNvPicPr>
            <a:picLocks noChangeAspect="1"/>
          </p:cNvPicPr>
          <p:nvPr/>
        </p:nvPicPr>
        <p:blipFill>
          <a:blip r:embed="rId1"/>
          <a:stretch>
            <a:fillRect/>
          </a:stretch>
        </p:blipFill>
        <p:spPr>
          <a:xfrm>
            <a:off x="731520" y="1879092"/>
            <a:ext cx="329184" cy="329184"/>
          </a:xfrm>
          <a:prstGeom prst="rect">
            <a:avLst/>
          </a:prstGeom>
        </p:spPr>
      </p:pic>
      <p:sp>
        <p:nvSpPr>
          <p:cNvPr id="6" name="Text 3"/>
          <p:cNvSpPr txBox="1"/>
          <p:nvPr/>
        </p:nvSpPr>
        <p:spPr>
          <a:xfrm>
            <a:off x="731520" y="2244852"/>
            <a:ext cx="1097280" cy="274320"/>
          </a:xfrm>
          <a:prstGeom prst="rect">
            <a:avLst/>
          </a:prstGeom>
          <a:noFill/>
          <a:ln/>
        </p:spPr>
        <p:txBody>
          <a:bodyPr wrap="square" lIns="0" tIns="0" rIns="0" bIns="0" rtlCol="0" anchor="t"/>
          <a:lstStyle/>
          <a:p>
            <a:pPr algn="l" indent="0" marL="0">
              <a:buNone/>
            </a:pPr>
            <a:r>
              <a:rPr lang="en-US" sz="1300" b="1" dirty="0">
                <a:solidFill>
                  <a:srgbClr val="0F172A"/>
                </a:solidFill>
                <a:latin typeface="Calibri" pitchFamily="34" charset="0"/>
                <a:ea typeface="Calibri" pitchFamily="34" charset="-122"/>
                <a:cs typeface="Calibri" pitchFamily="34" charset="-120"/>
              </a:rPr>
              <a:t>Student</a:t>
            </a:r>
            <a:endParaRPr lang="en-US" sz="1300" dirty="0"/>
          </a:p>
        </p:txBody>
      </p:sp>
      <p:sp>
        <p:nvSpPr>
          <p:cNvPr id="7" name="Shape 4"/>
          <p:cNvSpPr/>
          <p:nvPr/>
        </p:nvSpPr>
        <p:spPr>
          <a:xfrm>
            <a:off x="548640" y="3063240"/>
            <a:ext cx="11091672" cy="1280160"/>
          </a:xfrm>
          <a:prstGeom prst="roundRect">
            <a:avLst>
              <a:gd name="adj" fmla="val 11429"/>
            </a:avLst>
          </a:prstGeom>
          <a:solidFill>
            <a:srgbClr val="F3F4F9"/>
          </a:solidFill>
          <a:ln/>
        </p:spPr>
      </p:sp>
      <p:pic>
        <p:nvPicPr>
          <p:cNvPr id="8" name="Image 1" descr="preencoded.png">    </p:cNvPr>
          <p:cNvPicPr>
            <a:picLocks noChangeAspect="1"/>
          </p:cNvPicPr>
          <p:nvPr/>
        </p:nvPicPr>
        <p:blipFill>
          <a:blip r:embed="rId2"/>
          <a:stretch>
            <a:fillRect/>
          </a:stretch>
        </p:blipFill>
        <p:spPr>
          <a:xfrm>
            <a:off x="731520" y="3410712"/>
            <a:ext cx="329184" cy="329184"/>
          </a:xfrm>
          <a:prstGeom prst="rect">
            <a:avLst/>
          </a:prstGeom>
        </p:spPr>
      </p:pic>
      <p:sp>
        <p:nvSpPr>
          <p:cNvPr id="9" name="Text 5"/>
          <p:cNvSpPr txBox="1"/>
          <p:nvPr/>
        </p:nvSpPr>
        <p:spPr>
          <a:xfrm>
            <a:off x="731520" y="3776472"/>
            <a:ext cx="1097280" cy="274320"/>
          </a:xfrm>
          <a:prstGeom prst="rect">
            <a:avLst/>
          </a:prstGeom>
          <a:noFill/>
          <a:ln/>
        </p:spPr>
        <p:txBody>
          <a:bodyPr wrap="square" lIns="0" tIns="0" rIns="0" bIns="0" rtlCol="0" anchor="t"/>
          <a:lstStyle/>
          <a:p>
            <a:pPr algn="l" indent="0" marL="0">
              <a:buNone/>
            </a:pPr>
            <a:r>
              <a:rPr lang="en-US" sz="1300" b="1" dirty="0">
                <a:solidFill>
                  <a:srgbClr val="0F172A"/>
                </a:solidFill>
                <a:latin typeface="Calibri" pitchFamily="34" charset="0"/>
                <a:ea typeface="Calibri" pitchFamily="34" charset="-122"/>
                <a:cs typeface="Calibri" pitchFamily="34" charset="-120"/>
              </a:rPr>
              <a:t>Staff</a:t>
            </a:r>
            <a:endParaRPr lang="en-US" sz="1300" dirty="0"/>
          </a:p>
        </p:txBody>
      </p:sp>
      <p:sp>
        <p:nvSpPr>
          <p:cNvPr id="10" name="Shape 6"/>
          <p:cNvSpPr/>
          <p:nvPr/>
        </p:nvSpPr>
        <p:spPr>
          <a:xfrm>
            <a:off x="548640" y="4526280"/>
            <a:ext cx="11091672" cy="1188720"/>
          </a:xfrm>
          <a:prstGeom prst="roundRect">
            <a:avLst>
              <a:gd name="adj" fmla="val 12308"/>
            </a:avLst>
          </a:prstGeom>
          <a:solidFill>
            <a:srgbClr val="F3F4F9"/>
          </a:solidFill>
          <a:ln/>
        </p:spPr>
      </p:sp>
      <p:pic>
        <p:nvPicPr>
          <p:cNvPr id="11" name="Image 2" descr="preencoded.png">    </p:cNvPr>
          <p:cNvPicPr>
            <a:picLocks noChangeAspect="1"/>
          </p:cNvPicPr>
          <p:nvPr/>
        </p:nvPicPr>
        <p:blipFill>
          <a:blip r:embed="rId3"/>
          <a:stretch>
            <a:fillRect/>
          </a:stretch>
        </p:blipFill>
        <p:spPr>
          <a:xfrm>
            <a:off x="731520" y="4828032"/>
            <a:ext cx="329184" cy="329184"/>
          </a:xfrm>
          <a:prstGeom prst="rect">
            <a:avLst/>
          </a:prstGeom>
        </p:spPr>
      </p:pic>
      <p:sp>
        <p:nvSpPr>
          <p:cNvPr id="12" name="Text 7"/>
          <p:cNvSpPr txBox="1"/>
          <p:nvPr/>
        </p:nvSpPr>
        <p:spPr>
          <a:xfrm>
            <a:off x="731520" y="5193792"/>
            <a:ext cx="1097280" cy="274320"/>
          </a:xfrm>
          <a:prstGeom prst="rect">
            <a:avLst/>
          </a:prstGeom>
          <a:noFill/>
          <a:ln/>
        </p:spPr>
        <p:txBody>
          <a:bodyPr wrap="square" lIns="0" tIns="0" rIns="0" bIns="0" rtlCol="0" anchor="t"/>
          <a:lstStyle/>
          <a:p>
            <a:pPr algn="l" indent="0" marL="0">
              <a:buNone/>
            </a:pPr>
            <a:r>
              <a:rPr lang="en-US" sz="1300" b="1" dirty="0">
                <a:solidFill>
                  <a:srgbClr val="0F172A"/>
                </a:solidFill>
                <a:latin typeface="Calibri" pitchFamily="34" charset="0"/>
                <a:ea typeface="Calibri" pitchFamily="34" charset="-122"/>
                <a:cs typeface="Calibri" pitchFamily="34" charset="-120"/>
              </a:rPr>
              <a:t>Admin</a:t>
            </a:r>
            <a:endParaRPr lang="en-US" sz="1300" dirty="0"/>
          </a:p>
        </p:txBody>
      </p:sp>
      <p:sp>
        <p:nvSpPr>
          <p:cNvPr id="13" name="Shape 8"/>
          <p:cNvSpPr/>
          <p:nvPr/>
        </p:nvSpPr>
        <p:spPr>
          <a:xfrm>
            <a:off x="2240280" y="2167128"/>
            <a:ext cx="8961120" cy="0"/>
          </a:xfrm>
          <a:prstGeom prst="line">
            <a:avLst/>
          </a:prstGeom>
          <a:noFill/>
          <a:ln w="12700">
            <a:solidFill>
              <a:srgbClr val="C7CCDA"/>
            </a:solidFill>
            <a:prstDash val="solid"/>
          </a:ln>
        </p:spPr>
      </p:sp>
      <p:sp>
        <p:nvSpPr>
          <p:cNvPr id="14" name="Shape 9"/>
          <p:cNvSpPr/>
          <p:nvPr/>
        </p:nvSpPr>
        <p:spPr>
          <a:xfrm>
            <a:off x="1965960" y="1737360"/>
            <a:ext cx="786384" cy="868680"/>
          </a:xfrm>
          <a:prstGeom prst="roundRect">
            <a:avLst>
              <a:gd name="adj" fmla="val 11628"/>
            </a:avLst>
          </a:prstGeom>
          <a:solidFill>
            <a:srgbClr val="FFFFFF"/>
          </a:solidFill>
          <a:ln w="12700">
            <a:solidFill>
              <a:srgbClr val="DDE1EC"/>
            </a:solidFill>
            <a:prstDash val="solid"/>
          </a:ln>
        </p:spPr>
      </p:sp>
      <p:sp>
        <p:nvSpPr>
          <p:cNvPr id="15" name="Text 10"/>
          <p:cNvSpPr txBox="1"/>
          <p:nvPr/>
        </p:nvSpPr>
        <p:spPr>
          <a:xfrm>
            <a:off x="2020824" y="1737360"/>
            <a:ext cx="676656" cy="8686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Login</a:t>
            </a:r>
            <a:endParaRPr lang="en-US" sz="1050" dirty="0"/>
          </a:p>
        </p:txBody>
      </p:sp>
      <p:sp>
        <p:nvSpPr>
          <p:cNvPr id="16" name="Shape 11"/>
          <p:cNvSpPr/>
          <p:nvPr/>
        </p:nvSpPr>
        <p:spPr>
          <a:xfrm>
            <a:off x="2838298" y="1737360"/>
            <a:ext cx="786384" cy="868680"/>
          </a:xfrm>
          <a:prstGeom prst="roundRect">
            <a:avLst>
              <a:gd name="adj" fmla="val 11628"/>
            </a:avLst>
          </a:prstGeom>
          <a:solidFill>
            <a:srgbClr val="FFFFFF"/>
          </a:solidFill>
          <a:ln w="12700">
            <a:solidFill>
              <a:srgbClr val="DDE1EC"/>
            </a:solidFill>
            <a:prstDash val="solid"/>
          </a:ln>
        </p:spPr>
      </p:sp>
      <p:sp>
        <p:nvSpPr>
          <p:cNvPr id="17" name="Text 12"/>
          <p:cNvSpPr txBox="1"/>
          <p:nvPr/>
        </p:nvSpPr>
        <p:spPr>
          <a:xfrm>
            <a:off x="2893162" y="1737360"/>
            <a:ext cx="676656" cy="8686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Select Service</a:t>
            </a:r>
            <a:endParaRPr lang="en-US" sz="1050" dirty="0"/>
          </a:p>
        </p:txBody>
      </p:sp>
      <p:sp>
        <p:nvSpPr>
          <p:cNvPr id="18" name="Shape 13"/>
          <p:cNvSpPr/>
          <p:nvPr/>
        </p:nvSpPr>
        <p:spPr>
          <a:xfrm>
            <a:off x="3710635" y="1737360"/>
            <a:ext cx="786384" cy="868680"/>
          </a:xfrm>
          <a:prstGeom prst="roundRect">
            <a:avLst>
              <a:gd name="adj" fmla="val 11628"/>
            </a:avLst>
          </a:prstGeom>
          <a:solidFill>
            <a:srgbClr val="FFFFFF"/>
          </a:solidFill>
          <a:ln w="12700">
            <a:solidFill>
              <a:srgbClr val="DDE1EC"/>
            </a:solidFill>
            <a:prstDash val="solid"/>
          </a:ln>
        </p:spPr>
      </p:sp>
      <p:sp>
        <p:nvSpPr>
          <p:cNvPr id="19" name="Text 14"/>
          <p:cNvSpPr txBox="1"/>
          <p:nvPr/>
        </p:nvSpPr>
        <p:spPr>
          <a:xfrm>
            <a:off x="3765499" y="1737360"/>
            <a:ext cx="676656" cy="8686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Select Queue</a:t>
            </a:r>
            <a:endParaRPr lang="en-US" sz="1050" dirty="0"/>
          </a:p>
        </p:txBody>
      </p:sp>
      <p:sp>
        <p:nvSpPr>
          <p:cNvPr id="20" name="Shape 15"/>
          <p:cNvSpPr/>
          <p:nvPr/>
        </p:nvSpPr>
        <p:spPr>
          <a:xfrm>
            <a:off x="4582973" y="1737360"/>
            <a:ext cx="786384" cy="868680"/>
          </a:xfrm>
          <a:prstGeom prst="roundRect">
            <a:avLst>
              <a:gd name="adj" fmla="val 11628"/>
            </a:avLst>
          </a:prstGeom>
          <a:solidFill>
            <a:srgbClr val="FFFFFF"/>
          </a:solidFill>
          <a:ln w="12700">
            <a:solidFill>
              <a:srgbClr val="DDE1EC"/>
            </a:solidFill>
            <a:prstDash val="solid"/>
          </a:ln>
        </p:spPr>
      </p:sp>
      <p:sp>
        <p:nvSpPr>
          <p:cNvPr id="21" name="Text 16"/>
          <p:cNvSpPr txBox="1"/>
          <p:nvPr/>
        </p:nvSpPr>
        <p:spPr>
          <a:xfrm>
            <a:off x="4637837" y="1737360"/>
            <a:ext cx="676656" cy="868680"/>
          </a:xfrm>
          <a:prstGeom prst="rect">
            <a:avLst/>
          </a:prstGeom>
          <a:noFill/>
          <a:ln/>
        </p:spPr>
        <p:txBody>
          <a:bodyPr wrap="square" lIns="0" tIns="0" rIns="0" bIns="0" rtlCol="0" anchor="ctr"/>
          <a:lstStyle/>
          <a:p>
            <a:pPr algn="ctr" indent="0" marL="0">
              <a:buNone/>
            </a:pPr>
            <a:r>
              <a:rPr lang="en-US" sz="1050" b="1" dirty="0">
                <a:solidFill>
                  <a:srgbClr val="0F172A"/>
                </a:solidFill>
                <a:latin typeface="Calibri" pitchFamily="34" charset="0"/>
                <a:ea typeface="Calibri" pitchFamily="34" charset="-122"/>
                <a:cs typeface="Calibri" pitchFamily="34" charset="-120"/>
              </a:rPr>
              <a:t>Join Queue</a:t>
            </a:r>
            <a:endParaRPr lang="en-US" sz="1050" dirty="0"/>
          </a:p>
        </p:txBody>
      </p:sp>
      <p:sp>
        <p:nvSpPr>
          <p:cNvPr id="22" name="Shape 17"/>
          <p:cNvSpPr/>
          <p:nvPr/>
        </p:nvSpPr>
        <p:spPr>
          <a:xfrm>
            <a:off x="5455310" y="1737360"/>
            <a:ext cx="786384" cy="868680"/>
          </a:xfrm>
          <a:prstGeom prst="roundRect">
            <a:avLst>
              <a:gd name="adj" fmla="val 11628"/>
            </a:avLst>
          </a:prstGeom>
          <a:solidFill>
            <a:srgbClr val="EDE9FE"/>
          </a:solidFill>
          <a:ln w="12700">
            <a:solidFill>
              <a:srgbClr val="C4B5FD"/>
            </a:solidFill>
            <a:prstDash val="solid"/>
          </a:ln>
        </p:spPr>
      </p:sp>
      <p:sp>
        <p:nvSpPr>
          <p:cNvPr id="23" name="Text 18"/>
          <p:cNvSpPr txBox="1"/>
          <p:nvPr/>
        </p:nvSpPr>
        <p:spPr>
          <a:xfrm>
            <a:off x="5510174" y="1737360"/>
            <a:ext cx="676656" cy="868680"/>
          </a:xfrm>
          <a:prstGeom prst="rect">
            <a:avLst/>
          </a:prstGeom>
          <a:noFill/>
          <a:ln/>
        </p:spPr>
        <p:txBody>
          <a:bodyPr wrap="square" lIns="0" tIns="0" rIns="0" bIns="0" rtlCol="0" anchor="ctr"/>
          <a:lstStyle/>
          <a:p>
            <a:pPr algn="ctr" indent="0" marL="0">
              <a:buNone/>
            </a:pPr>
            <a:r>
              <a:rPr lang="en-US" sz="1050" b="1" dirty="0">
                <a:solidFill>
                  <a:srgbClr val="4C1D95"/>
                </a:solidFill>
                <a:latin typeface="Calibri" pitchFamily="34" charset="0"/>
                <a:ea typeface="Calibri" pitchFamily="34" charset="-122"/>
                <a:cs typeface="Calibri" pitchFamily="34" charset="-120"/>
              </a:rPr>
              <a:t>Receive Token</a:t>
            </a:r>
            <a:endParaRPr lang="en-US" sz="1050" dirty="0"/>
          </a:p>
        </p:txBody>
      </p:sp>
      <p:sp>
        <p:nvSpPr>
          <p:cNvPr id="24" name="Shape 19"/>
          <p:cNvSpPr/>
          <p:nvPr/>
        </p:nvSpPr>
        <p:spPr>
          <a:xfrm>
            <a:off x="6327648" y="1737360"/>
            <a:ext cx="786384" cy="868680"/>
          </a:xfrm>
          <a:prstGeom prst="roundRect">
            <a:avLst>
              <a:gd name="adj" fmla="val 11628"/>
            </a:avLst>
          </a:prstGeom>
          <a:solidFill>
            <a:srgbClr val="EDE9FE"/>
          </a:solidFill>
          <a:ln w="12700">
            <a:solidFill>
              <a:srgbClr val="C4B5FD"/>
            </a:solidFill>
            <a:prstDash val="solid"/>
          </a:ln>
        </p:spPr>
      </p:sp>
      <p:sp>
        <p:nvSpPr>
          <p:cNvPr id="25" name="Text 20"/>
          <p:cNvSpPr txBox="1"/>
          <p:nvPr/>
        </p:nvSpPr>
        <p:spPr>
          <a:xfrm>
            <a:off x="6382512" y="1737360"/>
            <a:ext cx="676656" cy="868680"/>
          </a:xfrm>
          <a:prstGeom prst="rect">
            <a:avLst/>
          </a:prstGeom>
          <a:noFill/>
          <a:ln/>
        </p:spPr>
        <p:txBody>
          <a:bodyPr wrap="square" lIns="0" tIns="0" rIns="0" bIns="0" rtlCol="0" anchor="ctr"/>
          <a:lstStyle/>
          <a:p>
            <a:pPr algn="ctr" indent="0" marL="0">
              <a:buNone/>
            </a:pPr>
            <a:r>
              <a:rPr lang="en-US" sz="1050" b="1" dirty="0">
                <a:solidFill>
                  <a:srgbClr val="4C1D95"/>
                </a:solidFill>
                <a:latin typeface="Calibri" pitchFamily="34" charset="0"/>
                <a:ea typeface="Calibri" pitchFamily="34" charset="-122"/>
                <a:cs typeface="Calibri" pitchFamily="34" charset="-120"/>
              </a:rPr>
              <a:t>View Position</a:t>
            </a:r>
            <a:endParaRPr lang="en-US" sz="1050" dirty="0"/>
          </a:p>
        </p:txBody>
      </p:sp>
      <p:sp>
        <p:nvSpPr>
          <p:cNvPr id="26" name="Shape 21"/>
          <p:cNvSpPr/>
          <p:nvPr/>
        </p:nvSpPr>
        <p:spPr>
          <a:xfrm>
            <a:off x="7199986" y="1737360"/>
            <a:ext cx="786384" cy="868680"/>
          </a:xfrm>
          <a:prstGeom prst="roundRect">
            <a:avLst>
              <a:gd name="adj" fmla="val 11628"/>
            </a:avLst>
          </a:prstGeom>
          <a:solidFill>
            <a:srgbClr val="EDE9FE"/>
          </a:solidFill>
          <a:ln w="12700">
            <a:solidFill>
              <a:srgbClr val="C4B5FD"/>
            </a:solidFill>
            <a:prstDash val="solid"/>
          </a:ln>
        </p:spPr>
      </p:sp>
      <p:sp>
        <p:nvSpPr>
          <p:cNvPr id="27" name="Text 22"/>
          <p:cNvSpPr txBox="1"/>
          <p:nvPr/>
        </p:nvSpPr>
        <p:spPr>
          <a:xfrm>
            <a:off x="7254850" y="1737360"/>
            <a:ext cx="676656" cy="868680"/>
          </a:xfrm>
          <a:prstGeom prst="rect">
            <a:avLst/>
          </a:prstGeom>
          <a:noFill/>
          <a:ln/>
        </p:spPr>
        <p:txBody>
          <a:bodyPr wrap="square" lIns="0" tIns="0" rIns="0" bIns="0" rtlCol="0" anchor="ctr"/>
          <a:lstStyle/>
          <a:p>
            <a:pPr algn="ctr" indent="0" marL="0">
              <a:buNone/>
            </a:pPr>
            <a:r>
              <a:rPr lang="en-US" sz="1050" b="1" dirty="0">
                <a:solidFill>
                  <a:srgbClr val="4C1D95"/>
                </a:solidFill>
                <a:latin typeface="Calibri" pitchFamily="34" charset="0"/>
                <a:ea typeface="Calibri" pitchFamily="34" charset="-122"/>
                <a:cs typeface="Calibri" pitchFamily="34" charset="-120"/>
              </a:rPr>
              <a:t>Wait Countdown</a:t>
            </a:r>
            <a:endParaRPr lang="en-US" sz="1050" dirty="0"/>
          </a:p>
        </p:txBody>
      </p:sp>
      <p:sp>
        <p:nvSpPr>
          <p:cNvPr id="28" name="Shape 23"/>
          <p:cNvSpPr/>
          <p:nvPr/>
        </p:nvSpPr>
        <p:spPr>
          <a:xfrm>
            <a:off x="8072323" y="1737360"/>
            <a:ext cx="786384" cy="868680"/>
          </a:xfrm>
          <a:prstGeom prst="roundRect">
            <a:avLst>
              <a:gd name="adj" fmla="val 11628"/>
            </a:avLst>
          </a:prstGeom>
          <a:solidFill>
            <a:srgbClr val="6D28D9"/>
          </a:solidFill>
          <a:ln/>
        </p:spPr>
      </p:sp>
      <p:sp>
        <p:nvSpPr>
          <p:cNvPr id="29" name="Text 24"/>
          <p:cNvSpPr txBox="1"/>
          <p:nvPr/>
        </p:nvSpPr>
        <p:spPr>
          <a:xfrm>
            <a:off x="8127187" y="1737360"/>
            <a:ext cx="676656" cy="8686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Almost Next</a:t>
            </a:r>
            <a:endParaRPr lang="en-US" sz="1050" dirty="0"/>
          </a:p>
        </p:txBody>
      </p:sp>
      <p:sp>
        <p:nvSpPr>
          <p:cNvPr id="30" name="Shape 25"/>
          <p:cNvSpPr/>
          <p:nvPr/>
        </p:nvSpPr>
        <p:spPr>
          <a:xfrm>
            <a:off x="8944661" y="1737360"/>
            <a:ext cx="786384" cy="868680"/>
          </a:xfrm>
          <a:prstGeom prst="roundRect">
            <a:avLst>
              <a:gd name="adj" fmla="val 11628"/>
            </a:avLst>
          </a:prstGeom>
          <a:solidFill>
            <a:srgbClr val="FACC15"/>
          </a:solidFill>
          <a:ln/>
        </p:spPr>
      </p:sp>
      <p:sp>
        <p:nvSpPr>
          <p:cNvPr id="31" name="Text 26"/>
          <p:cNvSpPr txBox="1"/>
          <p:nvPr/>
        </p:nvSpPr>
        <p:spPr>
          <a:xfrm>
            <a:off x="8999525" y="1737360"/>
            <a:ext cx="676656" cy="868680"/>
          </a:xfrm>
          <a:prstGeom prst="rect">
            <a:avLst/>
          </a:prstGeom>
          <a:noFill/>
          <a:ln/>
        </p:spPr>
        <p:txBody>
          <a:bodyPr wrap="square" lIns="0" tIns="0" rIns="0" bIns="0" rtlCol="0" anchor="ctr"/>
          <a:lstStyle/>
          <a:p>
            <a:pPr algn="ctr" indent="0" marL="0">
              <a:buNone/>
            </a:pPr>
            <a:r>
              <a:rPr lang="en-US" sz="1050" b="1" dirty="0">
                <a:solidFill>
                  <a:srgbClr val="422006"/>
                </a:solidFill>
                <a:latin typeface="Calibri" pitchFamily="34" charset="0"/>
                <a:ea typeface="Calibri" pitchFamily="34" charset="-122"/>
                <a:cs typeface="Calibri" pitchFamily="34" charset="-120"/>
              </a:rPr>
              <a:t>Called</a:t>
            </a:r>
            <a:endParaRPr lang="en-US" sz="1050" dirty="0"/>
          </a:p>
        </p:txBody>
      </p:sp>
      <p:sp>
        <p:nvSpPr>
          <p:cNvPr id="32" name="Shape 27"/>
          <p:cNvSpPr/>
          <p:nvPr/>
        </p:nvSpPr>
        <p:spPr>
          <a:xfrm>
            <a:off x="9816998" y="1737360"/>
            <a:ext cx="786384" cy="868680"/>
          </a:xfrm>
          <a:prstGeom prst="roundRect">
            <a:avLst>
              <a:gd name="adj" fmla="val 11628"/>
            </a:avLst>
          </a:prstGeom>
          <a:solidFill>
            <a:srgbClr val="16A34A"/>
          </a:solidFill>
          <a:ln/>
        </p:spPr>
      </p:sp>
      <p:sp>
        <p:nvSpPr>
          <p:cNvPr id="33" name="Text 28"/>
          <p:cNvSpPr txBox="1"/>
          <p:nvPr/>
        </p:nvSpPr>
        <p:spPr>
          <a:xfrm>
            <a:off x="9871862" y="1737360"/>
            <a:ext cx="676656" cy="8686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Serving</a:t>
            </a:r>
            <a:endParaRPr lang="en-US" sz="1050" dirty="0"/>
          </a:p>
        </p:txBody>
      </p:sp>
      <p:sp>
        <p:nvSpPr>
          <p:cNvPr id="34" name="Shape 29"/>
          <p:cNvSpPr/>
          <p:nvPr/>
        </p:nvSpPr>
        <p:spPr>
          <a:xfrm>
            <a:off x="10689336" y="1737360"/>
            <a:ext cx="786384" cy="868680"/>
          </a:xfrm>
          <a:prstGeom prst="roundRect">
            <a:avLst>
              <a:gd name="adj" fmla="val 11628"/>
            </a:avLst>
          </a:prstGeom>
          <a:solidFill>
            <a:srgbClr val="94A3B8"/>
          </a:solidFill>
          <a:ln/>
        </p:spPr>
      </p:sp>
      <p:sp>
        <p:nvSpPr>
          <p:cNvPr id="35" name="Text 30"/>
          <p:cNvSpPr txBox="1"/>
          <p:nvPr/>
        </p:nvSpPr>
        <p:spPr>
          <a:xfrm>
            <a:off x="10744200" y="1737360"/>
            <a:ext cx="676656" cy="8686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Completed</a:t>
            </a:r>
            <a:endParaRPr lang="en-US" sz="1050" dirty="0"/>
          </a:p>
        </p:txBody>
      </p:sp>
      <p:sp>
        <p:nvSpPr>
          <p:cNvPr id="36" name="Shape 31"/>
          <p:cNvSpPr/>
          <p:nvPr/>
        </p:nvSpPr>
        <p:spPr>
          <a:xfrm>
            <a:off x="2240280" y="3538728"/>
            <a:ext cx="8961120" cy="0"/>
          </a:xfrm>
          <a:prstGeom prst="line">
            <a:avLst/>
          </a:prstGeom>
          <a:noFill/>
          <a:ln w="12700">
            <a:solidFill>
              <a:srgbClr val="C7CCDA"/>
            </a:solidFill>
            <a:prstDash val="solid"/>
          </a:ln>
        </p:spPr>
      </p:sp>
      <p:sp>
        <p:nvSpPr>
          <p:cNvPr id="37" name="Shape 32"/>
          <p:cNvSpPr/>
          <p:nvPr/>
        </p:nvSpPr>
        <p:spPr>
          <a:xfrm>
            <a:off x="1965960" y="3264408"/>
            <a:ext cx="1417320" cy="548640"/>
          </a:xfrm>
          <a:prstGeom prst="roundRect">
            <a:avLst>
              <a:gd name="adj" fmla="val 16667"/>
            </a:avLst>
          </a:prstGeom>
          <a:solidFill>
            <a:srgbClr val="FFFFFF"/>
          </a:solidFill>
          <a:ln w="12700">
            <a:solidFill>
              <a:srgbClr val="DDE1EC"/>
            </a:solidFill>
            <a:prstDash val="solid"/>
          </a:ln>
        </p:spPr>
      </p:sp>
      <p:sp>
        <p:nvSpPr>
          <p:cNvPr id="38" name="Text 33"/>
          <p:cNvSpPr txBox="1"/>
          <p:nvPr/>
        </p:nvSpPr>
        <p:spPr>
          <a:xfrm>
            <a:off x="2020824" y="3264408"/>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Login</a:t>
            </a:r>
            <a:endParaRPr lang="en-US" sz="1150" dirty="0"/>
          </a:p>
        </p:txBody>
      </p:sp>
      <p:sp>
        <p:nvSpPr>
          <p:cNvPr id="39" name="Shape 34"/>
          <p:cNvSpPr/>
          <p:nvPr/>
        </p:nvSpPr>
        <p:spPr>
          <a:xfrm>
            <a:off x="3584448" y="3264408"/>
            <a:ext cx="1417320" cy="548640"/>
          </a:xfrm>
          <a:prstGeom prst="roundRect">
            <a:avLst>
              <a:gd name="adj" fmla="val 16667"/>
            </a:avLst>
          </a:prstGeom>
          <a:solidFill>
            <a:srgbClr val="FFFFFF"/>
          </a:solidFill>
          <a:ln w="12700">
            <a:solidFill>
              <a:srgbClr val="DDE1EC"/>
            </a:solidFill>
            <a:prstDash val="solid"/>
          </a:ln>
        </p:spPr>
      </p:sp>
      <p:sp>
        <p:nvSpPr>
          <p:cNvPr id="40" name="Text 35"/>
          <p:cNvSpPr txBox="1"/>
          <p:nvPr/>
        </p:nvSpPr>
        <p:spPr>
          <a:xfrm>
            <a:off x="3639312" y="3264408"/>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Select Counter</a:t>
            </a:r>
            <a:endParaRPr lang="en-US" sz="1150" dirty="0"/>
          </a:p>
        </p:txBody>
      </p:sp>
      <p:sp>
        <p:nvSpPr>
          <p:cNvPr id="41" name="Shape 36"/>
          <p:cNvSpPr/>
          <p:nvPr/>
        </p:nvSpPr>
        <p:spPr>
          <a:xfrm>
            <a:off x="5202936" y="3264408"/>
            <a:ext cx="1417320" cy="548640"/>
          </a:xfrm>
          <a:prstGeom prst="roundRect">
            <a:avLst>
              <a:gd name="adj" fmla="val 16667"/>
            </a:avLst>
          </a:prstGeom>
          <a:solidFill>
            <a:srgbClr val="FFFFFF"/>
          </a:solidFill>
          <a:ln w="12700">
            <a:solidFill>
              <a:srgbClr val="DDE1EC"/>
            </a:solidFill>
            <a:prstDash val="solid"/>
          </a:ln>
        </p:spPr>
      </p:sp>
      <p:sp>
        <p:nvSpPr>
          <p:cNvPr id="42" name="Text 37"/>
          <p:cNvSpPr txBox="1"/>
          <p:nvPr/>
        </p:nvSpPr>
        <p:spPr>
          <a:xfrm>
            <a:off x="5257800" y="3264408"/>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View Queue</a:t>
            </a:r>
            <a:endParaRPr lang="en-US" sz="1150" dirty="0"/>
          </a:p>
        </p:txBody>
      </p:sp>
      <p:sp>
        <p:nvSpPr>
          <p:cNvPr id="43" name="Shape 38"/>
          <p:cNvSpPr/>
          <p:nvPr/>
        </p:nvSpPr>
        <p:spPr>
          <a:xfrm>
            <a:off x="6821424" y="3264408"/>
            <a:ext cx="1417320" cy="548640"/>
          </a:xfrm>
          <a:prstGeom prst="roundRect">
            <a:avLst>
              <a:gd name="adj" fmla="val 16667"/>
            </a:avLst>
          </a:prstGeom>
          <a:solidFill>
            <a:srgbClr val="0B1026"/>
          </a:solidFill>
          <a:ln/>
        </p:spPr>
      </p:sp>
      <p:sp>
        <p:nvSpPr>
          <p:cNvPr id="44" name="Text 39"/>
          <p:cNvSpPr txBox="1"/>
          <p:nvPr/>
        </p:nvSpPr>
        <p:spPr>
          <a:xfrm>
            <a:off x="6876288" y="3264408"/>
            <a:ext cx="1307592"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Call Next</a:t>
            </a:r>
            <a:endParaRPr lang="en-US" sz="1150" dirty="0"/>
          </a:p>
        </p:txBody>
      </p:sp>
      <p:sp>
        <p:nvSpPr>
          <p:cNvPr id="45" name="Shape 40"/>
          <p:cNvSpPr/>
          <p:nvPr/>
        </p:nvSpPr>
        <p:spPr>
          <a:xfrm>
            <a:off x="8439912" y="3264408"/>
            <a:ext cx="1417320" cy="548640"/>
          </a:xfrm>
          <a:prstGeom prst="roundRect">
            <a:avLst>
              <a:gd name="adj" fmla="val 16667"/>
            </a:avLst>
          </a:prstGeom>
          <a:solidFill>
            <a:srgbClr val="0B1026"/>
          </a:solidFill>
          <a:ln/>
        </p:spPr>
      </p:sp>
      <p:sp>
        <p:nvSpPr>
          <p:cNvPr id="46" name="Text 41"/>
          <p:cNvSpPr txBox="1"/>
          <p:nvPr/>
        </p:nvSpPr>
        <p:spPr>
          <a:xfrm>
            <a:off x="8494776" y="3264408"/>
            <a:ext cx="1307592"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Start Service</a:t>
            </a:r>
            <a:endParaRPr lang="en-US" sz="1150" dirty="0"/>
          </a:p>
        </p:txBody>
      </p:sp>
      <p:sp>
        <p:nvSpPr>
          <p:cNvPr id="47" name="Shape 42"/>
          <p:cNvSpPr/>
          <p:nvPr/>
        </p:nvSpPr>
        <p:spPr>
          <a:xfrm>
            <a:off x="10058400" y="3264408"/>
            <a:ext cx="1417320" cy="548640"/>
          </a:xfrm>
          <a:prstGeom prst="roundRect">
            <a:avLst>
              <a:gd name="adj" fmla="val 16667"/>
            </a:avLst>
          </a:prstGeom>
          <a:solidFill>
            <a:srgbClr val="0B1026"/>
          </a:solidFill>
          <a:ln/>
        </p:spPr>
      </p:sp>
      <p:sp>
        <p:nvSpPr>
          <p:cNvPr id="48" name="Text 43"/>
          <p:cNvSpPr txBox="1"/>
          <p:nvPr/>
        </p:nvSpPr>
        <p:spPr>
          <a:xfrm>
            <a:off x="10113264" y="3264408"/>
            <a:ext cx="1307592" cy="5486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Complete / Skip</a:t>
            </a:r>
            <a:endParaRPr lang="en-US" sz="1150" dirty="0"/>
          </a:p>
        </p:txBody>
      </p:sp>
      <p:sp>
        <p:nvSpPr>
          <p:cNvPr id="49" name="Text 44"/>
          <p:cNvSpPr txBox="1"/>
          <p:nvPr/>
        </p:nvSpPr>
        <p:spPr>
          <a:xfrm>
            <a:off x="1965960" y="3904488"/>
            <a:ext cx="9509760" cy="274320"/>
          </a:xfrm>
          <a:prstGeom prst="rect">
            <a:avLst/>
          </a:prstGeom>
          <a:noFill/>
          <a:ln/>
        </p:spPr>
        <p:txBody>
          <a:bodyPr wrap="square" lIns="0" tIns="0" rIns="0" bIns="0" rtlCol="0" anchor="t"/>
          <a:lstStyle/>
          <a:p>
            <a:pPr algn="l" indent="0" marL="0">
              <a:buNone/>
            </a:pPr>
            <a:r>
              <a:rPr lang="en-US" sz="1000" i="1" dirty="0">
                <a:solidFill>
                  <a:srgbClr val="5B6478"/>
                </a:solidFill>
                <a:latin typeface="Calibri" pitchFamily="34" charset="0"/>
                <a:ea typeface="Calibri" pitchFamily="34" charset="-122"/>
                <a:cs typeface="Calibri" pitchFamily="34" charset="-120"/>
              </a:rPr>
              <a:t>Call Next → token turns CALLED   ·   Start Service → SERVING   ·   Complete → COMPLETED   ·   Skip → no-show removed</a:t>
            </a:r>
            <a:endParaRPr lang="en-US" sz="1000" dirty="0"/>
          </a:p>
        </p:txBody>
      </p:sp>
      <p:sp>
        <p:nvSpPr>
          <p:cNvPr id="50" name="Shape 45"/>
          <p:cNvSpPr/>
          <p:nvPr/>
        </p:nvSpPr>
        <p:spPr>
          <a:xfrm>
            <a:off x="2240280" y="5120640"/>
            <a:ext cx="8961120" cy="0"/>
          </a:xfrm>
          <a:prstGeom prst="line">
            <a:avLst/>
          </a:prstGeom>
          <a:noFill/>
          <a:ln w="12700">
            <a:solidFill>
              <a:srgbClr val="C7CCDA"/>
            </a:solidFill>
            <a:prstDash val="solid"/>
          </a:ln>
        </p:spPr>
      </p:sp>
      <p:sp>
        <p:nvSpPr>
          <p:cNvPr id="51" name="Shape 46"/>
          <p:cNvSpPr/>
          <p:nvPr/>
        </p:nvSpPr>
        <p:spPr>
          <a:xfrm>
            <a:off x="1965960" y="4846320"/>
            <a:ext cx="1417320" cy="548640"/>
          </a:xfrm>
          <a:prstGeom prst="roundRect">
            <a:avLst>
              <a:gd name="adj" fmla="val 16667"/>
            </a:avLst>
          </a:prstGeom>
          <a:solidFill>
            <a:srgbClr val="FFFFFF"/>
          </a:solidFill>
          <a:ln w="12700">
            <a:solidFill>
              <a:srgbClr val="DDE1EC"/>
            </a:solidFill>
            <a:prstDash val="solid"/>
          </a:ln>
        </p:spPr>
      </p:sp>
      <p:sp>
        <p:nvSpPr>
          <p:cNvPr id="52" name="Text 47"/>
          <p:cNvSpPr txBox="1"/>
          <p:nvPr/>
        </p:nvSpPr>
        <p:spPr>
          <a:xfrm>
            <a:off x="2020824"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Login</a:t>
            </a:r>
            <a:endParaRPr lang="en-US" sz="1150" dirty="0"/>
          </a:p>
        </p:txBody>
      </p:sp>
      <p:sp>
        <p:nvSpPr>
          <p:cNvPr id="53" name="Shape 48"/>
          <p:cNvSpPr/>
          <p:nvPr/>
        </p:nvSpPr>
        <p:spPr>
          <a:xfrm>
            <a:off x="3584448" y="4846320"/>
            <a:ext cx="1417320" cy="548640"/>
          </a:xfrm>
          <a:prstGeom prst="roundRect">
            <a:avLst>
              <a:gd name="adj" fmla="val 16667"/>
            </a:avLst>
          </a:prstGeom>
          <a:solidFill>
            <a:srgbClr val="FFFFFF"/>
          </a:solidFill>
          <a:ln w="12700">
            <a:solidFill>
              <a:srgbClr val="DDE1EC"/>
            </a:solidFill>
            <a:prstDash val="solid"/>
          </a:ln>
        </p:spPr>
      </p:sp>
      <p:sp>
        <p:nvSpPr>
          <p:cNvPr id="54" name="Text 49"/>
          <p:cNvSpPr txBox="1"/>
          <p:nvPr/>
        </p:nvSpPr>
        <p:spPr>
          <a:xfrm>
            <a:off x="3639312"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Overview</a:t>
            </a:r>
            <a:endParaRPr lang="en-US" sz="1150" dirty="0"/>
          </a:p>
        </p:txBody>
      </p:sp>
      <p:sp>
        <p:nvSpPr>
          <p:cNvPr id="55" name="Shape 50"/>
          <p:cNvSpPr/>
          <p:nvPr/>
        </p:nvSpPr>
        <p:spPr>
          <a:xfrm>
            <a:off x="5202936" y="4846320"/>
            <a:ext cx="1417320" cy="548640"/>
          </a:xfrm>
          <a:prstGeom prst="roundRect">
            <a:avLst>
              <a:gd name="adj" fmla="val 16667"/>
            </a:avLst>
          </a:prstGeom>
          <a:solidFill>
            <a:srgbClr val="FFFFFF"/>
          </a:solidFill>
          <a:ln w="12700">
            <a:solidFill>
              <a:srgbClr val="DDE1EC"/>
            </a:solidFill>
            <a:prstDash val="solid"/>
          </a:ln>
        </p:spPr>
      </p:sp>
      <p:sp>
        <p:nvSpPr>
          <p:cNvPr id="56" name="Text 51"/>
          <p:cNvSpPr txBox="1"/>
          <p:nvPr/>
        </p:nvSpPr>
        <p:spPr>
          <a:xfrm>
            <a:off x="5257800"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People</a:t>
            </a:r>
            <a:endParaRPr lang="en-US" sz="1150" dirty="0"/>
          </a:p>
        </p:txBody>
      </p:sp>
      <p:sp>
        <p:nvSpPr>
          <p:cNvPr id="57" name="Shape 52"/>
          <p:cNvSpPr/>
          <p:nvPr/>
        </p:nvSpPr>
        <p:spPr>
          <a:xfrm>
            <a:off x="6821424" y="4846320"/>
            <a:ext cx="1417320" cy="548640"/>
          </a:xfrm>
          <a:prstGeom prst="roundRect">
            <a:avLst>
              <a:gd name="adj" fmla="val 16667"/>
            </a:avLst>
          </a:prstGeom>
          <a:solidFill>
            <a:srgbClr val="FFFFFF"/>
          </a:solidFill>
          <a:ln w="12700">
            <a:solidFill>
              <a:srgbClr val="DDE1EC"/>
            </a:solidFill>
            <a:prstDash val="solid"/>
          </a:ln>
        </p:spPr>
      </p:sp>
      <p:sp>
        <p:nvSpPr>
          <p:cNvPr id="58" name="Text 53"/>
          <p:cNvSpPr txBox="1"/>
          <p:nvPr/>
        </p:nvSpPr>
        <p:spPr>
          <a:xfrm>
            <a:off x="6876288"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Services / Counters</a:t>
            </a:r>
            <a:endParaRPr lang="en-US" sz="1150" dirty="0"/>
          </a:p>
        </p:txBody>
      </p:sp>
      <p:sp>
        <p:nvSpPr>
          <p:cNvPr id="59" name="Shape 54"/>
          <p:cNvSpPr/>
          <p:nvPr/>
        </p:nvSpPr>
        <p:spPr>
          <a:xfrm>
            <a:off x="8439912" y="4846320"/>
            <a:ext cx="1417320" cy="548640"/>
          </a:xfrm>
          <a:prstGeom prst="roundRect">
            <a:avLst>
              <a:gd name="adj" fmla="val 16667"/>
            </a:avLst>
          </a:prstGeom>
          <a:solidFill>
            <a:srgbClr val="FFFFFF"/>
          </a:solidFill>
          <a:ln w="12700">
            <a:solidFill>
              <a:srgbClr val="DDE1EC"/>
            </a:solidFill>
            <a:prstDash val="solid"/>
          </a:ln>
        </p:spPr>
      </p:sp>
      <p:sp>
        <p:nvSpPr>
          <p:cNvPr id="60" name="Text 55"/>
          <p:cNvSpPr txBox="1"/>
          <p:nvPr/>
        </p:nvSpPr>
        <p:spPr>
          <a:xfrm>
            <a:off x="8494776"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Live Queues</a:t>
            </a:r>
            <a:endParaRPr lang="en-US" sz="1150" dirty="0"/>
          </a:p>
        </p:txBody>
      </p:sp>
      <p:sp>
        <p:nvSpPr>
          <p:cNvPr id="61" name="Shape 56"/>
          <p:cNvSpPr/>
          <p:nvPr/>
        </p:nvSpPr>
        <p:spPr>
          <a:xfrm>
            <a:off x="10058400" y="4846320"/>
            <a:ext cx="1417320" cy="548640"/>
          </a:xfrm>
          <a:prstGeom prst="roundRect">
            <a:avLst>
              <a:gd name="adj" fmla="val 16667"/>
            </a:avLst>
          </a:prstGeom>
          <a:solidFill>
            <a:srgbClr val="FFFFFF"/>
          </a:solidFill>
          <a:ln w="12700">
            <a:solidFill>
              <a:srgbClr val="DDE1EC"/>
            </a:solidFill>
            <a:prstDash val="solid"/>
          </a:ln>
        </p:spPr>
      </p:sp>
      <p:sp>
        <p:nvSpPr>
          <p:cNvPr id="62" name="Text 57"/>
          <p:cNvSpPr txBox="1"/>
          <p:nvPr/>
        </p:nvSpPr>
        <p:spPr>
          <a:xfrm>
            <a:off x="10113264" y="4846320"/>
            <a:ext cx="1307592" cy="54864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Audit / Management</a:t>
            </a:r>
            <a:endParaRPr lang="en-US" sz="1150" dirty="0"/>
          </a:p>
        </p:txBody>
      </p:sp>
      <p:sp>
        <p:nvSpPr>
          <p:cNvPr id="63" name="Text 58"/>
          <p:cNvSpPr txBox="1"/>
          <p:nvPr/>
        </p:nvSpPr>
        <p:spPr>
          <a:xfrm>
            <a:off x="548640" y="5943600"/>
            <a:ext cx="1463040" cy="274320"/>
          </a:xfrm>
          <a:prstGeom prst="rect">
            <a:avLst/>
          </a:prstGeom>
          <a:noFill/>
          <a:ln/>
        </p:spPr>
        <p:txBody>
          <a:bodyPr wrap="square" lIns="0" tIns="0" rIns="0" bIns="0" rtlCol="0" anchor="ctr"/>
          <a:lstStyle/>
          <a:p>
            <a:pPr algn="l" indent="0" marL="0">
              <a:buNone/>
            </a:pPr>
            <a:r>
              <a:rPr lang="en-US" sz="950" b="1" spc="200" kern="0" dirty="0">
                <a:solidFill>
                  <a:srgbClr val="5B6478"/>
                </a:solidFill>
                <a:latin typeface="Calibri" pitchFamily="34" charset="0"/>
                <a:ea typeface="Calibri" pitchFamily="34" charset="-122"/>
                <a:cs typeface="Calibri" pitchFamily="34" charset="-120"/>
              </a:rPr>
              <a:t>TOKEN COLOURS</a:t>
            </a:r>
            <a:endParaRPr lang="en-US" sz="950" dirty="0"/>
          </a:p>
        </p:txBody>
      </p:sp>
      <p:sp>
        <p:nvSpPr>
          <p:cNvPr id="64" name="Shape 59"/>
          <p:cNvSpPr/>
          <p:nvPr/>
        </p:nvSpPr>
        <p:spPr>
          <a:xfrm>
            <a:off x="1965960" y="5998464"/>
            <a:ext cx="274320" cy="164592"/>
          </a:xfrm>
          <a:prstGeom prst="roundRect">
            <a:avLst>
              <a:gd name="adj" fmla="val 27778"/>
            </a:avLst>
          </a:prstGeom>
          <a:solidFill>
            <a:srgbClr val="6D28D9"/>
          </a:solidFill>
          <a:ln/>
        </p:spPr>
      </p:sp>
      <p:sp>
        <p:nvSpPr>
          <p:cNvPr id="65" name="Text 60"/>
          <p:cNvSpPr txBox="1"/>
          <p:nvPr/>
        </p:nvSpPr>
        <p:spPr>
          <a:xfrm>
            <a:off x="2313432" y="5943600"/>
            <a:ext cx="1623060" cy="274320"/>
          </a:xfrm>
          <a:prstGeom prst="rect">
            <a:avLst/>
          </a:prstGeom>
          <a:noFill/>
          <a:ln/>
        </p:spPr>
        <p:txBody>
          <a:bodyPr wrap="square" lIns="0" tIns="0" rIns="0" bIns="0" rtlCol="0" anchor="ctr"/>
          <a:lstStyle/>
          <a:p>
            <a:pPr algn="l" indent="0" marL="0">
              <a:buNone/>
            </a:pPr>
            <a:r>
              <a:rPr lang="en-US" sz="1100" dirty="0">
                <a:solidFill>
                  <a:srgbClr val="0F172A"/>
                </a:solidFill>
                <a:latin typeface="Calibri" pitchFamily="34" charset="0"/>
                <a:ea typeface="Calibri" pitchFamily="34" charset="-122"/>
                <a:cs typeface="Calibri" pitchFamily="34" charset="-120"/>
              </a:rPr>
              <a:t>Waiting / Almost Next</a:t>
            </a:r>
            <a:endParaRPr lang="en-US" sz="1100" dirty="0"/>
          </a:p>
        </p:txBody>
      </p:sp>
      <p:sp>
        <p:nvSpPr>
          <p:cNvPr id="66" name="Shape 61"/>
          <p:cNvSpPr/>
          <p:nvPr/>
        </p:nvSpPr>
        <p:spPr>
          <a:xfrm>
            <a:off x="4210812" y="5998464"/>
            <a:ext cx="274320" cy="164592"/>
          </a:xfrm>
          <a:prstGeom prst="roundRect">
            <a:avLst>
              <a:gd name="adj" fmla="val 27778"/>
            </a:avLst>
          </a:prstGeom>
          <a:solidFill>
            <a:srgbClr val="FACC15"/>
          </a:solidFill>
          <a:ln/>
        </p:spPr>
      </p:sp>
      <p:sp>
        <p:nvSpPr>
          <p:cNvPr id="67" name="Text 62"/>
          <p:cNvSpPr txBox="1"/>
          <p:nvPr/>
        </p:nvSpPr>
        <p:spPr>
          <a:xfrm>
            <a:off x="4558284" y="5943600"/>
            <a:ext cx="594360" cy="274320"/>
          </a:xfrm>
          <a:prstGeom prst="rect">
            <a:avLst/>
          </a:prstGeom>
          <a:noFill/>
          <a:ln/>
        </p:spPr>
        <p:txBody>
          <a:bodyPr wrap="square" lIns="0" tIns="0" rIns="0" bIns="0" rtlCol="0" anchor="ctr"/>
          <a:lstStyle/>
          <a:p>
            <a:pPr algn="l" indent="0" marL="0">
              <a:buNone/>
            </a:pPr>
            <a:r>
              <a:rPr lang="en-US" sz="1100" dirty="0">
                <a:solidFill>
                  <a:srgbClr val="0F172A"/>
                </a:solidFill>
                <a:latin typeface="Calibri" pitchFamily="34" charset="0"/>
                <a:ea typeface="Calibri" pitchFamily="34" charset="-122"/>
                <a:cs typeface="Calibri" pitchFamily="34" charset="-120"/>
              </a:rPr>
              <a:t>Called</a:t>
            </a:r>
            <a:endParaRPr lang="en-US" sz="1100" dirty="0"/>
          </a:p>
        </p:txBody>
      </p:sp>
      <p:sp>
        <p:nvSpPr>
          <p:cNvPr id="68" name="Shape 63"/>
          <p:cNvSpPr/>
          <p:nvPr/>
        </p:nvSpPr>
        <p:spPr>
          <a:xfrm>
            <a:off x="5426964" y="5998464"/>
            <a:ext cx="274320" cy="164592"/>
          </a:xfrm>
          <a:prstGeom prst="roundRect">
            <a:avLst>
              <a:gd name="adj" fmla="val 27778"/>
            </a:avLst>
          </a:prstGeom>
          <a:solidFill>
            <a:srgbClr val="16A34A"/>
          </a:solidFill>
          <a:ln/>
        </p:spPr>
      </p:sp>
      <p:sp>
        <p:nvSpPr>
          <p:cNvPr id="69" name="Text 64"/>
          <p:cNvSpPr txBox="1"/>
          <p:nvPr/>
        </p:nvSpPr>
        <p:spPr>
          <a:xfrm>
            <a:off x="5774436" y="5943600"/>
            <a:ext cx="662940" cy="274320"/>
          </a:xfrm>
          <a:prstGeom prst="rect">
            <a:avLst/>
          </a:prstGeom>
          <a:noFill/>
          <a:ln/>
        </p:spPr>
        <p:txBody>
          <a:bodyPr wrap="square" lIns="0" tIns="0" rIns="0" bIns="0" rtlCol="0" anchor="ctr"/>
          <a:lstStyle/>
          <a:p>
            <a:pPr algn="l" indent="0" marL="0">
              <a:buNone/>
            </a:pPr>
            <a:r>
              <a:rPr lang="en-US" sz="1100" dirty="0">
                <a:solidFill>
                  <a:srgbClr val="0F172A"/>
                </a:solidFill>
                <a:latin typeface="Calibri" pitchFamily="34" charset="0"/>
                <a:ea typeface="Calibri" pitchFamily="34" charset="-122"/>
                <a:cs typeface="Calibri" pitchFamily="34" charset="-120"/>
              </a:rPr>
              <a:t>Serving</a:t>
            </a:r>
            <a:endParaRPr lang="en-US" sz="1100" dirty="0"/>
          </a:p>
        </p:txBody>
      </p:sp>
      <p:sp>
        <p:nvSpPr>
          <p:cNvPr id="70" name="Shape 65"/>
          <p:cNvSpPr/>
          <p:nvPr/>
        </p:nvSpPr>
        <p:spPr>
          <a:xfrm>
            <a:off x="6711696" y="5998464"/>
            <a:ext cx="274320" cy="164592"/>
          </a:xfrm>
          <a:prstGeom prst="roundRect">
            <a:avLst>
              <a:gd name="adj" fmla="val 27778"/>
            </a:avLst>
          </a:prstGeom>
          <a:solidFill>
            <a:srgbClr val="94A3B8"/>
          </a:solidFill>
          <a:ln/>
        </p:spPr>
      </p:sp>
      <p:sp>
        <p:nvSpPr>
          <p:cNvPr id="71" name="Text 66"/>
          <p:cNvSpPr txBox="1"/>
          <p:nvPr/>
        </p:nvSpPr>
        <p:spPr>
          <a:xfrm>
            <a:off x="7059168" y="5943600"/>
            <a:ext cx="800100" cy="274320"/>
          </a:xfrm>
          <a:prstGeom prst="rect">
            <a:avLst/>
          </a:prstGeom>
          <a:noFill/>
          <a:ln/>
        </p:spPr>
        <p:txBody>
          <a:bodyPr wrap="square" lIns="0" tIns="0" rIns="0" bIns="0" rtlCol="0" anchor="ctr"/>
          <a:lstStyle/>
          <a:p>
            <a:pPr algn="l" indent="0" marL="0">
              <a:buNone/>
            </a:pPr>
            <a:r>
              <a:rPr lang="en-US" sz="1100" dirty="0">
                <a:solidFill>
                  <a:srgbClr val="0F172A"/>
                </a:solidFill>
                <a:latin typeface="Calibri" pitchFamily="34" charset="0"/>
                <a:ea typeface="Calibri" pitchFamily="34" charset="-122"/>
                <a:cs typeface="Calibri" pitchFamily="34" charset="-120"/>
              </a:rPr>
              <a:t>Completed</a:t>
            </a:r>
            <a:endParaRPr lang="en-US" sz="1100" dirty="0"/>
          </a:p>
        </p:txBody>
      </p:sp>
      <p:sp>
        <p:nvSpPr>
          <p:cNvPr id="72" name="Text 67"/>
          <p:cNvSpPr txBox="1"/>
          <p:nvPr/>
        </p:nvSpPr>
        <p:spPr>
          <a:xfrm>
            <a:off x="8412480" y="5943600"/>
            <a:ext cx="3227832" cy="274320"/>
          </a:xfrm>
          <a:prstGeom prst="rect">
            <a:avLst/>
          </a:prstGeom>
          <a:noFill/>
          <a:ln/>
        </p:spPr>
        <p:txBody>
          <a:bodyPr wrap="square" lIns="0" tIns="0" rIns="0" bIns="0" rtlCol="0" anchor="ctr"/>
          <a:lstStyle/>
          <a:p>
            <a:pPr algn="r" indent="0" marL="0">
              <a:buNone/>
            </a:pPr>
            <a:r>
              <a:rPr lang="en-US" sz="1100" b="1" i="1" dirty="0">
                <a:solidFill>
                  <a:srgbClr val="5B6478"/>
                </a:solidFill>
                <a:latin typeface="Calibri" pitchFamily="34" charset="0"/>
                <a:ea typeface="Calibri" pitchFamily="34" charset="-122"/>
                <a:cs typeface="Calibri" pitchFamily="34" charset="-120"/>
              </a:rPr>
              <a:t>Yellow is reserved for CALLED only</a:t>
            </a:r>
            <a:endParaRPr lang="en-US" sz="1100" dirty="0"/>
          </a:p>
        </p:txBody>
      </p:sp>
      <p:sp>
        <p:nvSpPr>
          <p:cNvPr id="73" name="Text 68"/>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74" name="Text 69"/>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07  ·  REAL-TIME INTELLIGENCE</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Real-Time Queue Intelligence</a:t>
            </a:r>
            <a:endParaRPr lang="en-US" sz="3000" dirty="0"/>
          </a:p>
        </p:txBody>
      </p:sp>
      <p:sp>
        <p:nvSpPr>
          <p:cNvPr id="4" name="Shape 2"/>
          <p:cNvSpPr/>
          <p:nvPr/>
        </p:nvSpPr>
        <p:spPr>
          <a:xfrm>
            <a:off x="548640" y="1463040"/>
            <a:ext cx="3566160" cy="3611880"/>
          </a:xfrm>
          <a:prstGeom prst="roundRect">
            <a:avLst>
              <a:gd name="adj" fmla="val 4615"/>
            </a:avLst>
          </a:prstGeom>
          <a:solidFill>
            <a:srgbClr val="F3F4F9"/>
          </a:solidFill>
          <a:ln/>
        </p:spPr>
      </p:sp>
      <p:sp>
        <p:nvSpPr>
          <p:cNvPr id="5" name="Shape 3"/>
          <p:cNvSpPr/>
          <p:nvPr/>
        </p:nvSpPr>
        <p:spPr>
          <a:xfrm>
            <a:off x="777240" y="1691640"/>
            <a:ext cx="457200" cy="457200"/>
          </a:xfrm>
          <a:prstGeom prst="roundRect">
            <a:avLst>
              <a:gd name="adj" fmla="val 28000"/>
            </a:avLst>
          </a:prstGeom>
          <a:solidFill>
            <a:srgbClr val="6D28D9"/>
          </a:solidFill>
          <a:ln/>
        </p:spPr>
      </p:sp>
      <p:pic>
        <p:nvPicPr>
          <p:cNvPr id="6" name="Image 0" descr="preencoded.png">    </p:cNvPr>
          <p:cNvPicPr>
            <a:picLocks noChangeAspect="1"/>
          </p:cNvPicPr>
          <p:nvPr/>
        </p:nvPicPr>
        <p:blipFill>
          <a:blip r:embed="rId1"/>
          <a:stretch>
            <a:fillRect/>
          </a:stretch>
        </p:blipFill>
        <p:spPr>
          <a:xfrm>
            <a:off x="877824" y="1792224"/>
            <a:ext cx="256032" cy="256032"/>
          </a:xfrm>
          <a:prstGeom prst="rect">
            <a:avLst/>
          </a:prstGeom>
        </p:spPr>
      </p:pic>
      <p:sp>
        <p:nvSpPr>
          <p:cNvPr id="7" name="Text 4"/>
          <p:cNvSpPr txBox="1"/>
          <p:nvPr/>
        </p:nvSpPr>
        <p:spPr>
          <a:xfrm>
            <a:off x="1371600" y="1691640"/>
            <a:ext cx="2651760" cy="45720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1  Live Queue Position</a:t>
            </a:r>
            <a:endParaRPr lang="en-US" sz="1600" dirty="0"/>
          </a:p>
        </p:txBody>
      </p:sp>
      <p:sp>
        <p:nvSpPr>
          <p:cNvPr id="8" name="Shape 5"/>
          <p:cNvSpPr/>
          <p:nvPr/>
        </p:nvSpPr>
        <p:spPr>
          <a:xfrm>
            <a:off x="4311396" y="1463040"/>
            <a:ext cx="3566160" cy="3611880"/>
          </a:xfrm>
          <a:prstGeom prst="roundRect">
            <a:avLst>
              <a:gd name="adj" fmla="val 4615"/>
            </a:avLst>
          </a:prstGeom>
          <a:solidFill>
            <a:srgbClr val="F3F4F9"/>
          </a:solidFill>
          <a:ln/>
        </p:spPr>
      </p:sp>
      <p:sp>
        <p:nvSpPr>
          <p:cNvPr id="9" name="Shape 6"/>
          <p:cNvSpPr/>
          <p:nvPr/>
        </p:nvSpPr>
        <p:spPr>
          <a:xfrm>
            <a:off x="4539996" y="1691640"/>
            <a:ext cx="457200" cy="457200"/>
          </a:xfrm>
          <a:prstGeom prst="roundRect">
            <a:avLst>
              <a:gd name="adj" fmla="val 28000"/>
            </a:avLst>
          </a:prstGeom>
          <a:solidFill>
            <a:srgbClr val="6D28D9"/>
          </a:solidFill>
          <a:ln/>
        </p:spPr>
      </p:sp>
      <p:pic>
        <p:nvPicPr>
          <p:cNvPr id="10" name="Image 1" descr="preencoded.png">    </p:cNvPr>
          <p:cNvPicPr>
            <a:picLocks noChangeAspect="1"/>
          </p:cNvPicPr>
          <p:nvPr/>
        </p:nvPicPr>
        <p:blipFill>
          <a:blip r:embed="rId2"/>
          <a:stretch>
            <a:fillRect/>
          </a:stretch>
        </p:blipFill>
        <p:spPr>
          <a:xfrm>
            <a:off x="4640580" y="1792224"/>
            <a:ext cx="256032" cy="256032"/>
          </a:xfrm>
          <a:prstGeom prst="rect">
            <a:avLst/>
          </a:prstGeom>
        </p:spPr>
      </p:pic>
      <p:sp>
        <p:nvSpPr>
          <p:cNvPr id="11" name="Text 7"/>
          <p:cNvSpPr txBox="1"/>
          <p:nvPr/>
        </p:nvSpPr>
        <p:spPr>
          <a:xfrm>
            <a:off x="5134356" y="1691640"/>
            <a:ext cx="2651760" cy="45720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2  Estimated Wait</a:t>
            </a:r>
            <a:endParaRPr lang="en-US" sz="1600" dirty="0"/>
          </a:p>
        </p:txBody>
      </p:sp>
      <p:sp>
        <p:nvSpPr>
          <p:cNvPr id="12" name="Shape 8"/>
          <p:cNvSpPr/>
          <p:nvPr/>
        </p:nvSpPr>
        <p:spPr>
          <a:xfrm>
            <a:off x="8074152" y="1463040"/>
            <a:ext cx="3566160" cy="3611880"/>
          </a:xfrm>
          <a:prstGeom prst="roundRect">
            <a:avLst>
              <a:gd name="adj" fmla="val 4615"/>
            </a:avLst>
          </a:prstGeom>
          <a:solidFill>
            <a:srgbClr val="F3F4F9"/>
          </a:solidFill>
          <a:ln/>
        </p:spPr>
      </p:sp>
      <p:sp>
        <p:nvSpPr>
          <p:cNvPr id="13" name="Shape 9"/>
          <p:cNvSpPr/>
          <p:nvPr/>
        </p:nvSpPr>
        <p:spPr>
          <a:xfrm>
            <a:off x="8302752" y="1691640"/>
            <a:ext cx="457200" cy="457200"/>
          </a:xfrm>
          <a:prstGeom prst="roundRect">
            <a:avLst>
              <a:gd name="adj" fmla="val 28000"/>
            </a:avLst>
          </a:prstGeom>
          <a:solidFill>
            <a:srgbClr val="6D28D9"/>
          </a:solidFill>
          <a:ln/>
        </p:spPr>
      </p:sp>
      <p:pic>
        <p:nvPicPr>
          <p:cNvPr id="14" name="Image 2" descr="preencoded.png">    </p:cNvPr>
          <p:cNvPicPr>
            <a:picLocks noChangeAspect="1"/>
          </p:cNvPicPr>
          <p:nvPr/>
        </p:nvPicPr>
        <p:blipFill>
          <a:blip r:embed="rId3"/>
          <a:stretch>
            <a:fillRect/>
          </a:stretch>
        </p:blipFill>
        <p:spPr>
          <a:xfrm>
            <a:off x="8403336" y="1792224"/>
            <a:ext cx="256032" cy="256032"/>
          </a:xfrm>
          <a:prstGeom prst="rect">
            <a:avLst/>
          </a:prstGeom>
        </p:spPr>
      </p:pic>
      <p:sp>
        <p:nvSpPr>
          <p:cNvPr id="15" name="Text 10"/>
          <p:cNvSpPr txBox="1"/>
          <p:nvPr/>
        </p:nvSpPr>
        <p:spPr>
          <a:xfrm>
            <a:off x="8897112" y="1691640"/>
            <a:ext cx="2651760" cy="45720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3  Real-Time Events</a:t>
            </a:r>
            <a:endParaRPr lang="en-US" sz="1600" dirty="0"/>
          </a:p>
        </p:txBody>
      </p:sp>
      <p:sp>
        <p:nvSpPr>
          <p:cNvPr id="16" name="Shape 11"/>
          <p:cNvSpPr/>
          <p:nvPr/>
        </p:nvSpPr>
        <p:spPr>
          <a:xfrm>
            <a:off x="777240" y="2377440"/>
            <a:ext cx="3108960" cy="2468880"/>
          </a:xfrm>
          <a:prstGeom prst="roundRect">
            <a:avLst>
              <a:gd name="adj" fmla="val 5185"/>
            </a:avLst>
          </a:prstGeom>
          <a:solidFill>
            <a:srgbClr val="FFFFFF"/>
          </a:solidFill>
          <a:ln w="12700">
            <a:solidFill>
              <a:srgbClr val="DDE1EC"/>
            </a:solidFill>
            <a:prstDash val="solid"/>
          </a:ln>
        </p:spPr>
      </p:sp>
      <p:sp>
        <p:nvSpPr>
          <p:cNvPr id="17" name="Shape 12"/>
          <p:cNvSpPr/>
          <p:nvPr/>
        </p:nvSpPr>
        <p:spPr>
          <a:xfrm>
            <a:off x="960120" y="2560320"/>
            <a:ext cx="1005840" cy="384048"/>
          </a:xfrm>
          <a:prstGeom prst="roundRect">
            <a:avLst>
              <a:gd name="adj" fmla="val 23810"/>
            </a:avLst>
          </a:prstGeom>
          <a:solidFill>
            <a:srgbClr val="6D28D9"/>
          </a:solidFill>
          <a:ln/>
        </p:spPr>
      </p:sp>
      <p:sp>
        <p:nvSpPr>
          <p:cNvPr id="18" name="Text 13"/>
          <p:cNvSpPr txBox="1"/>
          <p:nvPr/>
        </p:nvSpPr>
        <p:spPr>
          <a:xfrm>
            <a:off x="1014984" y="2560320"/>
            <a:ext cx="89611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RA003</a:t>
            </a:r>
            <a:endParaRPr lang="en-US" sz="1500" dirty="0"/>
          </a:p>
        </p:txBody>
      </p:sp>
      <p:sp>
        <p:nvSpPr>
          <p:cNvPr id="19" name="Shape 14"/>
          <p:cNvSpPr/>
          <p:nvPr/>
        </p:nvSpPr>
        <p:spPr>
          <a:xfrm>
            <a:off x="2743200" y="2596896"/>
            <a:ext cx="960120" cy="310896"/>
          </a:xfrm>
          <a:prstGeom prst="roundRect">
            <a:avLst>
              <a:gd name="adj" fmla="val 50000"/>
            </a:avLst>
          </a:prstGeom>
          <a:solidFill>
            <a:srgbClr val="EDE9FE"/>
          </a:solidFill>
          <a:ln/>
        </p:spPr>
      </p:sp>
      <p:sp>
        <p:nvSpPr>
          <p:cNvPr id="20" name="Text 15"/>
          <p:cNvSpPr txBox="1"/>
          <p:nvPr/>
        </p:nvSpPr>
        <p:spPr>
          <a:xfrm>
            <a:off x="2798064" y="2596896"/>
            <a:ext cx="850392" cy="310896"/>
          </a:xfrm>
          <a:prstGeom prst="rect">
            <a:avLst/>
          </a:prstGeom>
          <a:noFill/>
          <a:ln/>
        </p:spPr>
        <p:txBody>
          <a:bodyPr wrap="square" lIns="0" tIns="0" rIns="0" bIns="0" rtlCol="0" anchor="ctr"/>
          <a:lstStyle/>
          <a:p>
            <a:pPr algn="ctr" indent="0" marL="0">
              <a:buNone/>
            </a:pPr>
            <a:r>
              <a:rPr lang="en-US" sz="1000" b="1" dirty="0">
                <a:solidFill>
                  <a:srgbClr val="4C1D95"/>
                </a:solidFill>
                <a:latin typeface="Calibri" pitchFamily="34" charset="0"/>
                <a:ea typeface="Calibri" pitchFamily="34" charset="-122"/>
                <a:cs typeface="Calibri" pitchFamily="34" charset="-120"/>
              </a:rPr>
              <a:t>WAITING</a:t>
            </a:r>
            <a:endParaRPr lang="en-US" sz="1000" dirty="0"/>
          </a:p>
        </p:txBody>
      </p:sp>
      <p:sp>
        <p:nvSpPr>
          <p:cNvPr id="21" name="Text 16"/>
          <p:cNvSpPr txBox="1"/>
          <p:nvPr/>
        </p:nvSpPr>
        <p:spPr>
          <a:xfrm>
            <a:off x="960120" y="3154680"/>
            <a:ext cx="1645920" cy="365760"/>
          </a:xfrm>
          <a:prstGeom prst="rect">
            <a:avLst/>
          </a:prstGeom>
          <a:noFill/>
          <a:ln/>
        </p:spPr>
        <p:txBody>
          <a:bodyPr wrap="square" lIns="0" tIns="0" rIns="0" bIns="0" rtlCol="0" anchor="ctr"/>
          <a:lstStyle/>
          <a:p>
            <a:pPr algn="l" indent="0" marL="0">
              <a:buNone/>
            </a:pPr>
            <a:r>
              <a:rPr lang="en-US" sz="1250" dirty="0">
                <a:solidFill>
                  <a:srgbClr val="5B6478"/>
                </a:solidFill>
                <a:latin typeface="Calibri" pitchFamily="34" charset="0"/>
                <a:ea typeface="Calibri" pitchFamily="34" charset="-122"/>
                <a:cs typeface="Calibri" pitchFamily="34" charset="-120"/>
              </a:rPr>
              <a:t>Position</a:t>
            </a:r>
            <a:endParaRPr lang="en-US" sz="1250" dirty="0"/>
          </a:p>
        </p:txBody>
      </p:sp>
      <p:sp>
        <p:nvSpPr>
          <p:cNvPr id="22" name="Text 17"/>
          <p:cNvSpPr txBox="1"/>
          <p:nvPr/>
        </p:nvSpPr>
        <p:spPr>
          <a:xfrm>
            <a:off x="2468880" y="3154680"/>
            <a:ext cx="1234440" cy="365760"/>
          </a:xfrm>
          <a:prstGeom prst="rect">
            <a:avLst/>
          </a:prstGeom>
          <a:noFill/>
          <a:ln/>
        </p:spPr>
        <p:txBody>
          <a:bodyPr wrap="square" lIns="0" tIns="0" rIns="0" bIns="0" rtlCol="0" anchor="ctr"/>
          <a:lstStyle/>
          <a:p>
            <a:pPr algn="r" indent="0" marL="0">
              <a:buNone/>
            </a:pPr>
            <a:r>
              <a:rPr lang="en-US" sz="1500" b="1" dirty="0">
                <a:solidFill>
                  <a:srgbClr val="0F172A"/>
                </a:solidFill>
                <a:latin typeface="Calibri" pitchFamily="34" charset="0"/>
                <a:ea typeface="Calibri" pitchFamily="34" charset="-122"/>
                <a:cs typeface="Calibri" pitchFamily="34" charset="-120"/>
              </a:rPr>
              <a:t>3 / 3</a:t>
            </a:r>
            <a:endParaRPr lang="en-US" sz="1500" dirty="0"/>
          </a:p>
        </p:txBody>
      </p:sp>
      <p:sp>
        <p:nvSpPr>
          <p:cNvPr id="23" name="Shape 18"/>
          <p:cNvSpPr/>
          <p:nvPr/>
        </p:nvSpPr>
        <p:spPr>
          <a:xfrm>
            <a:off x="960120" y="3584448"/>
            <a:ext cx="2743200" cy="0"/>
          </a:xfrm>
          <a:prstGeom prst="line">
            <a:avLst/>
          </a:prstGeom>
          <a:noFill/>
          <a:ln w="9525">
            <a:solidFill>
              <a:srgbClr val="DDE1EC"/>
            </a:solidFill>
            <a:prstDash val="solid"/>
          </a:ln>
        </p:spPr>
      </p:sp>
      <p:sp>
        <p:nvSpPr>
          <p:cNvPr id="24" name="Text 19"/>
          <p:cNvSpPr txBox="1"/>
          <p:nvPr/>
        </p:nvSpPr>
        <p:spPr>
          <a:xfrm>
            <a:off x="960120" y="3657600"/>
            <a:ext cx="1645920" cy="365760"/>
          </a:xfrm>
          <a:prstGeom prst="rect">
            <a:avLst/>
          </a:prstGeom>
          <a:noFill/>
          <a:ln/>
        </p:spPr>
        <p:txBody>
          <a:bodyPr wrap="square" lIns="0" tIns="0" rIns="0" bIns="0" rtlCol="0" anchor="ctr"/>
          <a:lstStyle/>
          <a:p>
            <a:pPr algn="l" indent="0" marL="0">
              <a:buNone/>
            </a:pPr>
            <a:r>
              <a:rPr lang="en-US" sz="1250" dirty="0">
                <a:solidFill>
                  <a:srgbClr val="5B6478"/>
                </a:solidFill>
                <a:latin typeface="Calibri" pitchFamily="34" charset="0"/>
                <a:ea typeface="Calibri" pitchFamily="34" charset="-122"/>
                <a:cs typeface="Calibri" pitchFamily="34" charset="-120"/>
              </a:rPr>
              <a:t>People ahead</a:t>
            </a:r>
            <a:endParaRPr lang="en-US" sz="1250" dirty="0"/>
          </a:p>
        </p:txBody>
      </p:sp>
      <p:sp>
        <p:nvSpPr>
          <p:cNvPr id="25" name="Text 20"/>
          <p:cNvSpPr txBox="1"/>
          <p:nvPr/>
        </p:nvSpPr>
        <p:spPr>
          <a:xfrm>
            <a:off x="2468880" y="3657600"/>
            <a:ext cx="1234440" cy="365760"/>
          </a:xfrm>
          <a:prstGeom prst="rect">
            <a:avLst/>
          </a:prstGeom>
          <a:noFill/>
          <a:ln/>
        </p:spPr>
        <p:txBody>
          <a:bodyPr wrap="square" lIns="0" tIns="0" rIns="0" bIns="0" rtlCol="0" anchor="ctr"/>
          <a:lstStyle/>
          <a:p>
            <a:pPr algn="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26" name="Shape 21"/>
          <p:cNvSpPr/>
          <p:nvPr/>
        </p:nvSpPr>
        <p:spPr>
          <a:xfrm>
            <a:off x="960120" y="4087368"/>
            <a:ext cx="2743200" cy="0"/>
          </a:xfrm>
          <a:prstGeom prst="line">
            <a:avLst/>
          </a:prstGeom>
          <a:noFill/>
          <a:ln w="9525">
            <a:solidFill>
              <a:srgbClr val="DDE1EC"/>
            </a:solidFill>
            <a:prstDash val="solid"/>
          </a:ln>
        </p:spPr>
      </p:sp>
      <p:sp>
        <p:nvSpPr>
          <p:cNvPr id="27" name="Text 22"/>
          <p:cNvSpPr txBox="1"/>
          <p:nvPr/>
        </p:nvSpPr>
        <p:spPr>
          <a:xfrm>
            <a:off x="960120" y="4160520"/>
            <a:ext cx="1645920" cy="365760"/>
          </a:xfrm>
          <a:prstGeom prst="rect">
            <a:avLst/>
          </a:prstGeom>
          <a:noFill/>
          <a:ln/>
        </p:spPr>
        <p:txBody>
          <a:bodyPr wrap="square" lIns="0" tIns="0" rIns="0" bIns="0" rtlCol="0" anchor="ctr"/>
          <a:lstStyle/>
          <a:p>
            <a:pPr algn="l" indent="0" marL="0">
              <a:buNone/>
            </a:pPr>
            <a:r>
              <a:rPr lang="en-US" sz="1250" dirty="0">
                <a:solidFill>
                  <a:srgbClr val="5B6478"/>
                </a:solidFill>
                <a:latin typeface="Calibri" pitchFamily="34" charset="0"/>
                <a:ea typeface="Calibri" pitchFamily="34" charset="-122"/>
                <a:cs typeface="Calibri" pitchFamily="34" charset="-120"/>
              </a:rPr>
              <a:t>Current state</a:t>
            </a:r>
            <a:endParaRPr lang="en-US" sz="1250" dirty="0"/>
          </a:p>
        </p:txBody>
      </p:sp>
      <p:sp>
        <p:nvSpPr>
          <p:cNvPr id="28" name="Text 23"/>
          <p:cNvSpPr txBox="1"/>
          <p:nvPr/>
        </p:nvSpPr>
        <p:spPr>
          <a:xfrm>
            <a:off x="2468880" y="4160520"/>
            <a:ext cx="1234440" cy="365760"/>
          </a:xfrm>
          <a:prstGeom prst="rect">
            <a:avLst/>
          </a:prstGeom>
          <a:noFill/>
          <a:ln/>
        </p:spPr>
        <p:txBody>
          <a:bodyPr wrap="square" lIns="0" tIns="0" rIns="0" bIns="0" rtlCol="0" anchor="ctr"/>
          <a:lstStyle/>
          <a:p>
            <a:pPr algn="r" indent="0" marL="0">
              <a:buNone/>
            </a:pPr>
            <a:r>
              <a:rPr lang="en-US" sz="1500" b="1" dirty="0">
                <a:solidFill>
                  <a:srgbClr val="0F172A"/>
                </a:solidFill>
                <a:latin typeface="Calibri" pitchFamily="34" charset="0"/>
                <a:ea typeface="Calibri" pitchFamily="34" charset="-122"/>
                <a:cs typeface="Calibri" pitchFamily="34" charset="-120"/>
              </a:rPr>
              <a:t>Waiting</a:t>
            </a:r>
            <a:endParaRPr lang="en-US" sz="1500" dirty="0"/>
          </a:p>
        </p:txBody>
      </p:sp>
      <p:sp>
        <p:nvSpPr>
          <p:cNvPr id="29" name="Shape 24"/>
          <p:cNvSpPr/>
          <p:nvPr/>
        </p:nvSpPr>
        <p:spPr>
          <a:xfrm>
            <a:off x="4539996" y="2331720"/>
            <a:ext cx="3108960" cy="1572768"/>
          </a:xfrm>
          <a:prstGeom prst="roundRect">
            <a:avLst>
              <a:gd name="adj" fmla="val 6977"/>
            </a:avLst>
          </a:prstGeom>
          <a:solidFill>
            <a:srgbClr val="0B1026"/>
          </a:solidFill>
          <a:ln/>
        </p:spPr>
      </p:sp>
      <p:sp>
        <p:nvSpPr>
          <p:cNvPr id="30" name="Text 25"/>
          <p:cNvSpPr txBox="1"/>
          <p:nvPr/>
        </p:nvSpPr>
        <p:spPr>
          <a:xfrm>
            <a:off x="4722876" y="2441448"/>
            <a:ext cx="2834640" cy="1371600"/>
          </a:xfrm>
          <a:prstGeom prst="rect">
            <a:avLst/>
          </a:prstGeom>
          <a:noFill/>
          <a:ln/>
        </p:spPr>
        <p:txBody>
          <a:bodyPr wrap="square" lIns="0" tIns="0" rIns="0" bIns="0" rtlCol="0" anchor="t"/>
          <a:lstStyle/>
          <a:p>
            <a:pPr indent="0" marL="0">
              <a:lnSpc>
                <a:spcPct val="100000"/>
              </a:lnSpc>
              <a:buNone/>
            </a:pPr>
            <a:r>
              <a:rPr lang="en-US" sz="1300" b="1" dirty="0">
                <a:solidFill>
                  <a:srgbClr val="A78BFA"/>
                </a:solidFill>
                <a:latin typeface="Calibri" pitchFamily="34" charset="0"/>
                <a:ea typeface="Calibri" pitchFamily="34" charset="-122"/>
                <a:cs typeface="Calibri" pitchFamily="34" charset="-120"/>
              </a:rPr>
              <a:t>Estimated Wait ≈</a:t>
            </a:r>
            <a:endParaRPr lang="en-US" sz="1300" dirty="0"/>
          </a:p>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(People Ahead ÷ Batch Size)</a:t>
            </a:r>
            <a:endParaRPr lang="en-US" sz="1300" dirty="0"/>
          </a:p>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 Service Time × Traffic</a:t>
            </a:r>
            <a:endParaRPr lang="en-US" sz="1300" dirty="0"/>
          </a:p>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 Remaining Current Service</a:t>
            </a:r>
            <a:endParaRPr lang="en-US" sz="1300" dirty="0"/>
          </a:p>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 Staff Delay</a:t>
            </a:r>
            <a:endParaRPr lang="en-US" sz="1300" dirty="0"/>
          </a:p>
        </p:txBody>
      </p:sp>
      <p:sp>
        <p:nvSpPr>
          <p:cNvPr id="31" name="Text 26"/>
          <p:cNvSpPr txBox="1"/>
          <p:nvPr/>
        </p:nvSpPr>
        <p:spPr>
          <a:xfrm>
            <a:off x="4539996" y="4069080"/>
            <a:ext cx="868680" cy="256032"/>
          </a:xfrm>
          <a:prstGeom prst="rect">
            <a:avLst/>
          </a:prstGeom>
          <a:noFill/>
          <a:ln/>
        </p:spPr>
        <p:txBody>
          <a:bodyPr wrap="square" lIns="0" tIns="0" rIns="0" bIns="0" rtlCol="0" anchor="ctr"/>
          <a:lstStyle/>
          <a:p>
            <a:pPr algn="l" indent="0" marL="0">
              <a:buNone/>
            </a:pPr>
            <a:r>
              <a:rPr lang="en-US" sz="1150" dirty="0">
                <a:solidFill>
                  <a:srgbClr val="0F172A"/>
                </a:solidFill>
                <a:latin typeface="Calibri" pitchFamily="34" charset="0"/>
                <a:ea typeface="Calibri" pitchFamily="34" charset="-122"/>
                <a:cs typeface="Calibri" pitchFamily="34" charset="-120"/>
              </a:rPr>
              <a:t>Normal</a:t>
            </a:r>
            <a:endParaRPr lang="en-US" sz="1150" dirty="0"/>
          </a:p>
        </p:txBody>
      </p:sp>
      <p:sp>
        <p:nvSpPr>
          <p:cNvPr id="32" name="Shape 27"/>
          <p:cNvSpPr/>
          <p:nvPr/>
        </p:nvSpPr>
        <p:spPr>
          <a:xfrm>
            <a:off x="5408676" y="4114800"/>
            <a:ext cx="1066800" cy="164592"/>
          </a:xfrm>
          <a:prstGeom prst="roundRect">
            <a:avLst>
              <a:gd name="adj" fmla="val 27778"/>
            </a:avLst>
          </a:prstGeom>
          <a:solidFill>
            <a:srgbClr val="A5B4FC"/>
          </a:solidFill>
          <a:ln/>
        </p:spPr>
      </p:sp>
      <p:sp>
        <p:nvSpPr>
          <p:cNvPr id="33" name="Text 28"/>
          <p:cNvSpPr txBox="1"/>
          <p:nvPr/>
        </p:nvSpPr>
        <p:spPr>
          <a:xfrm>
            <a:off x="7054596" y="4069080"/>
            <a:ext cx="594360" cy="256032"/>
          </a:xfrm>
          <a:prstGeom prst="rect">
            <a:avLst/>
          </a:prstGeom>
          <a:noFill/>
          <a:ln/>
        </p:spPr>
        <p:txBody>
          <a:bodyPr wrap="square" lIns="0" tIns="0" rIns="0" bIns="0" rtlCol="0" anchor="ctr"/>
          <a:lstStyle/>
          <a:p>
            <a:pPr algn="r" indent="0" marL="0">
              <a:buNone/>
            </a:pPr>
            <a:r>
              <a:rPr lang="en-US" sz="1150" b="1" dirty="0">
                <a:solidFill>
                  <a:srgbClr val="0F172A"/>
                </a:solidFill>
                <a:latin typeface="Calibri" pitchFamily="34" charset="0"/>
                <a:ea typeface="Calibri" pitchFamily="34" charset="-122"/>
                <a:cs typeface="Calibri" pitchFamily="34" charset="-120"/>
              </a:rPr>
              <a:t>× 1.0</a:t>
            </a:r>
            <a:endParaRPr lang="en-US" sz="1150" dirty="0"/>
          </a:p>
        </p:txBody>
      </p:sp>
      <p:sp>
        <p:nvSpPr>
          <p:cNvPr id="34" name="Text 29"/>
          <p:cNvSpPr txBox="1"/>
          <p:nvPr/>
        </p:nvSpPr>
        <p:spPr>
          <a:xfrm>
            <a:off x="4539996" y="4398264"/>
            <a:ext cx="868680" cy="256032"/>
          </a:xfrm>
          <a:prstGeom prst="rect">
            <a:avLst/>
          </a:prstGeom>
          <a:noFill/>
          <a:ln/>
        </p:spPr>
        <p:txBody>
          <a:bodyPr wrap="square" lIns="0" tIns="0" rIns="0" bIns="0" rtlCol="0" anchor="ctr"/>
          <a:lstStyle/>
          <a:p>
            <a:pPr algn="l" indent="0" marL="0">
              <a:buNone/>
            </a:pPr>
            <a:r>
              <a:rPr lang="en-US" sz="1150" dirty="0">
                <a:solidFill>
                  <a:srgbClr val="0F172A"/>
                </a:solidFill>
                <a:latin typeface="Calibri" pitchFamily="34" charset="0"/>
                <a:ea typeface="Calibri" pitchFamily="34" charset="-122"/>
                <a:cs typeface="Calibri" pitchFamily="34" charset="-120"/>
              </a:rPr>
              <a:t>Moderate</a:t>
            </a:r>
            <a:endParaRPr lang="en-US" sz="1150" dirty="0"/>
          </a:p>
        </p:txBody>
      </p:sp>
      <p:sp>
        <p:nvSpPr>
          <p:cNvPr id="35" name="Shape 30"/>
          <p:cNvSpPr/>
          <p:nvPr/>
        </p:nvSpPr>
        <p:spPr>
          <a:xfrm>
            <a:off x="5408676" y="4443984"/>
            <a:ext cx="1333500" cy="164592"/>
          </a:xfrm>
          <a:prstGeom prst="roundRect">
            <a:avLst>
              <a:gd name="adj" fmla="val 27778"/>
            </a:avLst>
          </a:prstGeom>
          <a:solidFill>
            <a:srgbClr val="7C6AF0"/>
          </a:solidFill>
          <a:ln/>
        </p:spPr>
      </p:sp>
      <p:sp>
        <p:nvSpPr>
          <p:cNvPr id="36" name="Text 31"/>
          <p:cNvSpPr txBox="1"/>
          <p:nvPr/>
        </p:nvSpPr>
        <p:spPr>
          <a:xfrm>
            <a:off x="7054596" y="4398264"/>
            <a:ext cx="594360" cy="256032"/>
          </a:xfrm>
          <a:prstGeom prst="rect">
            <a:avLst/>
          </a:prstGeom>
          <a:noFill/>
          <a:ln/>
        </p:spPr>
        <p:txBody>
          <a:bodyPr wrap="square" lIns="0" tIns="0" rIns="0" bIns="0" rtlCol="0" anchor="ctr"/>
          <a:lstStyle/>
          <a:p>
            <a:pPr algn="r" indent="0" marL="0">
              <a:buNone/>
            </a:pPr>
            <a:r>
              <a:rPr lang="en-US" sz="1150" b="1" dirty="0">
                <a:solidFill>
                  <a:srgbClr val="0F172A"/>
                </a:solidFill>
                <a:latin typeface="Calibri" pitchFamily="34" charset="0"/>
                <a:ea typeface="Calibri" pitchFamily="34" charset="-122"/>
                <a:cs typeface="Calibri" pitchFamily="34" charset="-120"/>
              </a:rPr>
              <a:t>× 1.25</a:t>
            </a:r>
            <a:endParaRPr lang="en-US" sz="1150" dirty="0"/>
          </a:p>
        </p:txBody>
      </p:sp>
      <p:sp>
        <p:nvSpPr>
          <p:cNvPr id="37" name="Text 32"/>
          <p:cNvSpPr txBox="1"/>
          <p:nvPr/>
        </p:nvSpPr>
        <p:spPr>
          <a:xfrm>
            <a:off x="4539996" y="4727448"/>
            <a:ext cx="868680" cy="256032"/>
          </a:xfrm>
          <a:prstGeom prst="rect">
            <a:avLst/>
          </a:prstGeom>
          <a:noFill/>
          <a:ln/>
        </p:spPr>
        <p:txBody>
          <a:bodyPr wrap="square" lIns="0" tIns="0" rIns="0" bIns="0" rtlCol="0" anchor="ctr"/>
          <a:lstStyle/>
          <a:p>
            <a:pPr algn="l" indent="0" marL="0">
              <a:buNone/>
            </a:pPr>
            <a:r>
              <a:rPr lang="en-US" sz="1150" dirty="0">
                <a:solidFill>
                  <a:srgbClr val="0F172A"/>
                </a:solidFill>
                <a:latin typeface="Calibri" pitchFamily="34" charset="0"/>
                <a:ea typeface="Calibri" pitchFamily="34" charset="-122"/>
                <a:cs typeface="Calibri" pitchFamily="34" charset="-120"/>
              </a:rPr>
              <a:t>Heavy</a:t>
            </a:r>
            <a:endParaRPr lang="en-US" sz="1150" dirty="0"/>
          </a:p>
        </p:txBody>
      </p:sp>
      <p:sp>
        <p:nvSpPr>
          <p:cNvPr id="38" name="Shape 33"/>
          <p:cNvSpPr/>
          <p:nvPr/>
        </p:nvSpPr>
        <p:spPr>
          <a:xfrm>
            <a:off x="5408676" y="4773168"/>
            <a:ext cx="1600200" cy="164592"/>
          </a:xfrm>
          <a:prstGeom prst="roundRect">
            <a:avLst>
              <a:gd name="adj" fmla="val 27778"/>
            </a:avLst>
          </a:prstGeom>
          <a:solidFill>
            <a:srgbClr val="4C1D95"/>
          </a:solidFill>
          <a:ln/>
        </p:spPr>
      </p:sp>
      <p:sp>
        <p:nvSpPr>
          <p:cNvPr id="39" name="Text 34"/>
          <p:cNvSpPr txBox="1"/>
          <p:nvPr/>
        </p:nvSpPr>
        <p:spPr>
          <a:xfrm>
            <a:off x="7054596" y="4727448"/>
            <a:ext cx="594360" cy="256032"/>
          </a:xfrm>
          <a:prstGeom prst="rect">
            <a:avLst/>
          </a:prstGeom>
          <a:noFill/>
          <a:ln/>
        </p:spPr>
        <p:txBody>
          <a:bodyPr wrap="square" lIns="0" tIns="0" rIns="0" bIns="0" rtlCol="0" anchor="ctr"/>
          <a:lstStyle/>
          <a:p>
            <a:pPr algn="r" indent="0" marL="0">
              <a:buNone/>
            </a:pPr>
            <a:r>
              <a:rPr lang="en-US" sz="1150" b="1" dirty="0">
                <a:solidFill>
                  <a:srgbClr val="0F172A"/>
                </a:solidFill>
                <a:latin typeface="Calibri" pitchFamily="34" charset="0"/>
                <a:ea typeface="Calibri" pitchFamily="34" charset="-122"/>
                <a:cs typeface="Calibri" pitchFamily="34" charset="-120"/>
              </a:rPr>
              <a:t>× 1.5</a:t>
            </a:r>
            <a:endParaRPr lang="en-US" sz="1150" dirty="0"/>
          </a:p>
        </p:txBody>
      </p:sp>
      <p:sp>
        <p:nvSpPr>
          <p:cNvPr id="40" name="Shape 35"/>
          <p:cNvSpPr/>
          <p:nvPr/>
        </p:nvSpPr>
        <p:spPr>
          <a:xfrm>
            <a:off x="8348472" y="2377440"/>
            <a:ext cx="3017520" cy="457200"/>
          </a:xfrm>
          <a:prstGeom prst="roundRect">
            <a:avLst>
              <a:gd name="adj" fmla="val 20000"/>
            </a:avLst>
          </a:prstGeom>
          <a:solidFill>
            <a:srgbClr val="FFFFFF"/>
          </a:solidFill>
          <a:ln w="12700">
            <a:solidFill>
              <a:srgbClr val="DDE1EC"/>
            </a:solidFill>
            <a:prstDash val="solid"/>
          </a:ln>
        </p:spPr>
      </p:sp>
      <p:sp>
        <p:nvSpPr>
          <p:cNvPr id="41" name="Text 36"/>
          <p:cNvSpPr txBox="1"/>
          <p:nvPr/>
        </p:nvSpPr>
        <p:spPr>
          <a:xfrm>
            <a:off x="8403336" y="2377440"/>
            <a:ext cx="2907792" cy="45720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Staff clicks “Call Next”</a:t>
            </a:r>
            <a:endParaRPr lang="en-US" sz="1150" dirty="0"/>
          </a:p>
        </p:txBody>
      </p:sp>
      <p:sp>
        <p:nvSpPr>
          <p:cNvPr id="42" name="Shape 37"/>
          <p:cNvSpPr/>
          <p:nvPr/>
        </p:nvSpPr>
        <p:spPr>
          <a:xfrm>
            <a:off x="9857232" y="2852928"/>
            <a:ext cx="0" cy="164592"/>
          </a:xfrm>
          <a:prstGeom prst="line">
            <a:avLst/>
          </a:prstGeom>
          <a:noFill/>
          <a:ln w="19050">
            <a:solidFill>
              <a:srgbClr val="8A93A8"/>
            </a:solidFill>
            <a:prstDash val="solid"/>
            <a:tailEnd type="triangle"/>
          </a:ln>
        </p:spPr>
      </p:sp>
      <p:sp>
        <p:nvSpPr>
          <p:cNvPr id="43" name="Shape 38"/>
          <p:cNvSpPr/>
          <p:nvPr/>
        </p:nvSpPr>
        <p:spPr>
          <a:xfrm>
            <a:off x="8348472" y="3035808"/>
            <a:ext cx="3017520" cy="457200"/>
          </a:xfrm>
          <a:prstGeom prst="roundRect">
            <a:avLst>
              <a:gd name="adj" fmla="val 20000"/>
            </a:avLst>
          </a:prstGeom>
          <a:solidFill>
            <a:srgbClr val="FFFFFF"/>
          </a:solidFill>
          <a:ln w="12700">
            <a:solidFill>
              <a:srgbClr val="DDE1EC"/>
            </a:solidFill>
            <a:prstDash val="solid"/>
          </a:ln>
        </p:spPr>
      </p:sp>
      <p:sp>
        <p:nvSpPr>
          <p:cNvPr id="44" name="Text 39"/>
          <p:cNvSpPr txBox="1"/>
          <p:nvPr/>
        </p:nvSpPr>
        <p:spPr>
          <a:xfrm>
            <a:off x="8403336" y="3035808"/>
            <a:ext cx="2907792" cy="457200"/>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Server updates queue state</a:t>
            </a:r>
            <a:endParaRPr lang="en-US" sz="1150" dirty="0"/>
          </a:p>
        </p:txBody>
      </p:sp>
      <p:sp>
        <p:nvSpPr>
          <p:cNvPr id="45" name="Shape 40"/>
          <p:cNvSpPr/>
          <p:nvPr/>
        </p:nvSpPr>
        <p:spPr>
          <a:xfrm>
            <a:off x="9857232" y="3511296"/>
            <a:ext cx="0" cy="164592"/>
          </a:xfrm>
          <a:prstGeom prst="line">
            <a:avLst/>
          </a:prstGeom>
          <a:noFill/>
          <a:ln w="19050">
            <a:solidFill>
              <a:srgbClr val="8A93A8"/>
            </a:solidFill>
            <a:prstDash val="solid"/>
            <a:tailEnd type="triangle"/>
          </a:ln>
        </p:spPr>
      </p:sp>
      <p:sp>
        <p:nvSpPr>
          <p:cNvPr id="46" name="Shape 41"/>
          <p:cNvSpPr/>
          <p:nvPr/>
        </p:nvSpPr>
        <p:spPr>
          <a:xfrm>
            <a:off x="8348472" y="3694176"/>
            <a:ext cx="3017520" cy="457200"/>
          </a:xfrm>
          <a:prstGeom prst="roundRect">
            <a:avLst>
              <a:gd name="adj" fmla="val 20000"/>
            </a:avLst>
          </a:prstGeom>
          <a:solidFill>
            <a:srgbClr val="EDE9FE"/>
          </a:solidFill>
          <a:ln/>
        </p:spPr>
      </p:sp>
      <p:sp>
        <p:nvSpPr>
          <p:cNvPr id="47" name="Text 42"/>
          <p:cNvSpPr txBox="1"/>
          <p:nvPr/>
        </p:nvSpPr>
        <p:spPr>
          <a:xfrm>
            <a:off x="8403336" y="3694176"/>
            <a:ext cx="2907792" cy="457200"/>
          </a:xfrm>
          <a:prstGeom prst="rect">
            <a:avLst/>
          </a:prstGeom>
          <a:noFill/>
          <a:ln/>
        </p:spPr>
        <p:txBody>
          <a:bodyPr wrap="square" lIns="0" tIns="0" rIns="0" bIns="0" rtlCol="0" anchor="ctr"/>
          <a:lstStyle/>
          <a:p>
            <a:pPr algn="ctr" indent="0" marL="0">
              <a:buNone/>
            </a:pPr>
            <a:r>
              <a:rPr lang="en-US" sz="1150" b="1" dirty="0">
                <a:solidFill>
                  <a:srgbClr val="4C1D95"/>
                </a:solidFill>
                <a:latin typeface="Calibri" pitchFamily="34" charset="0"/>
                <a:ea typeface="Calibri" pitchFamily="34" charset="-122"/>
                <a:cs typeface="Calibri" pitchFamily="34" charset="-120"/>
              </a:rPr>
              <a:t>SSE event pushed</a:t>
            </a:r>
            <a:endParaRPr lang="en-US" sz="1150" dirty="0"/>
          </a:p>
        </p:txBody>
      </p:sp>
      <p:sp>
        <p:nvSpPr>
          <p:cNvPr id="48" name="Shape 43"/>
          <p:cNvSpPr/>
          <p:nvPr/>
        </p:nvSpPr>
        <p:spPr>
          <a:xfrm>
            <a:off x="9857232" y="4169664"/>
            <a:ext cx="0" cy="164592"/>
          </a:xfrm>
          <a:prstGeom prst="line">
            <a:avLst/>
          </a:prstGeom>
          <a:noFill/>
          <a:ln w="19050">
            <a:solidFill>
              <a:srgbClr val="8A93A8"/>
            </a:solidFill>
            <a:prstDash val="solid"/>
            <a:tailEnd type="triangle"/>
          </a:ln>
        </p:spPr>
      </p:sp>
      <p:sp>
        <p:nvSpPr>
          <p:cNvPr id="49" name="Shape 44"/>
          <p:cNvSpPr/>
          <p:nvPr/>
        </p:nvSpPr>
        <p:spPr>
          <a:xfrm>
            <a:off x="8348472" y="4352544"/>
            <a:ext cx="3017520" cy="457200"/>
          </a:xfrm>
          <a:prstGeom prst="roundRect">
            <a:avLst>
              <a:gd name="adj" fmla="val 20000"/>
            </a:avLst>
          </a:prstGeom>
          <a:solidFill>
            <a:srgbClr val="FACC15"/>
          </a:solidFill>
          <a:ln/>
        </p:spPr>
      </p:sp>
      <p:sp>
        <p:nvSpPr>
          <p:cNvPr id="50" name="Text 45"/>
          <p:cNvSpPr txBox="1"/>
          <p:nvPr/>
        </p:nvSpPr>
        <p:spPr>
          <a:xfrm>
            <a:off x="8403336" y="4352544"/>
            <a:ext cx="2907792" cy="457200"/>
          </a:xfrm>
          <a:prstGeom prst="rect">
            <a:avLst/>
          </a:prstGeom>
          <a:noFill/>
          <a:ln/>
        </p:spPr>
        <p:txBody>
          <a:bodyPr wrap="square" lIns="0" tIns="0" rIns="0" bIns="0" rtlCol="0" anchor="ctr"/>
          <a:lstStyle/>
          <a:p>
            <a:pPr algn="ctr" indent="0" marL="0">
              <a:buNone/>
            </a:pPr>
            <a:r>
              <a:rPr lang="en-US" sz="1150" b="1" dirty="0">
                <a:solidFill>
                  <a:srgbClr val="422006"/>
                </a:solidFill>
                <a:latin typeface="Calibri" pitchFamily="34" charset="0"/>
                <a:ea typeface="Calibri" pitchFamily="34" charset="-122"/>
                <a:cs typeface="Calibri" pitchFamily="34" charset="-120"/>
              </a:rPr>
              <a:t>Student ticket turns CALLED — no refresh</a:t>
            </a:r>
            <a:endParaRPr lang="en-US" sz="1150" dirty="0"/>
          </a:p>
        </p:txBody>
      </p:sp>
      <p:sp>
        <p:nvSpPr>
          <p:cNvPr id="51" name="Shape 46"/>
          <p:cNvSpPr/>
          <p:nvPr/>
        </p:nvSpPr>
        <p:spPr>
          <a:xfrm>
            <a:off x="548640" y="5303520"/>
            <a:ext cx="11091672" cy="868680"/>
          </a:xfrm>
          <a:prstGeom prst="roundRect">
            <a:avLst>
              <a:gd name="adj" fmla="val 16842"/>
            </a:avLst>
          </a:prstGeom>
          <a:solidFill>
            <a:srgbClr val="FFFFFF"/>
          </a:solidFill>
          <a:ln w="12700">
            <a:solidFill>
              <a:srgbClr val="DDE1EC"/>
            </a:solidFill>
            <a:prstDash val="solid"/>
          </a:ln>
        </p:spPr>
      </p:sp>
      <p:pic>
        <p:nvPicPr>
          <p:cNvPr id="52" name="Image 3" descr="preencoded.png">    </p:cNvPr>
          <p:cNvPicPr>
            <a:picLocks noChangeAspect="1"/>
          </p:cNvPicPr>
          <p:nvPr/>
        </p:nvPicPr>
        <p:blipFill>
          <a:blip r:embed="rId4"/>
          <a:stretch>
            <a:fillRect/>
          </a:stretch>
        </p:blipFill>
        <p:spPr>
          <a:xfrm>
            <a:off x="777240" y="5577840"/>
            <a:ext cx="310896" cy="310896"/>
          </a:xfrm>
          <a:prstGeom prst="rect">
            <a:avLst/>
          </a:prstGeom>
        </p:spPr>
      </p:pic>
      <p:sp>
        <p:nvSpPr>
          <p:cNvPr id="53" name="Text 47"/>
          <p:cNvSpPr txBox="1"/>
          <p:nvPr/>
        </p:nvSpPr>
        <p:spPr>
          <a:xfrm>
            <a:off x="1161288" y="5532120"/>
            <a:ext cx="1554480" cy="402336"/>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Camera (browser)</a:t>
            </a:r>
            <a:endParaRPr lang="en-US" sz="1150" dirty="0"/>
          </a:p>
        </p:txBody>
      </p:sp>
      <p:sp>
        <p:nvSpPr>
          <p:cNvPr id="54" name="Shape 48"/>
          <p:cNvSpPr/>
          <p:nvPr/>
        </p:nvSpPr>
        <p:spPr>
          <a:xfrm>
            <a:off x="2606040" y="5733288"/>
            <a:ext cx="256032" cy="0"/>
          </a:xfrm>
          <a:prstGeom prst="line">
            <a:avLst/>
          </a:prstGeom>
          <a:noFill/>
          <a:ln w="19050">
            <a:solidFill>
              <a:srgbClr val="8A93A8"/>
            </a:solidFill>
            <a:prstDash val="solid"/>
            <a:tailEnd type="triangle"/>
          </a:ln>
        </p:spPr>
      </p:sp>
      <p:pic>
        <p:nvPicPr>
          <p:cNvPr id="55" name="Image 4" descr="preencoded.png">    </p:cNvPr>
          <p:cNvPicPr>
            <a:picLocks noChangeAspect="1"/>
          </p:cNvPicPr>
          <p:nvPr/>
        </p:nvPicPr>
        <p:blipFill>
          <a:blip r:embed="rId5"/>
          <a:stretch>
            <a:fillRect/>
          </a:stretch>
        </p:blipFill>
        <p:spPr>
          <a:xfrm>
            <a:off x="2926080" y="5577840"/>
            <a:ext cx="310896" cy="310896"/>
          </a:xfrm>
          <a:prstGeom prst="rect">
            <a:avLst/>
          </a:prstGeom>
        </p:spPr>
      </p:pic>
      <p:sp>
        <p:nvSpPr>
          <p:cNvPr id="56" name="Text 49"/>
          <p:cNvSpPr txBox="1"/>
          <p:nvPr/>
        </p:nvSpPr>
        <p:spPr>
          <a:xfrm>
            <a:off x="3310128" y="5532120"/>
            <a:ext cx="1554480" cy="402336"/>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Aggregate head count</a:t>
            </a:r>
            <a:endParaRPr lang="en-US" sz="1150" dirty="0"/>
          </a:p>
        </p:txBody>
      </p:sp>
      <p:sp>
        <p:nvSpPr>
          <p:cNvPr id="57" name="Shape 50"/>
          <p:cNvSpPr/>
          <p:nvPr/>
        </p:nvSpPr>
        <p:spPr>
          <a:xfrm>
            <a:off x="4754880" y="5733288"/>
            <a:ext cx="256032" cy="0"/>
          </a:xfrm>
          <a:prstGeom prst="line">
            <a:avLst/>
          </a:prstGeom>
          <a:noFill/>
          <a:ln w="19050">
            <a:solidFill>
              <a:srgbClr val="8A93A8"/>
            </a:solidFill>
            <a:prstDash val="solid"/>
            <a:tailEnd type="triangle"/>
          </a:ln>
        </p:spPr>
      </p:sp>
      <p:pic>
        <p:nvPicPr>
          <p:cNvPr id="58" name="Image 5" descr="preencoded.png">    </p:cNvPr>
          <p:cNvPicPr>
            <a:picLocks noChangeAspect="1"/>
          </p:cNvPicPr>
          <p:nvPr/>
        </p:nvPicPr>
        <p:blipFill>
          <a:blip r:embed="rId6"/>
          <a:stretch>
            <a:fillRect/>
          </a:stretch>
        </p:blipFill>
        <p:spPr>
          <a:xfrm>
            <a:off x="5074920" y="5577840"/>
            <a:ext cx="310896" cy="310896"/>
          </a:xfrm>
          <a:prstGeom prst="rect">
            <a:avLst/>
          </a:prstGeom>
        </p:spPr>
      </p:pic>
      <p:sp>
        <p:nvSpPr>
          <p:cNvPr id="59" name="Text 51"/>
          <p:cNvSpPr txBox="1"/>
          <p:nvPr/>
        </p:nvSpPr>
        <p:spPr>
          <a:xfrm>
            <a:off x="5458968" y="5532120"/>
            <a:ext cx="1554480" cy="402336"/>
          </a:xfrm>
          <a:prstGeom prst="rect">
            <a:avLst/>
          </a:prstGeom>
          <a:noFill/>
          <a:ln/>
        </p:spPr>
        <p:txBody>
          <a:bodyPr wrap="square" lIns="0" tIns="0" rIns="0" bIns="0" rtlCol="0" anchor="ctr"/>
          <a:lstStyle/>
          <a:p>
            <a:pPr algn="l" indent="0" marL="0">
              <a:buNone/>
            </a:pPr>
            <a:r>
              <a:rPr lang="en-US" sz="1150" b="1" dirty="0">
                <a:solidFill>
                  <a:srgbClr val="0F172A"/>
                </a:solidFill>
                <a:latin typeface="Calibri" pitchFamily="34" charset="0"/>
                <a:ea typeface="Calibri" pitchFamily="34" charset="-122"/>
                <a:cs typeface="Calibri" pitchFamily="34" charset="-120"/>
              </a:rPr>
              <a:t>Traffic estimate input</a:t>
            </a:r>
            <a:endParaRPr lang="en-US" sz="1150" dirty="0"/>
          </a:p>
        </p:txBody>
      </p:sp>
      <p:sp>
        <p:nvSpPr>
          <p:cNvPr id="60" name="Text 52"/>
          <p:cNvSpPr txBox="1"/>
          <p:nvPr/>
        </p:nvSpPr>
        <p:spPr>
          <a:xfrm>
            <a:off x="7269480" y="5394960"/>
            <a:ext cx="4206240" cy="685800"/>
          </a:xfrm>
          <a:prstGeom prst="rect">
            <a:avLst/>
          </a:prstGeom>
          <a:noFill/>
          <a:ln/>
        </p:spPr>
        <p:txBody>
          <a:bodyPr wrap="square" lIns="0" tIns="0" rIns="0" bIns="0" rtlCol="0" anchor="ctr"/>
          <a:lstStyle/>
          <a:p>
            <a:pPr algn="l" indent="0" marL="0">
              <a:buNone/>
            </a:pPr>
            <a:r>
              <a:rPr lang="en-US" sz="1050" i="1" dirty="0">
                <a:solidFill>
                  <a:srgbClr val="5B6478"/>
                </a:solidFill>
                <a:latin typeface="Calibri" pitchFamily="34" charset="0"/>
                <a:ea typeface="Calibri" pitchFamily="34" charset="-122"/>
                <a:cs typeface="Calibri" pitchFamily="34" charset="-120"/>
              </a:rPr>
              <a:t>Estimates recalculate periodically and the client counts down from the latest server value. It is an estimate — not an appointment guarantee.</a:t>
            </a:r>
            <a:endParaRPr lang="en-US" sz="1050" dirty="0"/>
          </a:p>
        </p:txBody>
      </p:sp>
      <p:sp>
        <p:nvSpPr>
          <p:cNvPr id="61" name="Text 53"/>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62" name="Text 54"/>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08  ·  LIVE DEMO SCENARIO</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Live Demo: Printing Queue</a:t>
            </a:r>
            <a:endParaRPr lang="en-US" sz="3000" dirty="0"/>
          </a:p>
        </p:txBody>
      </p:sp>
      <p:sp>
        <p:nvSpPr>
          <p:cNvPr id="4" name="Shape 2"/>
          <p:cNvSpPr/>
          <p:nvPr/>
        </p:nvSpPr>
        <p:spPr>
          <a:xfrm>
            <a:off x="6574536" y="731520"/>
            <a:ext cx="987552" cy="347472"/>
          </a:xfrm>
          <a:prstGeom prst="roundRect">
            <a:avLst>
              <a:gd name="adj" fmla="val 50000"/>
            </a:avLst>
          </a:prstGeom>
          <a:solidFill>
            <a:srgbClr val="F3F4F9"/>
          </a:solidFill>
          <a:ln/>
        </p:spPr>
      </p:sp>
      <p:sp>
        <p:nvSpPr>
          <p:cNvPr id="5" name="Text 3"/>
          <p:cNvSpPr txBox="1"/>
          <p:nvPr/>
        </p:nvSpPr>
        <p:spPr>
          <a:xfrm>
            <a:off x="6629400" y="731520"/>
            <a:ext cx="877824" cy="34747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Printing</a:t>
            </a:r>
            <a:endParaRPr lang="en-US" sz="1150" dirty="0"/>
          </a:p>
        </p:txBody>
      </p:sp>
      <p:sp>
        <p:nvSpPr>
          <p:cNvPr id="6" name="Text 4"/>
          <p:cNvSpPr txBox="1"/>
          <p:nvPr/>
        </p:nvSpPr>
        <p:spPr>
          <a:xfrm>
            <a:off x="7562088" y="731520"/>
            <a:ext cx="274320" cy="347472"/>
          </a:xfrm>
          <a:prstGeom prst="rect">
            <a:avLst/>
          </a:prstGeom>
          <a:noFill/>
          <a:ln/>
        </p:spPr>
        <p:txBody>
          <a:bodyPr wrap="square" lIns="0" tIns="0" rIns="0" bIns="0" rtlCol="0" anchor="ctr"/>
          <a:lstStyle/>
          <a:p>
            <a:pPr algn="ctr" indent="0" marL="0">
              <a:buNone/>
            </a:pPr>
            <a:r>
              <a:rPr lang="en-US" sz="1600" dirty="0">
                <a:solidFill>
                  <a:srgbClr val="5B6478"/>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7836408" y="731520"/>
            <a:ext cx="1920240" cy="347472"/>
          </a:xfrm>
          <a:prstGeom prst="roundRect">
            <a:avLst>
              <a:gd name="adj" fmla="val 50000"/>
            </a:avLst>
          </a:prstGeom>
          <a:solidFill>
            <a:srgbClr val="F3F4F9"/>
          </a:solidFill>
          <a:ln/>
        </p:spPr>
      </p:sp>
      <p:sp>
        <p:nvSpPr>
          <p:cNvPr id="8" name="Text 6"/>
          <p:cNvSpPr txBox="1"/>
          <p:nvPr/>
        </p:nvSpPr>
        <p:spPr>
          <a:xfrm>
            <a:off x="7891272" y="731520"/>
            <a:ext cx="1810512" cy="347472"/>
          </a:xfrm>
          <a:prstGeom prst="rect">
            <a:avLst/>
          </a:prstGeom>
          <a:noFill/>
          <a:ln/>
        </p:spPr>
        <p:txBody>
          <a:bodyPr wrap="square" lIns="0" tIns="0" rIns="0" bIns="0" rtlCol="0" anchor="ctr"/>
          <a:lstStyle/>
          <a:p>
            <a:pPr algn="ctr" indent="0" marL="0">
              <a:buNone/>
            </a:pPr>
            <a:r>
              <a:rPr lang="en-US" sz="1150" b="1" dirty="0">
                <a:solidFill>
                  <a:srgbClr val="0F172A"/>
                </a:solidFill>
                <a:latin typeface="Calibri" pitchFamily="34" charset="0"/>
                <a:ea typeface="Calibri" pitchFamily="34" charset="-122"/>
                <a:cs typeface="Calibri" pitchFamily="34" charset="-120"/>
              </a:rPr>
              <a:t>Report/Bulk Printing</a:t>
            </a:r>
            <a:endParaRPr lang="en-US" sz="1150" dirty="0"/>
          </a:p>
        </p:txBody>
      </p:sp>
      <p:sp>
        <p:nvSpPr>
          <p:cNvPr id="9" name="Text 7"/>
          <p:cNvSpPr txBox="1"/>
          <p:nvPr/>
        </p:nvSpPr>
        <p:spPr>
          <a:xfrm>
            <a:off x="9756648" y="731520"/>
            <a:ext cx="274320" cy="347472"/>
          </a:xfrm>
          <a:prstGeom prst="rect">
            <a:avLst/>
          </a:prstGeom>
          <a:noFill/>
          <a:ln/>
        </p:spPr>
        <p:txBody>
          <a:bodyPr wrap="square" lIns="0" tIns="0" rIns="0" bIns="0" rtlCol="0" anchor="ctr"/>
          <a:lstStyle/>
          <a:p>
            <a:pPr algn="ctr" indent="0" marL="0">
              <a:buNone/>
            </a:pPr>
            <a:r>
              <a:rPr lang="en-US" sz="1600" dirty="0">
                <a:solidFill>
                  <a:srgbClr val="5B647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10030968" y="731520"/>
            <a:ext cx="1609344" cy="347472"/>
          </a:xfrm>
          <a:prstGeom prst="roundRect">
            <a:avLst>
              <a:gd name="adj" fmla="val 50000"/>
            </a:avLst>
          </a:prstGeom>
          <a:solidFill>
            <a:srgbClr val="0B1026"/>
          </a:solidFill>
          <a:ln/>
        </p:spPr>
      </p:sp>
      <p:sp>
        <p:nvSpPr>
          <p:cNvPr id="11" name="Text 9"/>
          <p:cNvSpPr txBox="1"/>
          <p:nvPr/>
        </p:nvSpPr>
        <p:spPr>
          <a:xfrm>
            <a:off x="10085832" y="731520"/>
            <a:ext cx="1499616"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Report Counter A</a:t>
            </a:r>
            <a:endParaRPr lang="en-US" sz="1150" dirty="0"/>
          </a:p>
        </p:txBody>
      </p:sp>
      <p:sp>
        <p:nvSpPr>
          <p:cNvPr id="12" name="Text 10"/>
          <p:cNvSpPr txBox="1"/>
          <p:nvPr/>
        </p:nvSpPr>
        <p:spPr>
          <a:xfrm>
            <a:off x="548640" y="1417320"/>
            <a:ext cx="3657600" cy="228600"/>
          </a:xfrm>
          <a:prstGeom prst="rect">
            <a:avLst/>
          </a:prstGeom>
          <a:noFill/>
          <a:ln/>
        </p:spPr>
        <p:txBody>
          <a:bodyPr wrap="square" lIns="0" tIns="0" rIns="0" bIns="0" rtlCol="0" anchor="t"/>
          <a:lstStyle/>
          <a:p>
            <a:pPr algn="l" indent="0" marL="0">
              <a:buNone/>
            </a:pPr>
            <a:r>
              <a:rPr lang="en-US" sz="1000" b="1" spc="200" kern="0" dirty="0">
                <a:solidFill>
                  <a:srgbClr val="6D28D9"/>
                </a:solidFill>
                <a:latin typeface="Calibri" pitchFamily="34" charset="0"/>
                <a:ea typeface="Calibri" pitchFamily="34" charset="-122"/>
                <a:cs typeface="Calibri" pitchFamily="34" charset="-120"/>
              </a:rPr>
              <a:t>STUDENT VIEW</a:t>
            </a:r>
            <a:endParaRPr lang="en-US" sz="1000" dirty="0"/>
          </a:p>
        </p:txBody>
      </p:sp>
      <p:sp>
        <p:nvSpPr>
          <p:cNvPr id="13" name="Text 11"/>
          <p:cNvSpPr txBox="1"/>
          <p:nvPr/>
        </p:nvSpPr>
        <p:spPr>
          <a:xfrm>
            <a:off x="5303520" y="1417320"/>
            <a:ext cx="1581912" cy="228600"/>
          </a:xfrm>
          <a:prstGeom prst="rect">
            <a:avLst/>
          </a:prstGeom>
          <a:noFill/>
          <a:ln/>
        </p:spPr>
        <p:txBody>
          <a:bodyPr wrap="square" lIns="0" tIns="0" rIns="0" bIns="0" rtlCol="0" anchor="t"/>
          <a:lstStyle/>
          <a:p>
            <a:pPr algn="ctr" indent="0" marL="0">
              <a:buNone/>
            </a:pPr>
            <a:r>
              <a:rPr lang="en-US" sz="1000" b="1" spc="200" kern="0" dirty="0">
                <a:solidFill>
                  <a:srgbClr val="5B6478"/>
                </a:solidFill>
                <a:latin typeface="Calibri" pitchFamily="34" charset="0"/>
                <a:ea typeface="Calibri" pitchFamily="34" charset="-122"/>
                <a:cs typeface="Calibri" pitchFamily="34" charset="-120"/>
              </a:rPr>
              <a:t>EVENT</a:t>
            </a:r>
            <a:endParaRPr lang="en-US" sz="1000" dirty="0"/>
          </a:p>
        </p:txBody>
      </p:sp>
      <p:sp>
        <p:nvSpPr>
          <p:cNvPr id="14" name="Text 12"/>
          <p:cNvSpPr txBox="1"/>
          <p:nvPr/>
        </p:nvSpPr>
        <p:spPr>
          <a:xfrm>
            <a:off x="7040880" y="1417320"/>
            <a:ext cx="4599432" cy="228600"/>
          </a:xfrm>
          <a:prstGeom prst="rect">
            <a:avLst/>
          </a:prstGeom>
          <a:noFill/>
          <a:ln/>
        </p:spPr>
        <p:txBody>
          <a:bodyPr wrap="square" lIns="0" tIns="0" rIns="0" bIns="0" rtlCol="0" anchor="t"/>
          <a:lstStyle/>
          <a:p>
            <a:pPr algn="r" indent="0" marL="0">
              <a:buNone/>
            </a:pPr>
            <a:r>
              <a:rPr lang="en-US" sz="1000" b="1" spc="200" kern="0" dirty="0">
                <a:solidFill>
                  <a:srgbClr val="0F172A"/>
                </a:solidFill>
                <a:latin typeface="Calibri" pitchFamily="34" charset="0"/>
                <a:ea typeface="Calibri" pitchFamily="34" charset="-122"/>
                <a:cs typeface="Calibri" pitchFamily="34" charset="-120"/>
              </a:rPr>
              <a:t>STAFF CONSOLE</a:t>
            </a:r>
            <a:endParaRPr lang="en-US" sz="1000" dirty="0"/>
          </a:p>
        </p:txBody>
      </p:sp>
      <p:sp>
        <p:nvSpPr>
          <p:cNvPr id="15" name="Shape 13"/>
          <p:cNvSpPr/>
          <p:nvPr/>
        </p:nvSpPr>
        <p:spPr>
          <a:xfrm>
            <a:off x="548640" y="1755648"/>
            <a:ext cx="4663440" cy="960120"/>
          </a:xfrm>
          <a:prstGeom prst="roundRect">
            <a:avLst>
              <a:gd name="adj" fmla="val 15238"/>
            </a:avLst>
          </a:prstGeom>
          <a:solidFill>
            <a:srgbClr val="6D28D9"/>
          </a:solidFill>
          <a:ln/>
        </p:spPr>
      </p:sp>
      <p:sp>
        <p:nvSpPr>
          <p:cNvPr id="16" name="Shape 14"/>
          <p:cNvSpPr/>
          <p:nvPr/>
        </p:nvSpPr>
        <p:spPr>
          <a:xfrm>
            <a:off x="731520" y="1938528"/>
            <a:ext cx="1005840" cy="384048"/>
          </a:xfrm>
          <a:prstGeom prst="roundRect">
            <a:avLst>
              <a:gd name="adj" fmla="val 23810"/>
            </a:avLst>
          </a:prstGeom>
          <a:solidFill>
            <a:srgbClr val="FFFFFF"/>
          </a:solidFill>
          <a:ln/>
        </p:spPr>
      </p:sp>
      <p:sp>
        <p:nvSpPr>
          <p:cNvPr id="17" name="Text 15"/>
          <p:cNvSpPr txBox="1"/>
          <p:nvPr/>
        </p:nvSpPr>
        <p:spPr>
          <a:xfrm>
            <a:off x="786384" y="1938528"/>
            <a:ext cx="896112"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RA003</a:t>
            </a:r>
            <a:endParaRPr lang="en-US" sz="1500" dirty="0"/>
          </a:p>
        </p:txBody>
      </p:sp>
      <p:sp>
        <p:nvSpPr>
          <p:cNvPr id="18" name="Text 16"/>
          <p:cNvSpPr txBox="1"/>
          <p:nvPr/>
        </p:nvSpPr>
        <p:spPr>
          <a:xfrm>
            <a:off x="731520" y="2377440"/>
            <a:ext cx="1005840" cy="228600"/>
          </a:xfrm>
          <a:prstGeom prst="rect">
            <a:avLst/>
          </a:prstGeom>
          <a:noFill/>
          <a:ln/>
        </p:spPr>
        <p:txBody>
          <a:bodyPr wrap="square" lIns="0" tIns="0" rIns="0" bIns="0" rtlCol="0" anchor="t"/>
          <a:lstStyle/>
          <a:p>
            <a:pPr algn="ctr" indent="0" marL="0">
              <a:buNone/>
            </a:pPr>
            <a:r>
              <a:rPr lang="en-US" sz="1000" b="1" spc="100" kern="0" dirty="0">
                <a:solidFill>
                  <a:srgbClr val="DDD6FE"/>
                </a:solidFill>
                <a:latin typeface="Calibri" pitchFamily="34" charset="0"/>
                <a:ea typeface="Calibri" pitchFamily="34" charset="-122"/>
                <a:cs typeface="Calibri" pitchFamily="34" charset="-120"/>
              </a:rPr>
              <a:t>WAITING</a:t>
            </a:r>
            <a:endParaRPr lang="en-US" sz="1000" dirty="0"/>
          </a:p>
        </p:txBody>
      </p:sp>
      <p:sp>
        <p:nvSpPr>
          <p:cNvPr id="19" name="Text 17"/>
          <p:cNvSpPr txBox="1"/>
          <p:nvPr/>
        </p:nvSpPr>
        <p:spPr>
          <a:xfrm>
            <a:off x="1920240" y="1911096"/>
            <a:ext cx="3200400"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Position 3 / 3  ·  2 people ahead</a:t>
            </a:r>
            <a:endParaRPr lang="en-US" sz="1600" dirty="0"/>
          </a:p>
        </p:txBody>
      </p:sp>
      <p:sp>
        <p:nvSpPr>
          <p:cNvPr id="20" name="Text 18"/>
          <p:cNvSpPr txBox="1"/>
          <p:nvPr/>
        </p:nvSpPr>
        <p:spPr>
          <a:xfrm>
            <a:off x="1920240" y="2304288"/>
            <a:ext cx="3200400" cy="274320"/>
          </a:xfrm>
          <a:prstGeom prst="rect">
            <a:avLst/>
          </a:prstGeom>
          <a:noFill/>
          <a:ln/>
        </p:spPr>
        <p:txBody>
          <a:bodyPr wrap="square" lIns="0" tIns="0" rIns="0" bIns="0" rtlCol="0" anchor="t"/>
          <a:lstStyle/>
          <a:p>
            <a:pPr algn="l" indent="0" marL="0">
              <a:buNone/>
            </a:pPr>
            <a:r>
              <a:rPr lang="en-US" sz="1100" dirty="0">
                <a:solidFill>
                  <a:srgbClr val="DDD6FE"/>
                </a:solidFill>
                <a:latin typeface="Calibri" pitchFamily="34" charset="0"/>
                <a:ea typeface="Calibri" pitchFamily="34" charset="-122"/>
                <a:cs typeface="Calibri" pitchFamily="34" charset="-120"/>
              </a:rPr>
              <a:t>Estimated wait counting down</a:t>
            </a:r>
            <a:endParaRPr lang="en-US" sz="1100" dirty="0"/>
          </a:p>
        </p:txBody>
      </p:sp>
      <p:sp>
        <p:nvSpPr>
          <p:cNvPr id="21" name="Shape 19"/>
          <p:cNvSpPr/>
          <p:nvPr/>
        </p:nvSpPr>
        <p:spPr>
          <a:xfrm>
            <a:off x="5285232" y="2235708"/>
            <a:ext cx="1682496" cy="0"/>
          </a:xfrm>
          <a:prstGeom prst="line">
            <a:avLst/>
          </a:prstGeom>
          <a:noFill/>
          <a:ln w="19050">
            <a:solidFill>
              <a:srgbClr val="8A93A8"/>
            </a:solidFill>
            <a:prstDash val="solid"/>
            <a:tailEnd type="triangle"/>
          </a:ln>
        </p:spPr>
      </p:sp>
      <p:sp>
        <p:nvSpPr>
          <p:cNvPr id="22" name="Shape 20"/>
          <p:cNvSpPr/>
          <p:nvPr/>
        </p:nvSpPr>
        <p:spPr>
          <a:xfrm>
            <a:off x="5861304" y="2007108"/>
            <a:ext cx="457200" cy="457200"/>
          </a:xfrm>
          <a:prstGeom prst="ellipse">
            <a:avLst/>
          </a:prstGeom>
          <a:solidFill>
            <a:srgbClr val="0B1026"/>
          </a:solidFill>
          <a:ln w="25400">
            <a:solidFill>
              <a:srgbClr val="FFFFFF"/>
            </a:solidFill>
            <a:prstDash val="solid"/>
          </a:ln>
        </p:spPr>
      </p:sp>
      <p:sp>
        <p:nvSpPr>
          <p:cNvPr id="23" name="Text 21"/>
          <p:cNvSpPr txBox="1"/>
          <p:nvPr/>
        </p:nvSpPr>
        <p:spPr>
          <a:xfrm>
            <a:off x="5861304" y="20071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4" name="Text 22"/>
          <p:cNvSpPr txBox="1"/>
          <p:nvPr/>
        </p:nvSpPr>
        <p:spPr>
          <a:xfrm>
            <a:off x="5632704" y="2491740"/>
            <a:ext cx="914400" cy="201168"/>
          </a:xfrm>
          <a:prstGeom prst="rect">
            <a:avLst/>
          </a:prstGeom>
          <a:noFill/>
          <a:ln/>
        </p:spPr>
        <p:txBody>
          <a:bodyPr wrap="square" lIns="0" tIns="0" rIns="0" bIns="0" rtlCol="0" anchor="t"/>
          <a:lstStyle/>
          <a:p>
            <a:pPr algn="ctr" indent="0" marL="0">
              <a:buNone/>
            </a:pPr>
            <a:r>
              <a:rPr lang="en-US" sz="950" b="1" dirty="0">
                <a:solidFill>
                  <a:srgbClr val="5B6478"/>
                </a:solidFill>
                <a:latin typeface="Calibri" pitchFamily="34" charset="0"/>
                <a:ea typeface="Calibri" pitchFamily="34" charset="-122"/>
                <a:cs typeface="Calibri" pitchFamily="34" charset="-120"/>
              </a:rPr>
              <a:t>Join</a:t>
            </a:r>
            <a:endParaRPr lang="en-US" sz="950" dirty="0"/>
          </a:p>
        </p:txBody>
      </p:sp>
      <p:sp>
        <p:nvSpPr>
          <p:cNvPr id="25" name="Shape 23"/>
          <p:cNvSpPr/>
          <p:nvPr/>
        </p:nvSpPr>
        <p:spPr>
          <a:xfrm>
            <a:off x="7040880" y="1755648"/>
            <a:ext cx="4599432" cy="960120"/>
          </a:xfrm>
          <a:prstGeom prst="roundRect">
            <a:avLst>
              <a:gd name="adj" fmla="val 15238"/>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26" name="Shape 24"/>
          <p:cNvSpPr/>
          <p:nvPr/>
        </p:nvSpPr>
        <p:spPr>
          <a:xfrm>
            <a:off x="7242048" y="1984248"/>
            <a:ext cx="502920" cy="502920"/>
          </a:xfrm>
          <a:prstGeom prst="roundRect">
            <a:avLst>
              <a:gd name="adj" fmla="val 28000"/>
            </a:avLst>
          </a:prstGeom>
          <a:solidFill>
            <a:srgbClr val="F3F4F9"/>
          </a:solidFill>
          <a:ln/>
        </p:spPr>
      </p:sp>
      <p:pic>
        <p:nvPicPr>
          <p:cNvPr id="27" name="Image 0" descr="preencoded.png">    </p:cNvPr>
          <p:cNvPicPr>
            <a:picLocks noChangeAspect="1"/>
          </p:cNvPicPr>
          <p:nvPr/>
        </p:nvPicPr>
        <p:blipFill>
          <a:blip r:embed="rId1"/>
          <a:stretch>
            <a:fillRect/>
          </a:stretch>
        </p:blipFill>
        <p:spPr>
          <a:xfrm>
            <a:off x="7352690" y="2094890"/>
            <a:ext cx="281635" cy="281635"/>
          </a:xfrm>
          <a:prstGeom prst="rect">
            <a:avLst/>
          </a:prstGeom>
        </p:spPr>
      </p:pic>
      <p:sp>
        <p:nvSpPr>
          <p:cNvPr id="28" name="Text 25"/>
          <p:cNvSpPr txBox="1"/>
          <p:nvPr/>
        </p:nvSpPr>
        <p:spPr>
          <a:xfrm>
            <a:off x="7909560" y="1911096"/>
            <a:ext cx="356616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Queue updates live</a:t>
            </a:r>
            <a:endParaRPr lang="en-US" sz="1600" dirty="0"/>
          </a:p>
        </p:txBody>
      </p:sp>
      <p:sp>
        <p:nvSpPr>
          <p:cNvPr id="29" name="Text 26"/>
          <p:cNvSpPr txBox="1"/>
          <p:nvPr/>
        </p:nvSpPr>
        <p:spPr>
          <a:xfrm>
            <a:off x="7909560" y="2276856"/>
            <a:ext cx="3566160" cy="36576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RA003 appears behind RA001 and RA002 — no page refresh</a:t>
            </a:r>
            <a:endParaRPr lang="en-US" sz="1100" dirty="0"/>
          </a:p>
        </p:txBody>
      </p:sp>
      <p:sp>
        <p:nvSpPr>
          <p:cNvPr id="30" name="Shape 27"/>
          <p:cNvSpPr/>
          <p:nvPr/>
        </p:nvSpPr>
        <p:spPr>
          <a:xfrm>
            <a:off x="548640" y="2898648"/>
            <a:ext cx="4663440" cy="960120"/>
          </a:xfrm>
          <a:prstGeom prst="roundRect">
            <a:avLst>
              <a:gd name="adj" fmla="val 15238"/>
            </a:avLst>
          </a:prstGeom>
          <a:solidFill>
            <a:srgbClr val="FACC15"/>
          </a:solidFill>
          <a:ln/>
        </p:spPr>
      </p:sp>
      <p:sp>
        <p:nvSpPr>
          <p:cNvPr id="31" name="Shape 28"/>
          <p:cNvSpPr/>
          <p:nvPr/>
        </p:nvSpPr>
        <p:spPr>
          <a:xfrm>
            <a:off x="731520" y="3081528"/>
            <a:ext cx="1005840" cy="384048"/>
          </a:xfrm>
          <a:prstGeom prst="roundRect">
            <a:avLst>
              <a:gd name="adj" fmla="val 23810"/>
            </a:avLst>
          </a:prstGeom>
          <a:solidFill>
            <a:srgbClr val="FFFFFF"/>
          </a:solidFill>
          <a:ln/>
        </p:spPr>
      </p:sp>
      <p:sp>
        <p:nvSpPr>
          <p:cNvPr id="32" name="Text 29"/>
          <p:cNvSpPr txBox="1"/>
          <p:nvPr/>
        </p:nvSpPr>
        <p:spPr>
          <a:xfrm>
            <a:off x="786384" y="3081528"/>
            <a:ext cx="896112"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RA003</a:t>
            </a:r>
            <a:endParaRPr lang="en-US" sz="1500" dirty="0"/>
          </a:p>
        </p:txBody>
      </p:sp>
      <p:sp>
        <p:nvSpPr>
          <p:cNvPr id="33" name="Text 30"/>
          <p:cNvSpPr txBox="1"/>
          <p:nvPr/>
        </p:nvSpPr>
        <p:spPr>
          <a:xfrm>
            <a:off x="731520" y="3520440"/>
            <a:ext cx="1005840" cy="228600"/>
          </a:xfrm>
          <a:prstGeom prst="rect">
            <a:avLst/>
          </a:prstGeom>
          <a:noFill/>
          <a:ln/>
        </p:spPr>
        <p:txBody>
          <a:bodyPr wrap="square" lIns="0" tIns="0" rIns="0" bIns="0" rtlCol="0" anchor="t"/>
          <a:lstStyle/>
          <a:p>
            <a:pPr algn="ctr" indent="0" marL="0">
              <a:buNone/>
            </a:pPr>
            <a:r>
              <a:rPr lang="en-US" sz="1000" b="1" spc="100" kern="0" dirty="0">
                <a:solidFill>
                  <a:srgbClr val="713F12"/>
                </a:solidFill>
                <a:latin typeface="Calibri" pitchFamily="34" charset="0"/>
                <a:ea typeface="Calibri" pitchFamily="34" charset="-122"/>
                <a:cs typeface="Calibri" pitchFamily="34" charset="-120"/>
              </a:rPr>
              <a:t>CALLED</a:t>
            </a:r>
            <a:endParaRPr lang="en-US" sz="1000" dirty="0"/>
          </a:p>
        </p:txBody>
      </p:sp>
      <p:sp>
        <p:nvSpPr>
          <p:cNvPr id="34" name="Text 31"/>
          <p:cNvSpPr txBox="1"/>
          <p:nvPr/>
        </p:nvSpPr>
        <p:spPr>
          <a:xfrm>
            <a:off x="1920240" y="3054096"/>
            <a:ext cx="3200400" cy="411480"/>
          </a:xfrm>
          <a:prstGeom prst="rect">
            <a:avLst/>
          </a:prstGeom>
          <a:noFill/>
          <a:ln/>
        </p:spPr>
        <p:txBody>
          <a:bodyPr wrap="square" lIns="0" tIns="0" rIns="0" bIns="0" rtlCol="0" anchor="ctr"/>
          <a:lstStyle/>
          <a:p>
            <a:pPr algn="l" indent="0" marL="0">
              <a:buNone/>
            </a:pPr>
            <a:r>
              <a:rPr lang="en-US" sz="1600" b="1" dirty="0">
                <a:solidFill>
                  <a:srgbClr val="422006"/>
                </a:solidFill>
                <a:latin typeface="Calibri" pitchFamily="34" charset="0"/>
                <a:ea typeface="Calibri" pitchFamily="34" charset="-122"/>
                <a:cs typeface="Calibri" pitchFamily="34" charset="-120"/>
              </a:rPr>
              <a:t>Go to Report Counter A now</a:t>
            </a:r>
            <a:endParaRPr lang="en-US" sz="1600" dirty="0"/>
          </a:p>
        </p:txBody>
      </p:sp>
      <p:sp>
        <p:nvSpPr>
          <p:cNvPr id="35" name="Text 32"/>
          <p:cNvSpPr txBox="1"/>
          <p:nvPr/>
        </p:nvSpPr>
        <p:spPr>
          <a:xfrm>
            <a:off x="1920240" y="3447288"/>
            <a:ext cx="3200400" cy="274320"/>
          </a:xfrm>
          <a:prstGeom prst="rect">
            <a:avLst/>
          </a:prstGeom>
          <a:noFill/>
          <a:ln/>
        </p:spPr>
        <p:txBody>
          <a:bodyPr wrap="square" lIns="0" tIns="0" rIns="0" bIns="0" rtlCol="0" anchor="t"/>
          <a:lstStyle/>
          <a:p>
            <a:pPr algn="l" indent="0" marL="0">
              <a:buNone/>
            </a:pPr>
            <a:r>
              <a:rPr lang="en-US" sz="1100" dirty="0">
                <a:solidFill>
                  <a:srgbClr val="713F12"/>
                </a:solidFill>
                <a:latin typeface="Calibri" pitchFamily="34" charset="0"/>
                <a:ea typeface="Calibri" pitchFamily="34" charset="-122"/>
                <a:cs typeface="Calibri" pitchFamily="34" charset="-120"/>
              </a:rPr>
              <a:t>Toast notification shown</a:t>
            </a:r>
            <a:endParaRPr lang="en-US" sz="1100" dirty="0"/>
          </a:p>
        </p:txBody>
      </p:sp>
      <p:sp>
        <p:nvSpPr>
          <p:cNvPr id="36" name="Shape 33"/>
          <p:cNvSpPr/>
          <p:nvPr/>
        </p:nvSpPr>
        <p:spPr>
          <a:xfrm flipH="1">
            <a:off x="5285232" y="3378708"/>
            <a:ext cx="1682496" cy="0"/>
          </a:xfrm>
          <a:prstGeom prst="line">
            <a:avLst/>
          </a:prstGeom>
          <a:noFill/>
          <a:ln w="22225">
            <a:solidFill>
              <a:srgbClr val="6D28D9"/>
            </a:solidFill>
            <a:prstDash val="solid"/>
            <a:tailEnd type="triangle"/>
          </a:ln>
        </p:spPr>
      </p:sp>
      <p:sp>
        <p:nvSpPr>
          <p:cNvPr id="37" name="Shape 34"/>
          <p:cNvSpPr/>
          <p:nvPr/>
        </p:nvSpPr>
        <p:spPr>
          <a:xfrm>
            <a:off x="5861304" y="3150108"/>
            <a:ext cx="457200" cy="457200"/>
          </a:xfrm>
          <a:prstGeom prst="ellipse">
            <a:avLst/>
          </a:prstGeom>
          <a:solidFill>
            <a:srgbClr val="0B1026"/>
          </a:solidFill>
          <a:ln w="25400">
            <a:solidFill>
              <a:srgbClr val="FFFFFF"/>
            </a:solidFill>
            <a:prstDash val="solid"/>
          </a:ln>
        </p:spPr>
      </p:sp>
      <p:sp>
        <p:nvSpPr>
          <p:cNvPr id="38" name="Text 35"/>
          <p:cNvSpPr txBox="1"/>
          <p:nvPr/>
        </p:nvSpPr>
        <p:spPr>
          <a:xfrm>
            <a:off x="5861304" y="31501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9" name="Text 36"/>
          <p:cNvSpPr txBox="1"/>
          <p:nvPr/>
        </p:nvSpPr>
        <p:spPr>
          <a:xfrm>
            <a:off x="5632704" y="3634740"/>
            <a:ext cx="914400" cy="201168"/>
          </a:xfrm>
          <a:prstGeom prst="rect">
            <a:avLst/>
          </a:prstGeom>
          <a:noFill/>
          <a:ln/>
        </p:spPr>
        <p:txBody>
          <a:bodyPr wrap="square" lIns="0" tIns="0" rIns="0" bIns="0" rtlCol="0" anchor="t"/>
          <a:lstStyle/>
          <a:p>
            <a:pPr algn="ctr" indent="0" marL="0">
              <a:buNone/>
            </a:pPr>
            <a:r>
              <a:rPr lang="en-US" sz="950" b="1" dirty="0">
                <a:solidFill>
                  <a:srgbClr val="6D28D9"/>
                </a:solidFill>
                <a:latin typeface="Calibri" pitchFamily="34" charset="0"/>
                <a:ea typeface="Calibri" pitchFamily="34" charset="-122"/>
                <a:cs typeface="Calibri" pitchFamily="34" charset="-120"/>
              </a:rPr>
              <a:t>SSE</a:t>
            </a:r>
            <a:endParaRPr lang="en-US" sz="950" dirty="0"/>
          </a:p>
        </p:txBody>
      </p:sp>
      <p:sp>
        <p:nvSpPr>
          <p:cNvPr id="40" name="Shape 37"/>
          <p:cNvSpPr/>
          <p:nvPr/>
        </p:nvSpPr>
        <p:spPr>
          <a:xfrm>
            <a:off x="7040880" y="2898648"/>
            <a:ext cx="4599432" cy="960120"/>
          </a:xfrm>
          <a:prstGeom prst="roundRect">
            <a:avLst>
              <a:gd name="adj" fmla="val 15238"/>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41" name="Shape 38"/>
          <p:cNvSpPr/>
          <p:nvPr/>
        </p:nvSpPr>
        <p:spPr>
          <a:xfrm>
            <a:off x="7242048" y="3127248"/>
            <a:ext cx="502920" cy="502920"/>
          </a:xfrm>
          <a:prstGeom prst="roundRect">
            <a:avLst>
              <a:gd name="adj" fmla="val 28000"/>
            </a:avLst>
          </a:prstGeom>
          <a:solidFill>
            <a:srgbClr val="0B1026"/>
          </a:solidFill>
          <a:ln/>
        </p:spPr>
      </p:sp>
      <p:pic>
        <p:nvPicPr>
          <p:cNvPr id="42" name="Image 1" descr="preencoded.png">    </p:cNvPr>
          <p:cNvPicPr>
            <a:picLocks noChangeAspect="1"/>
          </p:cNvPicPr>
          <p:nvPr/>
        </p:nvPicPr>
        <p:blipFill>
          <a:blip r:embed="rId2"/>
          <a:stretch>
            <a:fillRect/>
          </a:stretch>
        </p:blipFill>
        <p:spPr>
          <a:xfrm>
            <a:off x="7352690" y="3237890"/>
            <a:ext cx="281635" cy="281635"/>
          </a:xfrm>
          <a:prstGeom prst="rect">
            <a:avLst/>
          </a:prstGeom>
        </p:spPr>
      </p:pic>
      <p:sp>
        <p:nvSpPr>
          <p:cNvPr id="43" name="Text 39"/>
          <p:cNvSpPr txBox="1"/>
          <p:nvPr/>
        </p:nvSpPr>
        <p:spPr>
          <a:xfrm>
            <a:off x="7909560" y="3054096"/>
            <a:ext cx="356616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Call Next</a:t>
            </a:r>
            <a:endParaRPr lang="en-US" sz="1600" dirty="0"/>
          </a:p>
        </p:txBody>
      </p:sp>
      <p:sp>
        <p:nvSpPr>
          <p:cNvPr id="44" name="Text 40"/>
          <p:cNvSpPr txBox="1"/>
          <p:nvPr/>
        </p:nvSpPr>
        <p:spPr>
          <a:xfrm>
            <a:off x="7909560" y="3419856"/>
            <a:ext cx="3566160" cy="36576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After RA001 and RA002 are served, RA003 is called</a:t>
            </a:r>
            <a:endParaRPr lang="en-US" sz="1100" dirty="0"/>
          </a:p>
        </p:txBody>
      </p:sp>
      <p:sp>
        <p:nvSpPr>
          <p:cNvPr id="45" name="Shape 41"/>
          <p:cNvSpPr/>
          <p:nvPr/>
        </p:nvSpPr>
        <p:spPr>
          <a:xfrm>
            <a:off x="548640" y="4041648"/>
            <a:ext cx="4663440" cy="960120"/>
          </a:xfrm>
          <a:prstGeom prst="roundRect">
            <a:avLst>
              <a:gd name="adj" fmla="val 15238"/>
            </a:avLst>
          </a:prstGeom>
          <a:solidFill>
            <a:srgbClr val="16A34A"/>
          </a:solidFill>
          <a:ln/>
        </p:spPr>
      </p:sp>
      <p:sp>
        <p:nvSpPr>
          <p:cNvPr id="46" name="Shape 42"/>
          <p:cNvSpPr/>
          <p:nvPr/>
        </p:nvSpPr>
        <p:spPr>
          <a:xfrm>
            <a:off x="731520" y="4224528"/>
            <a:ext cx="1005840" cy="384048"/>
          </a:xfrm>
          <a:prstGeom prst="roundRect">
            <a:avLst>
              <a:gd name="adj" fmla="val 23810"/>
            </a:avLst>
          </a:prstGeom>
          <a:solidFill>
            <a:srgbClr val="FFFFFF"/>
          </a:solidFill>
          <a:ln/>
        </p:spPr>
      </p:sp>
      <p:sp>
        <p:nvSpPr>
          <p:cNvPr id="47" name="Text 43"/>
          <p:cNvSpPr txBox="1"/>
          <p:nvPr/>
        </p:nvSpPr>
        <p:spPr>
          <a:xfrm>
            <a:off x="786384" y="4224528"/>
            <a:ext cx="896112"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RA003</a:t>
            </a:r>
            <a:endParaRPr lang="en-US" sz="1500" dirty="0"/>
          </a:p>
        </p:txBody>
      </p:sp>
      <p:sp>
        <p:nvSpPr>
          <p:cNvPr id="48" name="Text 44"/>
          <p:cNvSpPr txBox="1"/>
          <p:nvPr/>
        </p:nvSpPr>
        <p:spPr>
          <a:xfrm>
            <a:off x="731520" y="4663440"/>
            <a:ext cx="1005840" cy="228600"/>
          </a:xfrm>
          <a:prstGeom prst="rect">
            <a:avLst/>
          </a:prstGeom>
          <a:noFill/>
          <a:ln/>
        </p:spPr>
        <p:txBody>
          <a:bodyPr wrap="square" lIns="0" tIns="0" rIns="0" bIns="0" rtlCol="0" anchor="t"/>
          <a:lstStyle/>
          <a:p>
            <a:pPr algn="ctr" indent="0" marL="0">
              <a:buNone/>
            </a:pPr>
            <a:r>
              <a:rPr lang="en-US" sz="1000" b="1" spc="100" kern="0" dirty="0">
                <a:solidFill>
                  <a:srgbClr val="DCFCE7"/>
                </a:solidFill>
                <a:latin typeface="Calibri" pitchFamily="34" charset="0"/>
                <a:ea typeface="Calibri" pitchFamily="34" charset="-122"/>
                <a:cs typeface="Calibri" pitchFamily="34" charset="-120"/>
              </a:rPr>
              <a:t>SERVING</a:t>
            </a:r>
            <a:endParaRPr lang="en-US" sz="1000" dirty="0"/>
          </a:p>
        </p:txBody>
      </p:sp>
      <p:sp>
        <p:nvSpPr>
          <p:cNvPr id="49" name="Text 45"/>
          <p:cNvSpPr txBox="1"/>
          <p:nvPr/>
        </p:nvSpPr>
        <p:spPr>
          <a:xfrm>
            <a:off x="1920240" y="4197096"/>
            <a:ext cx="3200400"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You’re being served</a:t>
            </a:r>
            <a:endParaRPr lang="en-US" sz="1600" dirty="0"/>
          </a:p>
        </p:txBody>
      </p:sp>
      <p:sp>
        <p:nvSpPr>
          <p:cNvPr id="50" name="Text 46"/>
          <p:cNvSpPr txBox="1"/>
          <p:nvPr/>
        </p:nvSpPr>
        <p:spPr>
          <a:xfrm>
            <a:off x="1920240" y="4590288"/>
            <a:ext cx="3200400" cy="274320"/>
          </a:xfrm>
          <a:prstGeom prst="rect">
            <a:avLst/>
          </a:prstGeom>
          <a:noFill/>
          <a:ln/>
        </p:spPr>
        <p:txBody>
          <a:bodyPr wrap="square" lIns="0" tIns="0" rIns="0" bIns="0" rtlCol="0" anchor="t"/>
          <a:lstStyle/>
          <a:p>
            <a:pPr algn="l" indent="0" marL="0">
              <a:buNone/>
            </a:pPr>
            <a:r>
              <a:rPr lang="en-US" sz="1100" dirty="0">
                <a:solidFill>
                  <a:srgbClr val="DCFCE7"/>
                </a:solidFill>
                <a:latin typeface="Calibri" pitchFamily="34" charset="0"/>
                <a:ea typeface="Calibri" pitchFamily="34" charset="-122"/>
                <a:cs typeface="Calibri" pitchFamily="34" charset="-120"/>
              </a:rPr>
              <a:t>Counter has started the service</a:t>
            </a:r>
            <a:endParaRPr lang="en-US" sz="1100" dirty="0"/>
          </a:p>
        </p:txBody>
      </p:sp>
      <p:sp>
        <p:nvSpPr>
          <p:cNvPr id="51" name="Shape 47"/>
          <p:cNvSpPr/>
          <p:nvPr/>
        </p:nvSpPr>
        <p:spPr>
          <a:xfrm flipH="1">
            <a:off x="5285232" y="4521708"/>
            <a:ext cx="1682496" cy="0"/>
          </a:xfrm>
          <a:prstGeom prst="line">
            <a:avLst/>
          </a:prstGeom>
          <a:noFill/>
          <a:ln w="22225">
            <a:solidFill>
              <a:srgbClr val="6D28D9"/>
            </a:solidFill>
            <a:prstDash val="solid"/>
            <a:tailEnd type="triangle"/>
          </a:ln>
        </p:spPr>
      </p:sp>
      <p:sp>
        <p:nvSpPr>
          <p:cNvPr id="52" name="Shape 48"/>
          <p:cNvSpPr/>
          <p:nvPr/>
        </p:nvSpPr>
        <p:spPr>
          <a:xfrm>
            <a:off x="5861304" y="4293108"/>
            <a:ext cx="457200" cy="457200"/>
          </a:xfrm>
          <a:prstGeom prst="ellipse">
            <a:avLst/>
          </a:prstGeom>
          <a:solidFill>
            <a:srgbClr val="0B1026"/>
          </a:solidFill>
          <a:ln w="25400">
            <a:solidFill>
              <a:srgbClr val="FFFFFF"/>
            </a:solidFill>
            <a:prstDash val="solid"/>
          </a:ln>
        </p:spPr>
      </p:sp>
      <p:sp>
        <p:nvSpPr>
          <p:cNvPr id="53" name="Text 49"/>
          <p:cNvSpPr txBox="1"/>
          <p:nvPr/>
        </p:nvSpPr>
        <p:spPr>
          <a:xfrm>
            <a:off x="5861304" y="42931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54" name="Text 50"/>
          <p:cNvSpPr txBox="1"/>
          <p:nvPr/>
        </p:nvSpPr>
        <p:spPr>
          <a:xfrm>
            <a:off x="5632704" y="4777740"/>
            <a:ext cx="914400" cy="201168"/>
          </a:xfrm>
          <a:prstGeom prst="rect">
            <a:avLst/>
          </a:prstGeom>
          <a:noFill/>
          <a:ln/>
        </p:spPr>
        <p:txBody>
          <a:bodyPr wrap="square" lIns="0" tIns="0" rIns="0" bIns="0" rtlCol="0" anchor="t"/>
          <a:lstStyle/>
          <a:p>
            <a:pPr algn="ctr" indent="0" marL="0">
              <a:buNone/>
            </a:pPr>
            <a:r>
              <a:rPr lang="en-US" sz="950" b="1" dirty="0">
                <a:solidFill>
                  <a:srgbClr val="6D28D9"/>
                </a:solidFill>
                <a:latin typeface="Calibri" pitchFamily="34" charset="0"/>
                <a:ea typeface="Calibri" pitchFamily="34" charset="-122"/>
                <a:cs typeface="Calibri" pitchFamily="34" charset="-120"/>
              </a:rPr>
              <a:t>SSE</a:t>
            </a:r>
            <a:endParaRPr lang="en-US" sz="950" dirty="0"/>
          </a:p>
        </p:txBody>
      </p:sp>
      <p:sp>
        <p:nvSpPr>
          <p:cNvPr id="55" name="Shape 51"/>
          <p:cNvSpPr/>
          <p:nvPr/>
        </p:nvSpPr>
        <p:spPr>
          <a:xfrm>
            <a:off x="7040880" y="4041648"/>
            <a:ext cx="4599432" cy="960120"/>
          </a:xfrm>
          <a:prstGeom prst="roundRect">
            <a:avLst>
              <a:gd name="adj" fmla="val 15238"/>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56" name="Shape 52"/>
          <p:cNvSpPr/>
          <p:nvPr/>
        </p:nvSpPr>
        <p:spPr>
          <a:xfrm>
            <a:off x="7242048" y="4270248"/>
            <a:ext cx="502920" cy="502920"/>
          </a:xfrm>
          <a:prstGeom prst="roundRect">
            <a:avLst>
              <a:gd name="adj" fmla="val 28000"/>
            </a:avLst>
          </a:prstGeom>
          <a:solidFill>
            <a:srgbClr val="0B1026"/>
          </a:solidFill>
          <a:ln/>
        </p:spPr>
      </p:sp>
      <p:pic>
        <p:nvPicPr>
          <p:cNvPr id="57" name="Image 2" descr="preencoded.png">    </p:cNvPr>
          <p:cNvPicPr>
            <a:picLocks noChangeAspect="1"/>
          </p:cNvPicPr>
          <p:nvPr/>
        </p:nvPicPr>
        <p:blipFill>
          <a:blip r:embed="rId3"/>
          <a:stretch>
            <a:fillRect/>
          </a:stretch>
        </p:blipFill>
        <p:spPr>
          <a:xfrm>
            <a:off x="7352690" y="4380890"/>
            <a:ext cx="281635" cy="281635"/>
          </a:xfrm>
          <a:prstGeom prst="rect">
            <a:avLst/>
          </a:prstGeom>
        </p:spPr>
      </p:pic>
      <p:sp>
        <p:nvSpPr>
          <p:cNvPr id="58" name="Text 53"/>
          <p:cNvSpPr txBox="1"/>
          <p:nvPr/>
        </p:nvSpPr>
        <p:spPr>
          <a:xfrm>
            <a:off x="7909560" y="4197096"/>
            <a:ext cx="356616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Start Service</a:t>
            </a:r>
            <a:endParaRPr lang="en-US" sz="1600" dirty="0"/>
          </a:p>
        </p:txBody>
      </p:sp>
      <p:sp>
        <p:nvSpPr>
          <p:cNvPr id="59" name="Text 54"/>
          <p:cNvSpPr txBox="1"/>
          <p:nvPr/>
        </p:nvSpPr>
        <p:spPr>
          <a:xfrm>
            <a:off x="7909560" y="4562856"/>
            <a:ext cx="3566160" cy="36576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Staff begins serving RA003</a:t>
            </a:r>
            <a:endParaRPr lang="en-US" sz="1100" dirty="0"/>
          </a:p>
        </p:txBody>
      </p:sp>
      <p:sp>
        <p:nvSpPr>
          <p:cNvPr id="60" name="Shape 55"/>
          <p:cNvSpPr/>
          <p:nvPr/>
        </p:nvSpPr>
        <p:spPr>
          <a:xfrm>
            <a:off x="548640" y="5184648"/>
            <a:ext cx="4663440" cy="960120"/>
          </a:xfrm>
          <a:prstGeom prst="roundRect">
            <a:avLst>
              <a:gd name="adj" fmla="val 15238"/>
            </a:avLst>
          </a:prstGeom>
          <a:solidFill>
            <a:srgbClr val="94A3B8"/>
          </a:solidFill>
          <a:ln/>
        </p:spPr>
      </p:sp>
      <p:sp>
        <p:nvSpPr>
          <p:cNvPr id="61" name="Shape 56"/>
          <p:cNvSpPr/>
          <p:nvPr/>
        </p:nvSpPr>
        <p:spPr>
          <a:xfrm>
            <a:off x="731520" y="5367528"/>
            <a:ext cx="1005840" cy="384048"/>
          </a:xfrm>
          <a:prstGeom prst="roundRect">
            <a:avLst>
              <a:gd name="adj" fmla="val 23810"/>
            </a:avLst>
          </a:prstGeom>
          <a:solidFill>
            <a:srgbClr val="FFFFFF"/>
          </a:solidFill>
          <a:ln/>
        </p:spPr>
      </p:sp>
      <p:sp>
        <p:nvSpPr>
          <p:cNvPr id="62" name="Text 57"/>
          <p:cNvSpPr txBox="1"/>
          <p:nvPr/>
        </p:nvSpPr>
        <p:spPr>
          <a:xfrm>
            <a:off x="786384" y="5367528"/>
            <a:ext cx="896112"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RA003</a:t>
            </a:r>
            <a:endParaRPr lang="en-US" sz="1500" dirty="0"/>
          </a:p>
        </p:txBody>
      </p:sp>
      <p:sp>
        <p:nvSpPr>
          <p:cNvPr id="63" name="Text 58"/>
          <p:cNvSpPr txBox="1"/>
          <p:nvPr/>
        </p:nvSpPr>
        <p:spPr>
          <a:xfrm>
            <a:off x="731520" y="5806440"/>
            <a:ext cx="1005840" cy="228600"/>
          </a:xfrm>
          <a:prstGeom prst="rect">
            <a:avLst/>
          </a:prstGeom>
          <a:noFill/>
          <a:ln/>
        </p:spPr>
        <p:txBody>
          <a:bodyPr wrap="square" lIns="0" tIns="0" rIns="0" bIns="0" rtlCol="0" anchor="t"/>
          <a:lstStyle/>
          <a:p>
            <a:pPr algn="ctr" indent="0" marL="0">
              <a:buNone/>
            </a:pPr>
            <a:r>
              <a:rPr lang="en-US" sz="1000" b="1" spc="100" kern="0" dirty="0">
                <a:solidFill>
                  <a:srgbClr val="F1F5F9"/>
                </a:solidFill>
                <a:latin typeface="Calibri" pitchFamily="34" charset="0"/>
                <a:ea typeface="Calibri" pitchFamily="34" charset="-122"/>
                <a:cs typeface="Calibri" pitchFamily="34" charset="-120"/>
              </a:rPr>
              <a:t>COMPLETED</a:t>
            </a:r>
            <a:endParaRPr lang="en-US" sz="1000" dirty="0"/>
          </a:p>
        </p:txBody>
      </p:sp>
      <p:sp>
        <p:nvSpPr>
          <p:cNvPr id="64" name="Text 59"/>
          <p:cNvSpPr txBox="1"/>
          <p:nvPr/>
        </p:nvSpPr>
        <p:spPr>
          <a:xfrm>
            <a:off x="1920240" y="5340096"/>
            <a:ext cx="3200400"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This visit is complete</a:t>
            </a:r>
            <a:endParaRPr lang="en-US" sz="1600" dirty="0"/>
          </a:p>
        </p:txBody>
      </p:sp>
      <p:sp>
        <p:nvSpPr>
          <p:cNvPr id="65" name="Text 60"/>
          <p:cNvSpPr txBox="1"/>
          <p:nvPr/>
        </p:nvSpPr>
        <p:spPr>
          <a:xfrm>
            <a:off x="1920240" y="5733288"/>
            <a:ext cx="3200400" cy="274320"/>
          </a:xfrm>
          <a:prstGeom prst="rect">
            <a:avLst/>
          </a:prstGeom>
          <a:noFill/>
          <a:ln/>
        </p:spPr>
        <p:txBody>
          <a:bodyPr wrap="square" lIns="0" tIns="0" rIns="0" bIns="0" rtlCol="0" anchor="t"/>
          <a:lstStyle/>
          <a:p>
            <a:pPr algn="l" indent="0" marL="0">
              <a:buNone/>
            </a:pPr>
            <a:r>
              <a:rPr lang="en-US" sz="1100" dirty="0">
                <a:solidFill>
                  <a:srgbClr val="F1F5F9"/>
                </a:solidFill>
                <a:latin typeface="Calibri" pitchFamily="34" charset="0"/>
                <a:ea typeface="Calibri" pitchFamily="34" charset="-122"/>
                <a:cs typeface="Calibri" pitchFamily="34" charset="-120"/>
              </a:rPr>
              <a:t>Saved to queue history</a:t>
            </a:r>
            <a:endParaRPr lang="en-US" sz="1100" dirty="0"/>
          </a:p>
        </p:txBody>
      </p:sp>
      <p:sp>
        <p:nvSpPr>
          <p:cNvPr id="66" name="Shape 61"/>
          <p:cNvSpPr/>
          <p:nvPr/>
        </p:nvSpPr>
        <p:spPr>
          <a:xfrm flipH="1">
            <a:off x="5285232" y="5664708"/>
            <a:ext cx="1682496" cy="0"/>
          </a:xfrm>
          <a:prstGeom prst="line">
            <a:avLst/>
          </a:prstGeom>
          <a:noFill/>
          <a:ln w="22225">
            <a:solidFill>
              <a:srgbClr val="6D28D9"/>
            </a:solidFill>
            <a:prstDash val="solid"/>
            <a:tailEnd type="triangle"/>
          </a:ln>
        </p:spPr>
      </p:sp>
      <p:sp>
        <p:nvSpPr>
          <p:cNvPr id="67" name="Shape 62"/>
          <p:cNvSpPr/>
          <p:nvPr/>
        </p:nvSpPr>
        <p:spPr>
          <a:xfrm>
            <a:off x="5861304" y="5436108"/>
            <a:ext cx="457200" cy="457200"/>
          </a:xfrm>
          <a:prstGeom prst="ellipse">
            <a:avLst/>
          </a:prstGeom>
          <a:solidFill>
            <a:srgbClr val="0B1026"/>
          </a:solidFill>
          <a:ln w="25400">
            <a:solidFill>
              <a:srgbClr val="FFFFFF"/>
            </a:solidFill>
            <a:prstDash val="solid"/>
          </a:ln>
        </p:spPr>
      </p:sp>
      <p:sp>
        <p:nvSpPr>
          <p:cNvPr id="68" name="Text 63"/>
          <p:cNvSpPr txBox="1"/>
          <p:nvPr/>
        </p:nvSpPr>
        <p:spPr>
          <a:xfrm>
            <a:off x="5861304" y="54361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69" name="Text 64"/>
          <p:cNvSpPr txBox="1"/>
          <p:nvPr/>
        </p:nvSpPr>
        <p:spPr>
          <a:xfrm>
            <a:off x="5632704" y="5920740"/>
            <a:ext cx="914400" cy="201168"/>
          </a:xfrm>
          <a:prstGeom prst="rect">
            <a:avLst/>
          </a:prstGeom>
          <a:noFill/>
          <a:ln/>
        </p:spPr>
        <p:txBody>
          <a:bodyPr wrap="square" lIns="0" tIns="0" rIns="0" bIns="0" rtlCol="0" anchor="t"/>
          <a:lstStyle/>
          <a:p>
            <a:pPr algn="ctr" indent="0" marL="0">
              <a:buNone/>
            </a:pPr>
            <a:r>
              <a:rPr lang="en-US" sz="950" b="1" dirty="0">
                <a:solidFill>
                  <a:srgbClr val="6D28D9"/>
                </a:solidFill>
                <a:latin typeface="Calibri" pitchFamily="34" charset="0"/>
                <a:ea typeface="Calibri" pitchFamily="34" charset="-122"/>
                <a:cs typeface="Calibri" pitchFamily="34" charset="-120"/>
              </a:rPr>
              <a:t>SSE</a:t>
            </a:r>
            <a:endParaRPr lang="en-US" sz="950" dirty="0"/>
          </a:p>
        </p:txBody>
      </p:sp>
      <p:sp>
        <p:nvSpPr>
          <p:cNvPr id="70" name="Shape 65"/>
          <p:cNvSpPr/>
          <p:nvPr/>
        </p:nvSpPr>
        <p:spPr>
          <a:xfrm>
            <a:off x="7040880" y="5184648"/>
            <a:ext cx="4599432" cy="960120"/>
          </a:xfrm>
          <a:prstGeom prst="roundRect">
            <a:avLst>
              <a:gd name="adj" fmla="val 15238"/>
            </a:avLst>
          </a:prstGeom>
          <a:solidFill>
            <a:srgbClr val="FFFFFF"/>
          </a:solidFill>
          <a:ln w="12700">
            <a:solidFill>
              <a:srgbClr val="DDE1EC"/>
            </a:solidFill>
            <a:prstDash val="solid"/>
          </a:ln>
          <a:effectLst>
            <a:outerShdw sx="100000" sy="100000" kx="0" ky="0" algn="bl" rotWithShape="0" blurRad="101600" dist="25400" dir="5400000">
              <a:srgbClr val="000000">
                <a:alpha val="8000"/>
              </a:srgbClr>
            </a:outerShdw>
          </a:effectLst>
        </p:spPr>
      </p:sp>
      <p:sp>
        <p:nvSpPr>
          <p:cNvPr id="71" name="Shape 66"/>
          <p:cNvSpPr/>
          <p:nvPr/>
        </p:nvSpPr>
        <p:spPr>
          <a:xfrm>
            <a:off x="7242048" y="5413248"/>
            <a:ext cx="502920" cy="502920"/>
          </a:xfrm>
          <a:prstGeom prst="roundRect">
            <a:avLst>
              <a:gd name="adj" fmla="val 28000"/>
            </a:avLst>
          </a:prstGeom>
          <a:solidFill>
            <a:srgbClr val="0B1026"/>
          </a:solidFill>
          <a:ln/>
        </p:spPr>
      </p:sp>
      <p:pic>
        <p:nvPicPr>
          <p:cNvPr id="72" name="Image 3" descr="preencoded.png">    </p:cNvPr>
          <p:cNvPicPr>
            <a:picLocks noChangeAspect="1"/>
          </p:cNvPicPr>
          <p:nvPr/>
        </p:nvPicPr>
        <p:blipFill>
          <a:blip r:embed="rId4"/>
          <a:stretch>
            <a:fillRect/>
          </a:stretch>
        </p:blipFill>
        <p:spPr>
          <a:xfrm>
            <a:off x="7352690" y="5523890"/>
            <a:ext cx="281635" cy="281635"/>
          </a:xfrm>
          <a:prstGeom prst="rect">
            <a:avLst/>
          </a:prstGeom>
        </p:spPr>
      </p:pic>
      <p:sp>
        <p:nvSpPr>
          <p:cNvPr id="73" name="Text 67"/>
          <p:cNvSpPr txBox="1"/>
          <p:nvPr/>
        </p:nvSpPr>
        <p:spPr>
          <a:xfrm>
            <a:off x="7909560" y="5340096"/>
            <a:ext cx="356616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Complete</a:t>
            </a:r>
            <a:endParaRPr lang="en-US" sz="1600" dirty="0"/>
          </a:p>
        </p:txBody>
      </p:sp>
      <p:sp>
        <p:nvSpPr>
          <p:cNvPr id="74" name="Text 68"/>
          <p:cNvSpPr txBox="1"/>
          <p:nvPr/>
        </p:nvSpPr>
        <p:spPr>
          <a:xfrm>
            <a:off x="7909560" y="5705856"/>
            <a:ext cx="3566160" cy="365760"/>
          </a:xfrm>
          <a:prstGeom prst="rect">
            <a:avLst/>
          </a:prstGeom>
          <a:noFill/>
          <a:ln/>
        </p:spPr>
        <p:txBody>
          <a:bodyPr wrap="square" lIns="0" tIns="0" rIns="0" bIns="0" rtlCol="0" anchor="t"/>
          <a:lstStyle/>
          <a:p>
            <a:pPr algn="l" indent="0" marL="0">
              <a:buNone/>
            </a:pPr>
            <a:r>
              <a:rPr lang="en-US" sz="1100" dirty="0">
                <a:solidFill>
                  <a:srgbClr val="5B6478"/>
                </a:solidFill>
                <a:latin typeface="Calibri" pitchFamily="34" charset="0"/>
                <a:ea typeface="Calibri" pitchFamily="34" charset="-122"/>
                <a:cs typeface="Calibri" pitchFamily="34" charset="-120"/>
              </a:rPr>
              <a:t>Visit closed and recorded</a:t>
            </a:r>
            <a:endParaRPr lang="en-US" sz="1100" dirty="0"/>
          </a:p>
        </p:txBody>
      </p:sp>
      <p:sp>
        <p:nvSpPr>
          <p:cNvPr id="75" name="Text 69"/>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76" name="Text 70"/>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09  ·  ADVANCED FEATURES</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Beyond Basic Queueing</a:t>
            </a:r>
            <a:endParaRPr lang="en-US" sz="3000" dirty="0"/>
          </a:p>
        </p:txBody>
      </p:sp>
      <p:sp>
        <p:nvSpPr>
          <p:cNvPr id="4" name="Shape 2"/>
          <p:cNvSpPr/>
          <p:nvPr/>
        </p:nvSpPr>
        <p:spPr>
          <a:xfrm>
            <a:off x="548640" y="1463040"/>
            <a:ext cx="4206240" cy="4709160"/>
          </a:xfrm>
          <a:prstGeom prst="roundRect">
            <a:avLst>
              <a:gd name="adj" fmla="val 4348"/>
            </a:avLst>
          </a:prstGeom>
          <a:solidFill>
            <a:srgbClr val="0B1026"/>
          </a:solidFill>
          <a:ln/>
        </p:spPr>
      </p:sp>
      <p:sp>
        <p:nvSpPr>
          <p:cNvPr id="5" name="Shape 3"/>
          <p:cNvSpPr/>
          <p:nvPr/>
        </p:nvSpPr>
        <p:spPr>
          <a:xfrm>
            <a:off x="822960" y="1719072"/>
            <a:ext cx="1463040" cy="292608"/>
          </a:xfrm>
          <a:prstGeom prst="roundRect">
            <a:avLst>
              <a:gd name="adj" fmla="val 50000"/>
            </a:avLst>
          </a:prstGeom>
          <a:solidFill>
            <a:srgbClr val="6D28D9"/>
          </a:solidFill>
          <a:ln/>
        </p:spPr>
      </p:sp>
      <p:sp>
        <p:nvSpPr>
          <p:cNvPr id="6" name="Text 4"/>
          <p:cNvSpPr txBox="1"/>
          <p:nvPr/>
        </p:nvSpPr>
        <p:spPr>
          <a:xfrm>
            <a:off x="877824" y="1719072"/>
            <a:ext cx="135331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FEATURED DEMO</a:t>
            </a:r>
            <a:endParaRPr lang="en-US" sz="1000" dirty="0"/>
          </a:p>
        </p:txBody>
      </p:sp>
      <p:sp>
        <p:nvSpPr>
          <p:cNvPr id="7" name="Text 5"/>
          <p:cNvSpPr txBox="1"/>
          <p:nvPr/>
        </p:nvSpPr>
        <p:spPr>
          <a:xfrm>
            <a:off x="822960" y="2148840"/>
            <a:ext cx="3657600" cy="457200"/>
          </a:xfrm>
          <a:prstGeom prst="rect">
            <a:avLst/>
          </a:prstGeom>
          <a:noFill/>
          <a:ln/>
        </p:spPr>
        <p:txBody>
          <a:bodyPr wrap="square" lIns="0" tIns="0" rIns="0" bIns="0" rtlCol="0" anchor="t"/>
          <a:lstStyle/>
          <a:p>
            <a:pPr algn="l" indent="0" marL="0">
              <a:buNone/>
            </a:pPr>
            <a:r>
              <a:rPr lang="en-US" sz="2200" b="1" dirty="0">
                <a:solidFill>
                  <a:srgbClr val="FFFFFF"/>
                </a:solidFill>
                <a:latin typeface="Calibri" pitchFamily="34" charset="0"/>
                <a:ea typeface="Calibri" pitchFamily="34" charset="-122"/>
                <a:cs typeface="Calibri" pitchFamily="34" charset="-120"/>
              </a:rPr>
              <a:t>Traffic Updates</a:t>
            </a:r>
            <a:endParaRPr lang="en-US" sz="2200" dirty="0"/>
          </a:p>
        </p:txBody>
      </p:sp>
      <p:sp>
        <p:nvSpPr>
          <p:cNvPr id="8" name="Text 6"/>
          <p:cNvSpPr txBox="1"/>
          <p:nvPr/>
        </p:nvSpPr>
        <p:spPr>
          <a:xfrm>
            <a:off x="822960" y="2633472"/>
            <a:ext cx="3657600" cy="640080"/>
          </a:xfrm>
          <a:prstGeom prst="rect">
            <a:avLst/>
          </a:prstGeom>
          <a:noFill/>
          <a:ln/>
        </p:spPr>
        <p:txBody>
          <a:bodyPr wrap="square" lIns="0" tIns="0" rIns="0" bIns="0" rtlCol="0" anchor="t"/>
          <a:lstStyle/>
          <a:p>
            <a:pPr algn="l" indent="0" marL="0">
              <a:buNone/>
            </a:pPr>
            <a:r>
              <a:rPr lang="en-US" sz="1250" dirty="0">
                <a:solidFill>
                  <a:srgbClr val="CBD5E1"/>
                </a:solidFill>
                <a:latin typeface="Calibri" pitchFamily="34" charset="0"/>
                <a:ea typeface="Calibri" pitchFamily="34" charset="-122"/>
                <a:cs typeface="Calibri" pitchFamily="34" charset="-120"/>
              </a:rPr>
              <a:t>Staff set a counter’s traffic level and give a reason — students see why their estimate moved.</a:t>
            </a:r>
            <a:endParaRPr lang="en-US" sz="1250" dirty="0"/>
          </a:p>
        </p:txBody>
      </p:sp>
      <p:sp>
        <p:nvSpPr>
          <p:cNvPr id="9" name="Text 7"/>
          <p:cNvSpPr txBox="1"/>
          <p:nvPr/>
        </p:nvSpPr>
        <p:spPr>
          <a:xfrm>
            <a:off x="822960" y="3383280"/>
            <a:ext cx="2743200" cy="228600"/>
          </a:xfrm>
          <a:prstGeom prst="rect">
            <a:avLst/>
          </a:prstGeom>
          <a:noFill/>
          <a:ln/>
        </p:spPr>
        <p:txBody>
          <a:bodyPr wrap="square" lIns="0" tIns="0" rIns="0" bIns="0" rtlCol="0" anchor="t"/>
          <a:lstStyle/>
          <a:p>
            <a:pPr algn="l" indent="0" marL="0">
              <a:buNone/>
            </a:pPr>
            <a:r>
              <a:rPr lang="en-US" sz="950" b="1" spc="200" kern="0" dirty="0">
                <a:solidFill>
                  <a:srgbClr val="7C86A8"/>
                </a:solidFill>
                <a:latin typeface="Calibri" pitchFamily="34" charset="0"/>
                <a:ea typeface="Calibri" pitchFamily="34" charset="-122"/>
                <a:cs typeface="Calibri" pitchFamily="34" charset="-120"/>
              </a:rPr>
              <a:t>REPORT COUNTER B</a:t>
            </a:r>
            <a:endParaRPr lang="en-US" sz="950" dirty="0"/>
          </a:p>
        </p:txBody>
      </p:sp>
      <p:sp>
        <p:nvSpPr>
          <p:cNvPr id="10" name="Shape 8"/>
          <p:cNvSpPr/>
          <p:nvPr/>
        </p:nvSpPr>
        <p:spPr>
          <a:xfrm>
            <a:off x="822960" y="3639312"/>
            <a:ext cx="1143000" cy="548640"/>
          </a:xfrm>
          <a:prstGeom prst="roundRect">
            <a:avLst>
              <a:gd name="adj" fmla="val 16667"/>
            </a:avLst>
          </a:prstGeom>
          <a:solidFill>
            <a:srgbClr val="161D40"/>
          </a:solidFill>
          <a:ln w="12700">
            <a:solidFill>
              <a:srgbClr val="222B55"/>
            </a:solidFill>
            <a:prstDash val="solid"/>
          </a:ln>
        </p:spPr>
      </p:sp>
      <p:sp>
        <p:nvSpPr>
          <p:cNvPr id="11" name="Text 9"/>
          <p:cNvSpPr txBox="1"/>
          <p:nvPr/>
        </p:nvSpPr>
        <p:spPr>
          <a:xfrm>
            <a:off x="822960" y="3657600"/>
            <a:ext cx="11430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a:t>
            </a:r>
            <a:endParaRPr lang="en-US" sz="1200" dirty="0"/>
          </a:p>
        </p:txBody>
      </p:sp>
      <p:sp>
        <p:nvSpPr>
          <p:cNvPr id="12" name="Text 10"/>
          <p:cNvSpPr txBox="1"/>
          <p:nvPr/>
        </p:nvSpPr>
        <p:spPr>
          <a:xfrm>
            <a:off x="822960" y="3922776"/>
            <a:ext cx="1143000" cy="22860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 1.0</a:t>
            </a:r>
            <a:endParaRPr lang="en-US" sz="1000" dirty="0"/>
          </a:p>
        </p:txBody>
      </p:sp>
      <p:sp>
        <p:nvSpPr>
          <p:cNvPr id="13" name="Shape 11"/>
          <p:cNvSpPr/>
          <p:nvPr/>
        </p:nvSpPr>
        <p:spPr>
          <a:xfrm>
            <a:off x="2057400" y="3639312"/>
            <a:ext cx="1143000" cy="548640"/>
          </a:xfrm>
          <a:prstGeom prst="roundRect">
            <a:avLst>
              <a:gd name="adj" fmla="val 16667"/>
            </a:avLst>
          </a:prstGeom>
          <a:solidFill>
            <a:srgbClr val="161D40"/>
          </a:solidFill>
          <a:ln w="12700">
            <a:solidFill>
              <a:srgbClr val="222B55"/>
            </a:solidFill>
            <a:prstDash val="solid"/>
          </a:ln>
        </p:spPr>
      </p:sp>
      <p:sp>
        <p:nvSpPr>
          <p:cNvPr id="14" name="Text 12"/>
          <p:cNvSpPr txBox="1"/>
          <p:nvPr/>
        </p:nvSpPr>
        <p:spPr>
          <a:xfrm>
            <a:off x="2057400" y="3657600"/>
            <a:ext cx="11430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Moderate</a:t>
            </a:r>
            <a:endParaRPr lang="en-US" sz="1200" dirty="0"/>
          </a:p>
        </p:txBody>
      </p:sp>
      <p:sp>
        <p:nvSpPr>
          <p:cNvPr id="15" name="Text 13"/>
          <p:cNvSpPr txBox="1"/>
          <p:nvPr/>
        </p:nvSpPr>
        <p:spPr>
          <a:xfrm>
            <a:off x="2057400" y="3922776"/>
            <a:ext cx="1143000" cy="22860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 1.25</a:t>
            </a:r>
            <a:endParaRPr lang="en-US" sz="1000" dirty="0"/>
          </a:p>
        </p:txBody>
      </p:sp>
      <p:sp>
        <p:nvSpPr>
          <p:cNvPr id="16" name="Shape 14"/>
          <p:cNvSpPr/>
          <p:nvPr/>
        </p:nvSpPr>
        <p:spPr>
          <a:xfrm>
            <a:off x="3291840" y="3639312"/>
            <a:ext cx="1143000" cy="548640"/>
          </a:xfrm>
          <a:prstGeom prst="roundRect">
            <a:avLst>
              <a:gd name="adj" fmla="val 16667"/>
            </a:avLst>
          </a:prstGeom>
          <a:solidFill>
            <a:srgbClr val="6D28D9"/>
          </a:solidFill>
          <a:ln/>
        </p:spPr>
      </p:sp>
      <p:sp>
        <p:nvSpPr>
          <p:cNvPr id="17" name="Text 15"/>
          <p:cNvSpPr txBox="1"/>
          <p:nvPr/>
        </p:nvSpPr>
        <p:spPr>
          <a:xfrm>
            <a:off x="3291840" y="3657600"/>
            <a:ext cx="11430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Heavy</a:t>
            </a:r>
            <a:endParaRPr lang="en-US" sz="1200" dirty="0"/>
          </a:p>
        </p:txBody>
      </p:sp>
      <p:sp>
        <p:nvSpPr>
          <p:cNvPr id="18" name="Text 16"/>
          <p:cNvSpPr txBox="1"/>
          <p:nvPr/>
        </p:nvSpPr>
        <p:spPr>
          <a:xfrm>
            <a:off x="3291840" y="3922776"/>
            <a:ext cx="1143000" cy="228600"/>
          </a:xfrm>
          <a:prstGeom prst="rect">
            <a:avLst/>
          </a:prstGeom>
          <a:noFill/>
          <a:ln/>
        </p:spPr>
        <p:txBody>
          <a:bodyPr wrap="square" lIns="0" tIns="0" rIns="0" bIns="0" rtlCol="0" anchor="t"/>
          <a:lstStyle/>
          <a:p>
            <a:pPr algn="ctr" indent="0" marL="0">
              <a:buNone/>
            </a:pPr>
            <a:r>
              <a:rPr lang="en-US" sz="1000" dirty="0">
                <a:solidFill>
                  <a:srgbClr val="DDD6FE"/>
                </a:solidFill>
                <a:latin typeface="Calibri" pitchFamily="34" charset="0"/>
                <a:ea typeface="Calibri" pitchFamily="34" charset="-122"/>
                <a:cs typeface="Calibri" pitchFamily="34" charset="-120"/>
              </a:rPr>
              <a:t>× 1.5</a:t>
            </a:r>
            <a:endParaRPr lang="en-US" sz="1000" dirty="0"/>
          </a:p>
        </p:txBody>
      </p:sp>
      <p:sp>
        <p:nvSpPr>
          <p:cNvPr id="19" name="Shape 17"/>
          <p:cNvSpPr/>
          <p:nvPr/>
        </p:nvSpPr>
        <p:spPr>
          <a:xfrm>
            <a:off x="822960" y="4343400"/>
            <a:ext cx="3611880" cy="411480"/>
          </a:xfrm>
          <a:prstGeom prst="roundRect">
            <a:avLst>
              <a:gd name="adj" fmla="val 17778"/>
            </a:avLst>
          </a:prstGeom>
          <a:solidFill>
            <a:srgbClr val="161D40"/>
          </a:solidFill>
          <a:ln w="12700">
            <a:solidFill>
              <a:srgbClr val="222B55"/>
            </a:solidFill>
            <a:prstDash val="solid"/>
          </a:ln>
        </p:spPr>
      </p:sp>
      <p:sp>
        <p:nvSpPr>
          <p:cNvPr id="20" name="Text 18"/>
          <p:cNvSpPr txBox="1"/>
          <p:nvPr/>
        </p:nvSpPr>
        <p:spPr>
          <a:xfrm>
            <a:off x="960120" y="4343400"/>
            <a:ext cx="3383280" cy="411480"/>
          </a:xfrm>
          <a:prstGeom prst="rect">
            <a:avLst/>
          </a:prstGeom>
          <a:noFill/>
          <a:ln/>
        </p:spPr>
        <p:txBody>
          <a:bodyPr wrap="square" lIns="0" tIns="0" rIns="0" bIns="0" rtlCol="0" anchor="ctr"/>
          <a:lstStyle/>
          <a:p>
            <a:pPr algn="l" indent="0" marL="0">
              <a:buNone/>
            </a:pPr>
            <a:r>
              <a:rPr lang="en-US" sz="1200" dirty="0">
                <a:solidFill>
                  <a:srgbClr val="E2E8F0"/>
                </a:solidFill>
                <a:latin typeface="Calibri" pitchFamily="34" charset="0"/>
                <a:ea typeface="Calibri" pitchFamily="34" charset="-122"/>
                <a:cs typeface="Calibri" pitchFamily="34" charset="-120"/>
              </a:rPr>
              <a:t>Reason:  Printer jam</a:t>
            </a:r>
            <a:endParaRPr lang="en-US" sz="1200" dirty="0"/>
          </a:p>
        </p:txBody>
      </p:sp>
      <p:sp>
        <p:nvSpPr>
          <p:cNvPr id="21" name="Shape 19"/>
          <p:cNvSpPr/>
          <p:nvPr/>
        </p:nvSpPr>
        <p:spPr>
          <a:xfrm>
            <a:off x="2624328" y="4800600"/>
            <a:ext cx="0" cy="274320"/>
          </a:xfrm>
          <a:prstGeom prst="line">
            <a:avLst/>
          </a:prstGeom>
          <a:noFill/>
          <a:ln w="19050">
            <a:solidFill>
              <a:srgbClr val="A78BFA"/>
            </a:solidFill>
            <a:prstDash val="solid"/>
            <a:tailEnd type="triangle"/>
          </a:ln>
        </p:spPr>
      </p:sp>
      <p:sp>
        <p:nvSpPr>
          <p:cNvPr id="22" name="Shape 20"/>
          <p:cNvSpPr/>
          <p:nvPr/>
        </p:nvSpPr>
        <p:spPr>
          <a:xfrm>
            <a:off x="822960" y="5138928"/>
            <a:ext cx="3611880" cy="731520"/>
          </a:xfrm>
          <a:prstGeom prst="roundRect">
            <a:avLst>
              <a:gd name="adj" fmla="val 15000"/>
            </a:avLst>
          </a:prstGeom>
          <a:solidFill>
            <a:srgbClr val="FFFFFF"/>
          </a:solidFill>
          <a:ln/>
        </p:spPr>
      </p:sp>
      <p:pic>
        <p:nvPicPr>
          <p:cNvPr id="23" name="Image 0" descr="preencoded.png">    </p:cNvPr>
          <p:cNvPicPr>
            <a:picLocks noChangeAspect="1"/>
          </p:cNvPicPr>
          <p:nvPr/>
        </p:nvPicPr>
        <p:blipFill>
          <a:blip r:embed="rId1"/>
          <a:stretch>
            <a:fillRect/>
          </a:stretch>
        </p:blipFill>
        <p:spPr>
          <a:xfrm>
            <a:off x="987552" y="5340096"/>
            <a:ext cx="329184" cy="329184"/>
          </a:xfrm>
          <a:prstGeom prst="rect">
            <a:avLst/>
          </a:prstGeom>
        </p:spPr>
      </p:pic>
      <p:sp>
        <p:nvSpPr>
          <p:cNvPr id="24" name="Text 21"/>
          <p:cNvSpPr txBox="1"/>
          <p:nvPr/>
        </p:nvSpPr>
        <p:spPr>
          <a:xfrm>
            <a:off x="1417320" y="5175504"/>
            <a:ext cx="2926080" cy="365760"/>
          </a:xfrm>
          <a:prstGeom prst="rect">
            <a:avLst/>
          </a:prstGeom>
          <a:noFill/>
          <a:ln/>
        </p:spPr>
        <p:txBody>
          <a:bodyPr wrap="square" lIns="0" tIns="0" rIns="0" bIns="0" rtlCol="0" anchor="ctr"/>
          <a:lstStyle/>
          <a:p>
            <a:pPr algn="l" indent="0" marL="0">
              <a:buNone/>
            </a:pPr>
            <a:r>
              <a:rPr lang="en-US" sz="1300" b="1" dirty="0">
                <a:solidFill>
                  <a:srgbClr val="0F172A"/>
                </a:solidFill>
                <a:latin typeface="Calibri" pitchFamily="34" charset="0"/>
                <a:ea typeface="Calibri" pitchFamily="34" charset="-122"/>
                <a:cs typeface="Calibri" pitchFamily="34" charset="-120"/>
              </a:rPr>
              <a:t>Wait up about 7 min: Printer jam</a:t>
            </a:r>
            <a:endParaRPr lang="en-US" sz="1300" dirty="0"/>
          </a:p>
        </p:txBody>
      </p:sp>
      <p:sp>
        <p:nvSpPr>
          <p:cNvPr id="25" name="Text 22"/>
          <p:cNvSpPr txBox="1"/>
          <p:nvPr/>
        </p:nvSpPr>
        <p:spPr>
          <a:xfrm>
            <a:off x="1417320" y="5513832"/>
            <a:ext cx="2926080" cy="256032"/>
          </a:xfrm>
          <a:prstGeom prst="rect">
            <a:avLst/>
          </a:prstGeom>
          <a:noFill/>
          <a:ln/>
        </p:spPr>
        <p:txBody>
          <a:bodyPr wrap="square" lIns="0" tIns="0" rIns="0" bIns="0" rtlCol="0" anchor="t"/>
          <a:lstStyle/>
          <a:p>
            <a:pPr algn="l" indent="0" marL="0">
              <a:buNone/>
            </a:pPr>
            <a:r>
              <a:rPr lang="en-US" sz="1000" dirty="0">
                <a:solidFill>
                  <a:srgbClr val="5B6478"/>
                </a:solidFill>
                <a:latin typeface="Calibri" pitchFamily="34" charset="0"/>
                <a:ea typeface="Calibri" pitchFamily="34" charset="-122"/>
                <a:cs typeface="Calibri" pitchFamily="34" charset="-120"/>
              </a:rPr>
              <a:t>What the student sees</a:t>
            </a:r>
            <a:endParaRPr lang="en-US" sz="1000" dirty="0"/>
          </a:p>
        </p:txBody>
      </p:sp>
      <p:sp>
        <p:nvSpPr>
          <p:cNvPr id="26" name="Shape 23"/>
          <p:cNvSpPr/>
          <p:nvPr/>
        </p:nvSpPr>
        <p:spPr>
          <a:xfrm>
            <a:off x="4983480" y="1463040"/>
            <a:ext cx="3227832" cy="1810512"/>
          </a:xfrm>
          <a:prstGeom prst="roundRect">
            <a:avLst>
              <a:gd name="adj" fmla="val 8081"/>
            </a:avLst>
          </a:prstGeom>
          <a:solidFill>
            <a:srgbClr val="F3F4F9"/>
          </a:solidFill>
          <a:ln/>
        </p:spPr>
      </p:sp>
      <p:sp>
        <p:nvSpPr>
          <p:cNvPr id="27" name="Shape 24"/>
          <p:cNvSpPr/>
          <p:nvPr/>
        </p:nvSpPr>
        <p:spPr>
          <a:xfrm>
            <a:off x="5212080" y="1691640"/>
            <a:ext cx="438912" cy="438912"/>
          </a:xfrm>
          <a:prstGeom prst="roundRect">
            <a:avLst>
              <a:gd name="adj" fmla="val 28000"/>
            </a:avLst>
          </a:prstGeom>
          <a:solidFill>
            <a:srgbClr val="EDE9FE"/>
          </a:solidFill>
          <a:ln/>
        </p:spPr>
      </p:sp>
      <p:pic>
        <p:nvPicPr>
          <p:cNvPr id="28" name="Image 1" descr="preencoded.png">    </p:cNvPr>
          <p:cNvPicPr>
            <a:picLocks noChangeAspect="1"/>
          </p:cNvPicPr>
          <p:nvPr/>
        </p:nvPicPr>
        <p:blipFill>
          <a:blip r:embed="rId2"/>
          <a:stretch>
            <a:fillRect/>
          </a:stretch>
        </p:blipFill>
        <p:spPr>
          <a:xfrm>
            <a:off x="5308641" y="1788201"/>
            <a:ext cx="245791" cy="245791"/>
          </a:xfrm>
          <a:prstGeom prst="rect">
            <a:avLst/>
          </a:prstGeom>
        </p:spPr>
      </p:pic>
      <p:sp>
        <p:nvSpPr>
          <p:cNvPr id="29" name="Text 25"/>
          <p:cNvSpPr txBox="1"/>
          <p:nvPr/>
        </p:nvSpPr>
        <p:spPr>
          <a:xfrm>
            <a:off x="5788152" y="1691640"/>
            <a:ext cx="2313432" cy="438912"/>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Priority Management</a:t>
            </a:r>
            <a:endParaRPr lang="en-US" sz="1500" dirty="0"/>
          </a:p>
        </p:txBody>
      </p:sp>
      <p:sp>
        <p:nvSpPr>
          <p:cNvPr id="30" name="Text 26"/>
          <p:cNvSpPr txBox="1"/>
          <p:nvPr/>
        </p:nvSpPr>
        <p:spPr>
          <a:xfrm>
            <a:off x="5239512" y="2267712"/>
            <a:ext cx="2816352"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Reason-based priority</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Position recalculation</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Recorded in audit log</a:t>
            </a:r>
            <a:endParaRPr lang="en-US" sz="1200" dirty="0"/>
          </a:p>
        </p:txBody>
      </p:sp>
      <p:sp>
        <p:nvSpPr>
          <p:cNvPr id="31" name="Shape 27"/>
          <p:cNvSpPr/>
          <p:nvPr/>
        </p:nvSpPr>
        <p:spPr>
          <a:xfrm>
            <a:off x="8412480" y="1463040"/>
            <a:ext cx="3227832" cy="1810512"/>
          </a:xfrm>
          <a:prstGeom prst="roundRect">
            <a:avLst>
              <a:gd name="adj" fmla="val 8081"/>
            </a:avLst>
          </a:prstGeom>
          <a:solidFill>
            <a:srgbClr val="F3F4F9"/>
          </a:solidFill>
          <a:ln/>
        </p:spPr>
      </p:sp>
      <p:sp>
        <p:nvSpPr>
          <p:cNvPr id="32" name="Shape 28"/>
          <p:cNvSpPr/>
          <p:nvPr/>
        </p:nvSpPr>
        <p:spPr>
          <a:xfrm>
            <a:off x="8641080" y="1691640"/>
            <a:ext cx="438912" cy="438912"/>
          </a:xfrm>
          <a:prstGeom prst="roundRect">
            <a:avLst>
              <a:gd name="adj" fmla="val 28000"/>
            </a:avLst>
          </a:prstGeom>
          <a:solidFill>
            <a:srgbClr val="EDE9FE"/>
          </a:solidFill>
          <a:ln/>
        </p:spPr>
      </p:sp>
      <p:pic>
        <p:nvPicPr>
          <p:cNvPr id="33" name="Image 2" descr="preencoded.png">    </p:cNvPr>
          <p:cNvPicPr>
            <a:picLocks noChangeAspect="1"/>
          </p:cNvPicPr>
          <p:nvPr/>
        </p:nvPicPr>
        <p:blipFill>
          <a:blip r:embed="rId3"/>
          <a:stretch>
            <a:fillRect/>
          </a:stretch>
        </p:blipFill>
        <p:spPr>
          <a:xfrm>
            <a:off x="8737641" y="1788201"/>
            <a:ext cx="245791" cy="245791"/>
          </a:xfrm>
          <a:prstGeom prst="rect">
            <a:avLst/>
          </a:prstGeom>
        </p:spPr>
      </p:pic>
      <p:sp>
        <p:nvSpPr>
          <p:cNvPr id="34" name="Text 29"/>
          <p:cNvSpPr txBox="1"/>
          <p:nvPr/>
        </p:nvSpPr>
        <p:spPr>
          <a:xfrm>
            <a:off x="9217152" y="1691640"/>
            <a:ext cx="2313432" cy="438912"/>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Queue Merging</a:t>
            </a:r>
            <a:endParaRPr lang="en-US" sz="1500" dirty="0"/>
          </a:p>
        </p:txBody>
      </p:sp>
      <p:sp>
        <p:nvSpPr>
          <p:cNvPr id="35" name="Text 30"/>
          <p:cNvSpPr txBox="1"/>
          <p:nvPr/>
        </p:nvSpPr>
        <p:spPr>
          <a:xfrm>
            <a:off x="8668512" y="2267712"/>
            <a:ext cx="2816352"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Merge Queue B into Queue A</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Entries preserved, not deleted</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Reason recorded, order kept</a:t>
            </a:r>
            <a:endParaRPr lang="en-US" sz="1200" dirty="0"/>
          </a:p>
        </p:txBody>
      </p:sp>
      <p:sp>
        <p:nvSpPr>
          <p:cNvPr id="36" name="Shape 31"/>
          <p:cNvSpPr/>
          <p:nvPr/>
        </p:nvSpPr>
        <p:spPr>
          <a:xfrm>
            <a:off x="4983480" y="3456432"/>
            <a:ext cx="3227832" cy="1810512"/>
          </a:xfrm>
          <a:prstGeom prst="roundRect">
            <a:avLst>
              <a:gd name="adj" fmla="val 8081"/>
            </a:avLst>
          </a:prstGeom>
          <a:solidFill>
            <a:srgbClr val="F3F4F9"/>
          </a:solidFill>
          <a:ln/>
        </p:spPr>
      </p:sp>
      <p:sp>
        <p:nvSpPr>
          <p:cNvPr id="37" name="Shape 32"/>
          <p:cNvSpPr/>
          <p:nvPr/>
        </p:nvSpPr>
        <p:spPr>
          <a:xfrm>
            <a:off x="5212080" y="3685032"/>
            <a:ext cx="438912" cy="438912"/>
          </a:xfrm>
          <a:prstGeom prst="roundRect">
            <a:avLst>
              <a:gd name="adj" fmla="val 28000"/>
            </a:avLst>
          </a:prstGeom>
          <a:solidFill>
            <a:srgbClr val="EDE9FE"/>
          </a:solidFill>
          <a:ln/>
        </p:spPr>
      </p:sp>
      <p:pic>
        <p:nvPicPr>
          <p:cNvPr id="38" name="Image 3" descr="preencoded.png">    </p:cNvPr>
          <p:cNvPicPr>
            <a:picLocks noChangeAspect="1"/>
          </p:cNvPicPr>
          <p:nvPr/>
        </p:nvPicPr>
        <p:blipFill>
          <a:blip r:embed="rId4"/>
          <a:stretch>
            <a:fillRect/>
          </a:stretch>
        </p:blipFill>
        <p:spPr>
          <a:xfrm>
            <a:off x="5308641" y="3781593"/>
            <a:ext cx="245791" cy="245791"/>
          </a:xfrm>
          <a:prstGeom prst="rect">
            <a:avLst/>
          </a:prstGeom>
        </p:spPr>
      </p:pic>
      <p:sp>
        <p:nvSpPr>
          <p:cNvPr id="39" name="Text 33"/>
          <p:cNvSpPr txBox="1"/>
          <p:nvPr/>
        </p:nvSpPr>
        <p:spPr>
          <a:xfrm>
            <a:off x="5788152" y="3685032"/>
            <a:ext cx="2313432" cy="438912"/>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Counter Management</a:t>
            </a:r>
            <a:endParaRPr lang="en-US" sz="1500" dirty="0"/>
          </a:p>
        </p:txBody>
      </p:sp>
      <p:sp>
        <p:nvSpPr>
          <p:cNvPr id="40" name="Text 34"/>
          <p:cNvSpPr txBox="1"/>
          <p:nvPr/>
        </p:nvSpPr>
        <p:spPr>
          <a:xfrm>
            <a:off x="5239512" y="4261104"/>
            <a:ext cx="2816352"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Available · Paused · Offline</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Students aren’t silently stranded</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Changes communicated in queue</a:t>
            </a:r>
            <a:endParaRPr lang="en-US" sz="1200" dirty="0"/>
          </a:p>
        </p:txBody>
      </p:sp>
      <p:sp>
        <p:nvSpPr>
          <p:cNvPr id="41" name="Shape 35"/>
          <p:cNvSpPr/>
          <p:nvPr/>
        </p:nvSpPr>
        <p:spPr>
          <a:xfrm>
            <a:off x="8412480" y="3456432"/>
            <a:ext cx="3227832" cy="1810512"/>
          </a:xfrm>
          <a:prstGeom prst="roundRect">
            <a:avLst>
              <a:gd name="adj" fmla="val 8081"/>
            </a:avLst>
          </a:prstGeom>
          <a:solidFill>
            <a:srgbClr val="F3F4F9"/>
          </a:solidFill>
          <a:ln/>
        </p:spPr>
      </p:sp>
      <p:sp>
        <p:nvSpPr>
          <p:cNvPr id="42" name="Shape 36"/>
          <p:cNvSpPr/>
          <p:nvPr/>
        </p:nvSpPr>
        <p:spPr>
          <a:xfrm>
            <a:off x="8641080" y="3685032"/>
            <a:ext cx="438912" cy="438912"/>
          </a:xfrm>
          <a:prstGeom prst="roundRect">
            <a:avLst>
              <a:gd name="adj" fmla="val 28000"/>
            </a:avLst>
          </a:prstGeom>
          <a:solidFill>
            <a:srgbClr val="EDE9FE"/>
          </a:solidFill>
          <a:ln/>
        </p:spPr>
      </p:sp>
      <p:pic>
        <p:nvPicPr>
          <p:cNvPr id="43" name="Image 4" descr="preencoded.png">    </p:cNvPr>
          <p:cNvPicPr>
            <a:picLocks noChangeAspect="1"/>
          </p:cNvPicPr>
          <p:nvPr/>
        </p:nvPicPr>
        <p:blipFill>
          <a:blip r:embed="rId5"/>
          <a:stretch>
            <a:fillRect/>
          </a:stretch>
        </p:blipFill>
        <p:spPr>
          <a:xfrm>
            <a:off x="8737641" y="3781593"/>
            <a:ext cx="245791" cy="245791"/>
          </a:xfrm>
          <a:prstGeom prst="rect">
            <a:avLst/>
          </a:prstGeom>
        </p:spPr>
      </p:pic>
      <p:sp>
        <p:nvSpPr>
          <p:cNvPr id="44" name="Text 37"/>
          <p:cNvSpPr txBox="1"/>
          <p:nvPr/>
        </p:nvSpPr>
        <p:spPr>
          <a:xfrm>
            <a:off x="9217152" y="3685032"/>
            <a:ext cx="2313432" cy="438912"/>
          </a:xfrm>
          <a:prstGeom prst="rect">
            <a:avLst/>
          </a:prstGeom>
          <a:noFill/>
          <a:ln/>
        </p:spPr>
        <p:txBody>
          <a:bodyPr wrap="square" lIns="0" tIns="0" rIns="0" bIns="0" rtlCol="0" anchor="ctr"/>
          <a:lstStyle/>
          <a:p>
            <a:pPr algn="l" indent="0" marL="0">
              <a:buNone/>
            </a:pPr>
            <a:r>
              <a:rPr lang="en-US" sz="1500" b="1" dirty="0">
                <a:solidFill>
                  <a:srgbClr val="0F172A"/>
                </a:solidFill>
                <a:latin typeface="Calibri" pitchFamily="34" charset="0"/>
                <a:ea typeface="Calibri" pitchFamily="34" charset="-122"/>
                <a:cs typeface="Calibri" pitchFamily="34" charset="-120"/>
              </a:rPr>
              <a:t>Computer Vision</a:t>
            </a:r>
            <a:endParaRPr lang="en-US" sz="1500" dirty="0"/>
          </a:p>
        </p:txBody>
      </p:sp>
      <p:sp>
        <p:nvSpPr>
          <p:cNvPr id="45" name="Text 38"/>
          <p:cNvSpPr txBox="1"/>
          <p:nvPr/>
        </p:nvSpPr>
        <p:spPr>
          <a:xfrm>
            <a:off x="8668512" y="4261104"/>
            <a:ext cx="2816352" cy="914400"/>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Aggregate people count</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Processed in the browser</a:t>
            </a:r>
            <a:endParaRPr lang="en-US" sz="1200" dirty="0"/>
          </a:p>
          <a:p>
            <a:pPr marL="152400" indent="-152400">
              <a:spcAft>
                <a:spcPts val="300"/>
              </a:spcAft>
              <a:buSzPct val="100000"/>
              <a:buChar char="•"/>
            </a:pPr>
            <a:r>
              <a:rPr lang="en-US" sz="1200" dirty="0">
                <a:solidFill>
                  <a:srgbClr val="334155"/>
                </a:solidFill>
                <a:latin typeface="Calibri" pitchFamily="34" charset="0"/>
                <a:ea typeface="Calibri" pitchFamily="34" charset="-122"/>
                <a:cs typeface="Calibri" pitchFamily="34" charset="-120"/>
              </a:rPr>
              <a:t>No face recognition</a:t>
            </a:r>
            <a:endParaRPr lang="en-US" sz="1200" dirty="0"/>
          </a:p>
        </p:txBody>
      </p:sp>
      <p:sp>
        <p:nvSpPr>
          <p:cNvPr id="46" name="Shape 39"/>
          <p:cNvSpPr/>
          <p:nvPr/>
        </p:nvSpPr>
        <p:spPr>
          <a:xfrm>
            <a:off x="4983480" y="5486400"/>
            <a:ext cx="6656832" cy="685800"/>
          </a:xfrm>
          <a:prstGeom prst="roundRect">
            <a:avLst>
              <a:gd name="adj" fmla="val 18667"/>
            </a:avLst>
          </a:prstGeom>
          <a:solidFill>
            <a:srgbClr val="FFFFFF"/>
          </a:solidFill>
          <a:ln w="12700">
            <a:solidFill>
              <a:srgbClr val="DDE1EC"/>
            </a:solidFill>
            <a:prstDash val="solid"/>
          </a:ln>
        </p:spPr>
      </p:sp>
      <p:sp>
        <p:nvSpPr>
          <p:cNvPr id="47" name="Text 40"/>
          <p:cNvSpPr txBox="1"/>
          <p:nvPr/>
        </p:nvSpPr>
        <p:spPr>
          <a:xfrm>
            <a:off x="5138928" y="5486400"/>
            <a:ext cx="960120" cy="685800"/>
          </a:xfrm>
          <a:prstGeom prst="rect">
            <a:avLst/>
          </a:prstGeom>
          <a:noFill/>
          <a:ln/>
        </p:spPr>
        <p:txBody>
          <a:bodyPr wrap="square" lIns="0" tIns="0" rIns="0" bIns="0" rtlCol="0" anchor="ctr"/>
          <a:lstStyle/>
          <a:p>
            <a:pPr algn="l" indent="0" marL="0">
              <a:buNone/>
            </a:pPr>
            <a:r>
              <a:rPr lang="en-US" sz="900" b="1" spc="100" kern="0" dirty="0">
                <a:solidFill>
                  <a:srgbClr val="5B6478"/>
                </a:solidFill>
                <a:latin typeface="Calibri" pitchFamily="34" charset="0"/>
                <a:ea typeface="Calibri" pitchFamily="34" charset="-122"/>
                <a:cs typeface="Calibri" pitchFamily="34" charset="-120"/>
              </a:rPr>
              <a:t>ALSO</a:t>
            </a:r>
            <a:endParaRPr lang="en-US" sz="900" dirty="0"/>
          </a:p>
          <a:p>
            <a:pPr algn="l" indent="0" marL="0">
              <a:buNone/>
            </a:pPr>
            <a:r>
              <a:rPr lang="en-US" sz="900" b="1" spc="100" kern="0" dirty="0">
                <a:solidFill>
                  <a:srgbClr val="5B6478"/>
                </a:solidFill>
                <a:latin typeface="Calibri" pitchFamily="34" charset="0"/>
                <a:ea typeface="Calibri" pitchFamily="34" charset="-122"/>
                <a:cs typeface="Calibri" pitchFamily="34" charset="-120"/>
              </a:rPr>
              <a:t>DEMONSTRABLE</a:t>
            </a:r>
            <a:endParaRPr lang="en-US" sz="900" dirty="0"/>
          </a:p>
        </p:txBody>
      </p:sp>
      <p:sp>
        <p:nvSpPr>
          <p:cNvPr id="48" name="Shape 41"/>
          <p:cNvSpPr/>
          <p:nvPr/>
        </p:nvSpPr>
        <p:spPr>
          <a:xfrm>
            <a:off x="6144768" y="5669280"/>
            <a:ext cx="1051560" cy="329184"/>
          </a:xfrm>
          <a:prstGeom prst="roundRect">
            <a:avLst>
              <a:gd name="adj" fmla="val 50000"/>
            </a:avLst>
          </a:prstGeom>
          <a:solidFill>
            <a:srgbClr val="F3F4F9"/>
          </a:solidFill>
          <a:ln/>
        </p:spPr>
      </p:sp>
      <p:sp>
        <p:nvSpPr>
          <p:cNvPr id="49" name="Text 42"/>
          <p:cNvSpPr txBox="1"/>
          <p:nvPr/>
        </p:nvSpPr>
        <p:spPr>
          <a:xfrm>
            <a:off x="6199632" y="5669280"/>
            <a:ext cx="941832" cy="329184"/>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Administration</a:t>
            </a:r>
            <a:endParaRPr lang="en-US" sz="1000" dirty="0"/>
          </a:p>
        </p:txBody>
      </p:sp>
      <p:sp>
        <p:nvSpPr>
          <p:cNvPr id="50" name="Shape 43"/>
          <p:cNvSpPr/>
          <p:nvPr/>
        </p:nvSpPr>
        <p:spPr>
          <a:xfrm>
            <a:off x="7269480" y="5669280"/>
            <a:ext cx="731520" cy="329184"/>
          </a:xfrm>
          <a:prstGeom prst="roundRect">
            <a:avLst>
              <a:gd name="adj" fmla="val 50000"/>
            </a:avLst>
          </a:prstGeom>
          <a:solidFill>
            <a:srgbClr val="F3F4F9"/>
          </a:solidFill>
          <a:ln/>
        </p:spPr>
      </p:sp>
      <p:sp>
        <p:nvSpPr>
          <p:cNvPr id="51" name="Text 44"/>
          <p:cNvSpPr txBox="1"/>
          <p:nvPr/>
        </p:nvSpPr>
        <p:spPr>
          <a:xfrm>
            <a:off x="7324344" y="5669280"/>
            <a:ext cx="621792" cy="329184"/>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Printing</a:t>
            </a:r>
            <a:endParaRPr lang="en-US" sz="1000" dirty="0"/>
          </a:p>
        </p:txBody>
      </p:sp>
      <p:sp>
        <p:nvSpPr>
          <p:cNvPr id="52" name="Shape 45"/>
          <p:cNvSpPr/>
          <p:nvPr/>
        </p:nvSpPr>
        <p:spPr>
          <a:xfrm>
            <a:off x="8074152" y="5669280"/>
            <a:ext cx="1508760" cy="329184"/>
          </a:xfrm>
          <a:prstGeom prst="roundRect">
            <a:avLst>
              <a:gd name="adj" fmla="val 50000"/>
            </a:avLst>
          </a:prstGeom>
          <a:solidFill>
            <a:srgbClr val="F3F4F9"/>
          </a:solidFill>
          <a:ln/>
        </p:spPr>
      </p:sp>
      <p:sp>
        <p:nvSpPr>
          <p:cNvPr id="53" name="Text 46"/>
          <p:cNvSpPr txBox="1"/>
          <p:nvPr/>
        </p:nvSpPr>
        <p:spPr>
          <a:xfrm>
            <a:off x="8129016" y="5669280"/>
            <a:ext cx="1399032" cy="329184"/>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Cafeteria · place in line</a:t>
            </a:r>
            <a:endParaRPr lang="en-US" sz="1000" dirty="0"/>
          </a:p>
        </p:txBody>
      </p:sp>
      <p:sp>
        <p:nvSpPr>
          <p:cNvPr id="54" name="Shape 47"/>
          <p:cNvSpPr/>
          <p:nvPr/>
        </p:nvSpPr>
        <p:spPr>
          <a:xfrm>
            <a:off x="9656064" y="5669280"/>
            <a:ext cx="1691640" cy="329184"/>
          </a:xfrm>
          <a:prstGeom prst="roundRect">
            <a:avLst>
              <a:gd name="adj" fmla="val 50000"/>
            </a:avLst>
          </a:prstGeom>
          <a:solidFill>
            <a:srgbClr val="F3F4F9"/>
          </a:solidFill>
          <a:ln/>
        </p:spPr>
      </p:sp>
      <p:sp>
        <p:nvSpPr>
          <p:cNvPr id="55" name="Text 48"/>
          <p:cNvSpPr txBox="1"/>
          <p:nvPr/>
        </p:nvSpPr>
        <p:spPr>
          <a:xfrm>
            <a:off x="9710928" y="5669280"/>
            <a:ext cx="1581912" cy="329184"/>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Elevator · virtual boarding</a:t>
            </a:r>
            <a:endParaRPr lang="en-US" sz="1000" dirty="0"/>
          </a:p>
        </p:txBody>
      </p:sp>
      <p:sp>
        <p:nvSpPr>
          <p:cNvPr id="56" name="Text 49"/>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57" name="Text 50"/>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10  ·  SECURITY, PRIVACY &amp; RELIABILITY</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Built for Trust</a:t>
            </a:r>
            <a:endParaRPr lang="en-US" sz="3000" dirty="0"/>
          </a:p>
        </p:txBody>
      </p:sp>
      <p:sp>
        <p:nvSpPr>
          <p:cNvPr id="4" name="Shape 2"/>
          <p:cNvSpPr/>
          <p:nvPr/>
        </p:nvSpPr>
        <p:spPr>
          <a:xfrm>
            <a:off x="548640" y="1463040"/>
            <a:ext cx="4206240" cy="3794760"/>
          </a:xfrm>
          <a:prstGeom prst="roundRect">
            <a:avLst>
              <a:gd name="adj" fmla="val 4337"/>
            </a:avLst>
          </a:prstGeom>
          <a:solidFill>
            <a:srgbClr val="F3F4F9"/>
          </a:solidFill>
          <a:ln/>
        </p:spPr>
      </p:sp>
      <p:sp>
        <p:nvSpPr>
          <p:cNvPr id="5" name="Shape 3"/>
          <p:cNvSpPr/>
          <p:nvPr/>
        </p:nvSpPr>
        <p:spPr>
          <a:xfrm>
            <a:off x="777240" y="1691640"/>
            <a:ext cx="457200" cy="457200"/>
          </a:xfrm>
          <a:prstGeom prst="roundRect">
            <a:avLst>
              <a:gd name="adj" fmla="val 28000"/>
            </a:avLst>
          </a:prstGeom>
          <a:solidFill>
            <a:srgbClr val="6D28D9"/>
          </a:solidFill>
          <a:ln/>
        </p:spPr>
      </p:sp>
      <p:pic>
        <p:nvPicPr>
          <p:cNvPr id="6" name="Image 0" descr="preencoded.png">    </p:cNvPr>
          <p:cNvPicPr>
            <a:picLocks noChangeAspect="1"/>
          </p:cNvPicPr>
          <p:nvPr/>
        </p:nvPicPr>
        <p:blipFill>
          <a:blip r:embed="rId1"/>
          <a:stretch>
            <a:fillRect/>
          </a:stretch>
        </p:blipFill>
        <p:spPr>
          <a:xfrm>
            <a:off x="877824" y="1792224"/>
            <a:ext cx="256032" cy="256032"/>
          </a:xfrm>
          <a:prstGeom prst="rect">
            <a:avLst/>
          </a:prstGeom>
        </p:spPr>
      </p:pic>
      <p:sp>
        <p:nvSpPr>
          <p:cNvPr id="7" name="Text 4"/>
          <p:cNvSpPr txBox="1"/>
          <p:nvPr/>
        </p:nvSpPr>
        <p:spPr>
          <a:xfrm>
            <a:off x="1371600" y="1691640"/>
            <a:ext cx="3291840"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Security</a:t>
            </a:r>
            <a:endParaRPr lang="en-US" sz="1800" dirty="0"/>
          </a:p>
        </p:txBody>
      </p:sp>
      <p:sp>
        <p:nvSpPr>
          <p:cNvPr id="8" name="Shape 5"/>
          <p:cNvSpPr/>
          <p:nvPr/>
        </p:nvSpPr>
        <p:spPr>
          <a:xfrm>
            <a:off x="777240" y="2377440"/>
            <a:ext cx="1828800" cy="365760"/>
          </a:xfrm>
          <a:prstGeom prst="roundRect">
            <a:avLst>
              <a:gd name="adj" fmla="val 20000"/>
            </a:avLst>
          </a:prstGeom>
          <a:solidFill>
            <a:srgbClr val="FFFFFF"/>
          </a:solidFill>
          <a:ln w="12700">
            <a:solidFill>
              <a:srgbClr val="DDE1EC"/>
            </a:solidFill>
            <a:prstDash val="solid"/>
          </a:ln>
        </p:spPr>
      </p:sp>
      <p:sp>
        <p:nvSpPr>
          <p:cNvPr id="9" name="Text 6"/>
          <p:cNvSpPr txBox="1"/>
          <p:nvPr/>
        </p:nvSpPr>
        <p:spPr>
          <a:xfrm>
            <a:off x="832104" y="23774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RBAC</a:t>
            </a:r>
            <a:endParaRPr lang="en-US" sz="1100" dirty="0"/>
          </a:p>
        </p:txBody>
      </p:sp>
      <p:sp>
        <p:nvSpPr>
          <p:cNvPr id="10" name="Shape 7"/>
          <p:cNvSpPr/>
          <p:nvPr/>
        </p:nvSpPr>
        <p:spPr>
          <a:xfrm>
            <a:off x="2697480" y="2377440"/>
            <a:ext cx="1828800" cy="365760"/>
          </a:xfrm>
          <a:prstGeom prst="roundRect">
            <a:avLst>
              <a:gd name="adj" fmla="val 20000"/>
            </a:avLst>
          </a:prstGeom>
          <a:solidFill>
            <a:srgbClr val="FFFFFF"/>
          </a:solidFill>
          <a:ln w="12700">
            <a:solidFill>
              <a:srgbClr val="DDE1EC"/>
            </a:solidFill>
            <a:prstDash val="solid"/>
          </a:ln>
        </p:spPr>
      </p:sp>
      <p:sp>
        <p:nvSpPr>
          <p:cNvPr id="11" name="Text 8"/>
          <p:cNvSpPr txBox="1"/>
          <p:nvPr/>
        </p:nvSpPr>
        <p:spPr>
          <a:xfrm>
            <a:off x="2752344" y="23774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Object-level authorization</a:t>
            </a:r>
            <a:endParaRPr lang="en-US" sz="1100" dirty="0"/>
          </a:p>
        </p:txBody>
      </p:sp>
      <p:sp>
        <p:nvSpPr>
          <p:cNvPr id="12" name="Shape 9"/>
          <p:cNvSpPr/>
          <p:nvPr/>
        </p:nvSpPr>
        <p:spPr>
          <a:xfrm>
            <a:off x="777240" y="2834640"/>
            <a:ext cx="1828800" cy="365760"/>
          </a:xfrm>
          <a:prstGeom prst="roundRect">
            <a:avLst>
              <a:gd name="adj" fmla="val 20000"/>
            </a:avLst>
          </a:prstGeom>
          <a:solidFill>
            <a:srgbClr val="FFFFFF"/>
          </a:solidFill>
          <a:ln w="12700">
            <a:solidFill>
              <a:srgbClr val="DDE1EC"/>
            </a:solidFill>
            <a:prstDash val="solid"/>
          </a:ln>
        </p:spPr>
      </p:sp>
      <p:sp>
        <p:nvSpPr>
          <p:cNvPr id="13" name="Text 10"/>
          <p:cNvSpPr txBox="1"/>
          <p:nvPr/>
        </p:nvSpPr>
        <p:spPr>
          <a:xfrm>
            <a:off x="832104" y="28346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Secure sessions</a:t>
            </a:r>
            <a:endParaRPr lang="en-US" sz="1100" dirty="0"/>
          </a:p>
        </p:txBody>
      </p:sp>
      <p:sp>
        <p:nvSpPr>
          <p:cNvPr id="14" name="Shape 11"/>
          <p:cNvSpPr/>
          <p:nvPr/>
        </p:nvSpPr>
        <p:spPr>
          <a:xfrm>
            <a:off x="2697480" y="2834640"/>
            <a:ext cx="1828800" cy="365760"/>
          </a:xfrm>
          <a:prstGeom prst="roundRect">
            <a:avLst>
              <a:gd name="adj" fmla="val 20000"/>
            </a:avLst>
          </a:prstGeom>
          <a:solidFill>
            <a:srgbClr val="FFFFFF"/>
          </a:solidFill>
          <a:ln w="12700">
            <a:solidFill>
              <a:srgbClr val="DDE1EC"/>
            </a:solidFill>
            <a:prstDash val="solid"/>
          </a:ln>
        </p:spPr>
      </p:sp>
      <p:sp>
        <p:nvSpPr>
          <p:cNvPr id="15" name="Text 12"/>
          <p:cNvSpPr txBox="1"/>
          <p:nvPr/>
        </p:nvSpPr>
        <p:spPr>
          <a:xfrm>
            <a:off x="2752344" y="28346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HttpOnly cookies</a:t>
            </a:r>
            <a:endParaRPr lang="en-US" sz="1100" dirty="0"/>
          </a:p>
        </p:txBody>
      </p:sp>
      <p:sp>
        <p:nvSpPr>
          <p:cNvPr id="16" name="Shape 13"/>
          <p:cNvSpPr/>
          <p:nvPr/>
        </p:nvSpPr>
        <p:spPr>
          <a:xfrm>
            <a:off x="777240" y="3291840"/>
            <a:ext cx="1828800" cy="365760"/>
          </a:xfrm>
          <a:prstGeom prst="roundRect">
            <a:avLst>
              <a:gd name="adj" fmla="val 20000"/>
            </a:avLst>
          </a:prstGeom>
          <a:solidFill>
            <a:srgbClr val="FFFFFF"/>
          </a:solidFill>
          <a:ln w="12700">
            <a:solidFill>
              <a:srgbClr val="DDE1EC"/>
            </a:solidFill>
            <a:prstDash val="solid"/>
          </a:ln>
        </p:spPr>
      </p:sp>
      <p:sp>
        <p:nvSpPr>
          <p:cNvPr id="17" name="Text 14"/>
          <p:cNvSpPr txBox="1"/>
          <p:nvPr/>
        </p:nvSpPr>
        <p:spPr>
          <a:xfrm>
            <a:off x="832104" y="32918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SameSite protection</a:t>
            </a:r>
            <a:endParaRPr lang="en-US" sz="1100" dirty="0"/>
          </a:p>
        </p:txBody>
      </p:sp>
      <p:sp>
        <p:nvSpPr>
          <p:cNvPr id="18" name="Shape 15"/>
          <p:cNvSpPr/>
          <p:nvPr/>
        </p:nvSpPr>
        <p:spPr>
          <a:xfrm>
            <a:off x="2697480" y="3291840"/>
            <a:ext cx="1828800" cy="365760"/>
          </a:xfrm>
          <a:prstGeom prst="roundRect">
            <a:avLst>
              <a:gd name="adj" fmla="val 20000"/>
            </a:avLst>
          </a:prstGeom>
          <a:solidFill>
            <a:srgbClr val="FFFFFF"/>
          </a:solidFill>
          <a:ln w="12700">
            <a:solidFill>
              <a:srgbClr val="DDE1EC"/>
            </a:solidFill>
            <a:prstDash val="solid"/>
          </a:ln>
        </p:spPr>
      </p:sp>
      <p:sp>
        <p:nvSpPr>
          <p:cNvPr id="19" name="Text 16"/>
          <p:cNvSpPr txBox="1"/>
          <p:nvPr/>
        </p:nvSpPr>
        <p:spPr>
          <a:xfrm>
            <a:off x="2752344" y="32918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CSP</a:t>
            </a:r>
            <a:endParaRPr lang="en-US" sz="1100" dirty="0"/>
          </a:p>
        </p:txBody>
      </p:sp>
      <p:sp>
        <p:nvSpPr>
          <p:cNvPr id="20" name="Shape 17"/>
          <p:cNvSpPr/>
          <p:nvPr/>
        </p:nvSpPr>
        <p:spPr>
          <a:xfrm>
            <a:off x="777240" y="3749040"/>
            <a:ext cx="1828800" cy="365760"/>
          </a:xfrm>
          <a:prstGeom prst="roundRect">
            <a:avLst>
              <a:gd name="adj" fmla="val 20000"/>
            </a:avLst>
          </a:prstGeom>
          <a:solidFill>
            <a:srgbClr val="FFFFFF"/>
          </a:solidFill>
          <a:ln w="12700">
            <a:solidFill>
              <a:srgbClr val="DDE1EC"/>
            </a:solidFill>
            <a:prstDash val="solid"/>
          </a:ln>
        </p:spPr>
      </p:sp>
      <p:sp>
        <p:nvSpPr>
          <p:cNvPr id="21" name="Text 18"/>
          <p:cNvSpPr txBox="1"/>
          <p:nvPr/>
        </p:nvSpPr>
        <p:spPr>
          <a:xfrm>
            <a:off x="832104" y="37490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HSTS</a:t>
            </a:r>
            <a:endParaRPr lang="en-US" sz="1100" dirty="0"/>
          </a:p>
        </p:txBody>
      </p:sp>
      <p:sp>
        <p:nvSpPr>
          <p:cNvPr id="22" name="Shape 19"/>
          <p:cNvSpPr/>
          <p:nvPr/>
        </p:nvSpPr>
        <p:spPr>
          <a:xfrm>
            <a:off x="2697480" y="3749040"/>
            <a:ext cx="1828800" cy="365760"/>
          </a:xfrm>
          <a:prstGeom prst="roundRect">
            <a:avLst>
              <a:gd name="adj" fmla="val 20000"/>
            </a:avLst>
          </a:prstGeom>
          <a:solidFill>
            <a:srgbClr val="FFFFFF"/>
          </a:solidFill>
          <a:ln w="12700">
            <a:solidFill>
              <a:srgbClr val="DDE1EC"/>
            </a:solidFill>
            <a:prstDash val="solid"/>
          </a:ln>
        </p:spPr>
      </p:sp>
      <p:sp>
        <p:nvSpPr>
          <p:cNvPr id="23" name="Text 20"/>
          <p:cNvSpPr txBox="1"/>
          <p:nvPr/>
        </p:nvSpPr>
        <p:spPr>
          <a:xfrm>
            <a:off x="2752344" y="37490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Zod input validation</a:t>
            </a:r>
            <a:endParaRPr lang="en-US" sz="1100" dirty="0"/>
          </a:p>
        </p:txBody>
      </p:sp>
      <p:sp>
        <p:nvSpPr>
          <p:cNvPr id="24" name="Shape 21"/>
          <p:cNvSpPr/>
          <p:nvPr/>
        </p:nvSpPr>
        <p:spPr>
          <a:xfrm>
            <a:off x="777240" y="4206240"/>
            <a:ext cx="1828800" cy="365760"/>
          </a:xfrm>
          <a:prstGeom prst="roundRect">
            <a:avLst>
              <a:gd name="adj" fmla="val 20000"/>
            </a:avLst>
          </a:prstGeom>
          <a:solidFill>
            <a:srgbClr val="FFFFFF"/>
          </a:solidFill>
          <a:ln w="12700">
            <a:solidFill>
              <a:srgbClr val="DDE1EC"/>
            </a:solidFill>
            <a:prstDash val="solid"/>
          </a:ln>
        </p:spPr>
      </p:sp>
      <p:sp>
        <p:nvSpPr>
          <p:cNvPr id="25" name="Text 22"/>
          <p:cNvSpPr txBox="1"/>
          <p:nvPr/>
        </p:nvSpPr>
        <p:spPr>
          <a:xfrm>
            <a:off x="832104" y="42062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Rate limiting</a:t>
            </a:r>
            <a:endParaRPr lang="en-US" sz="1100" dirty="0"/>
          </a:p>
        </p:txBody>
      </p:sp>
      <p:sp>
        <p:nvSpPr>
          <p:cNvPr id="26" name="Shape 23"/>
          <p:cNvSpPr/>
          <p:nvPr/>
        </p:nvSpPr>
        <p:spPr>
          <a:xfrm>
            <a:off x="2697480" y="4206240"/>
            <a:ext cx="1828800" cy="365760"/>
          </a:xfrm>
          <a:prstGeom prst="roundRect">
            <a:avLst>
              <a:gd name="adj" fmla="val 20000"/>
            </a:avLst>
          </a:prstGeom>
          <a:solidFill>
            <a:srgbClr val="FFFFFF"/>
          </a:solidFill>
          <a:ln w="12700">
            <a:solidFill>
              <a:srgbClr val="DDE1EC"/>
            </a:solidFill>
            <a:prstDash val="solid"/>
          </a:ln>
        </p:spPr>
      </p:sp>
      <p:sp>
        <p:nvSpPr>
          <p:cNvPr id="27" name="Text 24"/>
          <p:cNvSpPr txBox="1"/>
          <p:nvPr/>
        </p:nvSpPr>
        <p:spPr>
          <a:xfrm>
            <a:off x="2752344" y="42062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scrypt password hashing</a:t>
            </a:r>
            <a:endParaRPr lang="en-US" sz="1100" dirty="0"/>
          </a:p>
        </p:txBody>
      </p:sp>
      <p:sp>
        <p:nvSpPr>
          <p:cNvPr id="28" name="Shape 25"/>
          <p:cNvSpPr/>
          <p:nvPr/>
        </p:nvSpPr>
        <p:spPr>
          <a:xfrm>
            <a:off x="777240" y="4663440"/>
            <a:ext cx="1828800" cy="365760"/>
          </a:xfrm>
          <a:prstGeom prst="roundRect">
            <a:avLst>
              <a:gd name="adj" fmla="val 20000"/>
            </a:avLst>
          </a:prstGeom>
          <a:solidFill>
            <a:srgbClr val="FFFFFF"/>
          </a:solidFill>
          <a:ln w="12700">
            <a:solidFill>
              <a:srgbClr val="DDE1EC"/>
            </a:solidFill>
            <a:prstDash val="solid"/>
          </a:ln>
        </p:spPr>
      </p:sp>
      <p:sp>
        <p:nvSpPr>
          <p:cNvPr id="29" name="Text 26"/>
          <p:cNvSpPr txBox="1"/>
          <p:nvPr/>
        </p:nvSpPr>
        <p:spPr>
          <a:xfrm>
            <a:off x="832104" y="46634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HMAC-SHA256 digests</a:t>
            </a:r>
            <a:endParaRPr lang="en-US" sz="1100" dirty="0"/>
          </a:p>
        </p:txBody>
      </p:sp>
      <p:sp>
        <p:nvSpPr>
          <p:cNvPr id="30" name="Shape 27"/>
          <p:cNvSpPr/>
          <p:nvPr/>
        </p:nvSpPr>
        <p:spPr>
          <a:xfrm>
            <a:off x="2697480" y="4663440"/>
            <a:ext cx="1828800" cy="365760"/>
          </a:xfrm>
          <a:prstGeom prst="roundRect">
            <a:avLst>
              <a:gd name="adj" fmla="val 20000"/>
            </a:avLst>
          </a:prstGeom>
          <a:solidFill>
            <a:srgbClr val="FFFFFF"/>
          </a:solidFill>
          <a:ln w="12700">
            <a:solidFill>
              <a:srgbClr val="DDE1EC"/>
            </a:solidFill>
            <a:prstDash val="solid"/>
          </a:ln>
        </p:spPr>
      </p:sp>
      <p:sp>
        <p:nvSpPr>
          <p:cNvPr id="31" name="Text 28"/>
          <p:cNvSpPr txBox="1"/>
          <p:nvPr/>
        </p:nvSpPr>
        <p:spPr>
          <a:xfrm>
            <a:off x="2752344" y="4663440"/>
            <a:ext cx="1719072" cy="36576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Audit logging</a:t>
            </a:r>
            <a:endParaRPr lang="en-US" sz="1100" dirty="0"/>
          </a:p>
        </p:txBody>
      </p:sp>
      <p:sp>
        <p:nvSpPr>
          <p:cNvPr id="32" name="Shape 29"/>
          <p:cNvSpPr/>
          <p:nvPr/>
        </p:nvSpPr>
        <p:spPr>
          <a:xfrm>
            <a:off x="4937760" y="1463040"/>
            <a:ext cx="3264408" cy="3794760"/>
          </a:xfrm>
          <a:prstGeom prst="roundRect">
            <a:avLst>
              <a:gd name="adj" fmla="val 5042"/>
            </a:avLst>
          </a:prstGeom>
          <a:solidFill>
            <a:srgbClr val="F3F4F9"/>
          </a:solidFill>
          <a:ln/>
        </p:spPr>
      </p:sp>
      <p:sp>
        <p:nvSpPr>
          <p:cNvPr id="33" name="Shape 30"/>
          <p:cNvSpPr/>
          <p:nvPr/>
        </p:nvSpPr>
        <p:spPr>
          <a:xfrm>
            <a:off x="5166360" y="1691640"/>
            <a:ext cx="457200" cy="457200"/>
          </a:xfrm>
          <a:prstGeom prst="roundRect">
            <a:avLst>
              <a:gd name="adj" fmla="val 28000"/>
            </a:avLst>
          </a:prstGeom>
          <a:solidFill>
            <a:srgbClr val="6D28D9"/>
          </a:solidFill>
          <a:ln/>
        </p:spPr>
      </p:sp>
      <p:pic>
        <p:nvPicPr>
          <p:cNvPr id="34" name="Image 1" descr="preencoded.png">    </p:cNvPr>
          <p:cNvPicPr>
            <a:picLocks noChangeAspect="1"/>
          </p:cNvPicPr>
          <p:nvPr/>
        </p:nvPicPr>
        <p:blipFill>
          <a:blip r:embed="rId2"/>
          <a:stretch>
            <a:fillRect/>
          </a:stretch>
        </p:blipFill>
        <p:spPr>
          <a:xfrm>
            <a:off x="5266944" y="1792224"/>
            <a:ext cx="256032" cy="256032"/>
          </a:xfrm>
          <a:prstGeom prst="rect">
            <a:avLst/>
          </a:prstGeom>
        </p:spPr>
      </p:pic>
      <p:sp>
        <p:nvSpPr>
          <p:cNvPr id="35" name="Text 31"/>
          <p:cNvSpPr txBox="1"/>
          <p:nvPr/>
        </p:nvSpPr>
        <p:spPr>
          <a:xfrm>
            <a:off x="5760720" y="1691640"/>
            <a:ext cx="2350008"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Privacy</a:t>
            </a:r>
            <a:endParaRPr lang="en-US" sz="1800" dirty="0"/>
          </a:p>
        </p:txBody>
      </p:sp>
      <p:pic>
        <p:nvPicPr>
          <p:cNvPr id="36" name="Image 2" descr="preencoded.png">    </p:cNvPr>
          <p:cNvPicPr>
            <a:picLocks noChangeAspect="1"/>
          </p:cNvPicPr>
          <p:nvPr/>
        </p:nvPicPr>
        <p:blipFill>
          <a:blip r:embed="rId3"/>
          <a:stretch>
            <a:fillRect/>
          </a:stretch>
        </p:blipFill>
        <p:spPr>
          <a:xfrm>
            <a:off x="5193792" y="2441448"/>
            <a:ext cx="237744" cy="237744"/>
          </a:xfrm>
          <a:prstGeom prst="rect">
            <a:avLst/>
          </a:prstGeom>
        </p:spPr>
      </p:pic>
      <p:sp>
        <p:nvSpPr>
          <p:cNvPr id="37" name="Text 32"/>
          <p:cNvSpPr txBox="1"/>
          <p:nvPr/>
        </p:nvSpPr>
        <p:spPr>
          <a:xfrm>
            <a:off x="5559552" y="2377440"/>
            <a:ext cx="2487168" cy="36576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No raw camera video stored</a:t>
            </a:r>
            <a:endParaRPr lang="en-US" sz="1250" dirty="0"/>
          </a:p>
        </p:txBody>
      </p:sp>
      <p:pic>
        <p:nvPicPr>
          <p:cNvPr id="38" name="Image 3" descr="preencoded.png">    </p:cNvPr>
          <p:cNvPicPr>
            <a:picLocks noChangeAspect="1"/>
          </p:cNvPicPr>
          <p:nvPr/>
        </p:nvPicPr>
        <p:blipFill>
          <a:blip r:embed="rId4"/>
          <a:stretch>
            <a:fillRect/>
          </a:stretch>
        </p:blipFill>
        <p:spPr>
          <a:xfrm>
            <a:off x="5193792" y="3127248"/>
            <a:ext cx="237744" cy="237744"/>
          </a:xfrm>
          <a:prstGeom prst="rect">
            <a:avLst/>
          </a:prstGeom>
        </p:spPr>
      </p:pic>
      <p:sp>
        <p:nvSpPr>
          <p:cNvPr id="39" name="Text 33"/>
          <p:cNvSpPr txBox="1"/>
          <p:nvPr/>
        </p:nvSpPr>
        <p:spPr>
          <a:xfrm>
            <a:off x="5559552" y="3063240"/>
            <a:ext cx="2487168" cy="36576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No face recognition</a:t>
            </a:r>
            <a:endParaRPr lang="en-US" sz="1250" dirty="0"/>
          </a:p>
        </p:txBody>
      </p:sp>
      <p:pic>
        <p:nvPicPr>
          <p:cNvPr id="40" name="Image 4" descr="preencoded.png">    </p:cNvPr>
          <p:cNvPicPr>
            <a:picLocks noChangeAspect="1"/>
          </p:cNvPicPr>
          <p:nvPr/>
        </p:nvPicPr>
        <p:blipFill>
          <a:blip r:embed="rId5"/>
          <a:stretch>
            <a:fillRect/>
          </a:stretch>
        </p:blipFill>
        <p:spPr>
          <a:xfrm>
            <a:off x="5193792" y="3813048"/>
            <a:ext cx="237744" cy="237744"/>
          </a:xfrm>
          <a:prstGeom prst="rect">
            <a:avLst/>
          </a:prstGeom>
        </p:spPr>
      </p:pic>
      <p:sp>
        <p:nvSpPr>
          <p:cNvPr id="41" name="Text 34"/>
          <p:cNvSpPr txBox="1"/>
          <p:nvPr/>
        </p:nvSpPr>
        <p:spPr>
          <a:xfrm>
            <a:off x="5559552" y="3749040"/>
            <a:ext cx="2487168" cy="36576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No biometric identity matching</a:t>
            </a:r>
            <a:endParaRPr lang="en-US" sz="1250" dirty="0"/>
          </a:p>
        </p:txBody>
      </p:sp>
      <p:pic>
        <p:nvPicPr>
          <p:cNvPr id="42" name="Image 5" descr="preencoded.png">    </p:cNvPr>
          <p:cNvPicPr>
            <a:picLocks noChangeAspect="1"/>
          </p:cNvPicPr>
          <p:nvPr/>
        </p:nvPicPr>
        <p:blipFill>
          <a:blip r:embed="rId6"/>
          <a:stretch>
            <a:fillRect/>
          </a:stretch>
        </p:blipFill>
        <p:spPr>
          <a:xfrm>
            <a:off x="5193792" y="4498848"/>
            <a:ext cx="237744" cy="237744"/>
          </a:xfrm>
          <a:prstGeom prst="rect">
            <a:avLst/>
          </a:prstGeom>
        </p:spPr>
      </p:pic>
      <p:sp>
        <p:nvSpPr>
          <p:cNvPr id="43" name="Text 35"/>
          <p:cNvSpPr txBox="1"/>
          <p:nvPr/>
        </p:nvSpPr>
        <p:spPr>
          <a:xfrm>
            <a:off x="5559552" y="4434840"/>
            <a:ext cx="2487168" cy="365760"/>
          </a:xfrm>
          <a:prstGeom prst="rect">
            <a:avLst/>
          </a:prstGeom>
          <a:noFill/>
          <a:ln/>
        </p:spPr>
        <p:txBody>
          <a:bodyPr wrap="square" lIns="0" tIns="0" rIns="0" bIns="0" rtlCol="0" anchor="ctr"/>
          <a:lstStyle/>
          <a:p>
            <a:pPr algn="l" indent="0" marL="0">
              <a:buNone/>
            </a:pPr>
            <a:r>
              <a:rPr lang="en-US" sz="1250" b="1" dirty="0">
                <a:solidFill>
                  <a:srgbClr val="0F172A"/>
                </a:solidFill>
                <a:latin typeface="Calibri" pitchFamily="34" charset="0"/>
                <a:ea typeface="Calibri" pitchFamily="34" charset="-122"/>
                <a:cs typeface="Calibri" pitchFamily="34" charset="-120"/>
              </a:rPr>
              <a:t>Aggregate traffic counts only</a:t>
            </a:r>
            <a:endParaRPr lang="en-US" sz="1250" dirty="0"/>
          </a:p>
        </p:txBody>
      </p:sp>
      <p:sp>
        <p:nvSpPr>
          <p:cNvPr id="44" name="Shape 36"/>
          <p:cNvSpPr/>
          <p:nvPr/>
        </p:nvSpPr>
        <p:spPr>
          <a:xfrm>
            <a:off x="8375904" y="1463040"/>
            <a:ext cx="3264408" cy="3794760"/>
          </a:xfrm>
          <a:prstGeom prst="roundRect">
            <a:avLst>
              <a:gd name="adj" fmla="val 5042"/>
            </a:avLst>
          </a:prstGeom>
          <a:solidFill>
            <a:srgbClr val="F3F4F9"/>
          </a:solidFill>
          <a:ln/>
        </p:spPr>
      </p:sp>
      <p:sp>
        <p:nvSpPr>
          <p:cNvPr id="45" name="Shape 37"/>
          <p:cNvSpPr/>
          <p:nvPr/>
        </p:nvSpPr>
        <p:spPr>
          <a:xfrm>
            <a:off x="8604504" y="1691640"/>
            <a:ext cx="457200" cy="457200"/>
          </a:xfrm>
          <a:prstGeom prst="roundRect">
            <a:avLst>
              <a:gd name="adj" fmla="val 28000"/>
            </a:avLst>
          </a:prstGeom>
          <a:solidFill>
            <a:srgbClr val="6D28D9"/>
          </a:solidFill>
          <a:ln/>
        </p:spPr>
      </p:sp>
      <p:pic>
        <p:nvPicPr>
          <p:cNvPr id="46" name="Image 6" descr="preencoded.png">    </p:cNvPr>
          <p:cNvPicPr>
            <a:picLocks noChangeAspect="1"/>
          </p:cNvPicPr>
          <p:nvPr/>
        </p:nvPicPr>
        <p:blipFill>
          <a:blip r:embed="rId7"/>
          <a:stretch>
            <a:fillRect/>
          </a:stretch>
        </p:blipFill>
        <p:spPr>
          <a:xfrm>
            <a:off x="8705088" y="1792224"/>
            <a:ext cx="256032" cy="256032"/>
          </a:xfrm>
          <a:prstGeom prst="rect">
            <a:avLst/>
          </a:prstGeom>
        </p:spPr>
      </p:pic>
      <p:sp>
        <p:nvSpPr>
          <p:cNvPr id="47" name="Text 38"/>
          <p:cNvSpPr txBox="1"/>
          <p:nvPr/>
        </p:nvSpPr>
        <p:spPr>
          <a:xfrm>
            <a:off x="9198864" y="1691640"/>
            <a:ext cx="2350008" cy="457200"/>
          </a:xfrm>
          <a:prstGeom prst="rect">
            <a:avLst/>
          </a:prstGeom>
          <a:noFill/>
          <a:ln/>
        </p:spPr>
        <p:txBody>
          <a:bodyPr wrap="square" lIns="0" tIns="0" rIns="0" bIns="0" rtlCol="0" anchor="ctr"/>
          <a:lstStyle/>
          <a:p>
            <a:pPr algn="l" indent="0" marL="0">
              <a:buNone/>
            </a:pPr>
            <a:r>
              <a:rPr lang="en-US" sz="1800" b="1" dirty="0">
                <a:solidFill>
                  <a:srgbClr val="0F172A"/>
                </a:solidFill>
                <a:latin typeface="Calibri" pitchFamily="34" charset="0"/>
                <a:ea typeface="Calibri" pitchFamily="34" charset="-122"/>
                <a:cs typeface="Calibri" pitchFamily="34" charset="-120"/>
              </a:rPr>
              <a:t>Reliability</a:t>
            </a:r>
            <a:endParaRPr lang="en-US" sz="1800" dirty="0"/>
          </a:p>
        </p:txBody>
      </p:sp>
      <p:pic>
        <p:nvPicPr>
          <p:cNvPr id="48" name="Image 7" descr="preencoded.png">    </p:cNvPr>
          <p:cNvPicPr>
            <a:picLocks noChangeAspect="1"/>
          </p:cNvPicPr>
          <p:nvPr/>
        </p:nvPicPr>
        <p:blipFill>
          <a:blip r:embed="rId8"/>
          <a:stretch>
            <a:fillRect/>
          </a:stretch>
        </p:blipFill>
        <p:spPr>
          <a:xfrm>
            <a:off x="8631936" y="2441448"/>
            <a:ext cx="237744" cy="237744"/>
          </a:xfrm>
          <a:prstGeom prst="rect">
            <a:avLst/>
          </a:prstGeom>
        </p:spPr>
      </p:pic>
      <p:sp>
        <p:nvSpPr>
          <p:cNvPr id="49" name="Text 39"/>
          <p:cNvSpPr txBox="1"/>
          <p:nvPr/>
        </p:nvSpPr>
        <p:spPr>
          <a:xfrm>
            <a:off x="8997696" y="23774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Server-authoritative queue state</a:t>
            </a:r>
            <a:endParaRPr lang="en-US" sz="1250" dirty="0"/>
          </a:p>
        </p:txBody>
      </p:sp>
      <p:pic>
        <p:nvPicPr>
          <p:cNvPr id="50" name="Image 8" descr="preencoded.png">    </p:cNvPr>
          <p:cNvPicPr>
            <a:picLocks noChangeAspect="1"/>
          </p:cNvPicPr>
          <p:nvPr/>
        </p:nvPicPr>
        <p:blipFill>
          <a:blip r:embed="rId9"/>
          <a:stretch>
            <a:fillRect/>
          </a:stretch>
        </p:blipFill>
        <p:spPr>
          <a:xfrm>
            <a:off x="8631936" y="2898648"/>
            <a:ext cx="237744" cy="237744"/>
          </a:xfrm>
          <a:prstGeom prst="rect">
            <a:avLst/>
          </a:prstGeom>
        </p:spPr>
      </p:pic>
      <p:sp>
        <p:nvSpPr>
          <p:cNvPr id="51" name="Text 40"/>
          <p:cNvSpPr txBox="1"/>
          <p:nvPr/>
        </p:nvSpPr>
        <p:spPr>
          <a:xfrm>
            <a:off x="8997696" y="28346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Database constraints</a:t>
            </a:r>
            <a:endParaRPr lang="en-US" sz="1250" dirty="0"/>
          </a:p>
        </p:txBody>
      </p:sp>
      <p:pic>
        <p:nvPicPr>
          <p:cNvPr id="52" name="Image 9" descr="preencoded.png">    </p:cNvPr>
          <p:cNvPicPr>
            <a:picLocks noChangeAspect="1"/>
          </p:cNvPicPr>
          <p:nvPr/>
        </p:nvPicPr>
        <p:blipFill>
          <a:blip r:embed="rId10"/>
          <a:stretch>
            <a:fillRect/>
          </a:stretch>
        </p:blipFill>
        <p:spPr>
          <a:xfrm>
            <a:off x="8631936" y="3355848"/>
            <a:ext cx="237744" cy="237744"/>
          </a:xfrm>
          <a:prstGeom prst="rect">
            <a:avLst/>
          </a:prstGeom>
        </p:spPr>
      </p:pic>
      <p:sp>
        <p:nvSpPr>
          <p:cNvPr id="53" name="Text 41"/>
          <p:cNvSpPr txBox="1"/>
          <p:nvPr/>
        </p:nvSpPr>
        <p:spPr>
          <a:xfrm>
            <a:off x="8997696" y="32918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Transactional queue operations</a:t>
            </a:r>
            <a:endParaRPr lang="en-US" sz="1250" dirty="0"/>
          </a:p>
        </p:txBody>
      </p:sp>
      <p:pic>
        <p:nvPicPr>
          <p:cNvPr id="54" name="Image 10" descr="preencoded.png">    </p:cNvPr>
          <p:cNvPicPr>
            <a:picLocks noChangeAspect="1"/>
          </p:cNvPicPr>
          <p:nvPr/>
        </p:nvPicPr>
        <p:blipFill>
          <a:blip r:embed="rId11"/>
          <a:stretch>
            <a:fillRect/>
          </a:stretch>
        </p:blipFill>
        <p:spPr>
          <a:xfrm>
            <a:off x="8631936" y="3813048"/>
            <a:ext cx="237744" cy="237744"/>
          </a:xfrm>
          <a:prstGeom prst="rect">
            <a:avLst/>
          </a:prstGeom>
        </p:spPr>
      </p:pic>
      <p:sp>
        <p:nvSpPr>
          <p:cNvPr id="55" name="Text 42"/>
          <p:cNvSpPr txBox="1"/>
          <p:nvPr/>
        </p:nvSpPr>
        <p:spPr>
          <a:xfrm>
            <a:off x="8997696" y="37490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Real-time synchronization</a:t>
            </a:r>
            <a:endParaRPr lang="en-US" sz="1250" dirty="0"/>
          </a:p>
        </p:txBody>
      </p:sp>
      <p:pic>
        <p:nvPicPr>
          <p:cNvPr id="56" name="Image 11" descr="preencoded.png">    </p:cNvPr>
          <p:cNvPicPr>
            <a:picLocks noChangeAspect="1"/>
          </p:cNvPicPr>
          <p:nvPr/>
        </p:nvPicPr>
        <p:blipFill>
          <a:blip r:embed="rId12"/>
          <a:stretch>
            <a:fillRect/>
          </a:stretch>
        </p:blipFill>
        <p:spPr>
          <a:xfrm>
            <a:off x="8631936" y="4270248"/>
            <a:ext cx="237744" cy="237744"/>
          </a:xfrm>
          <a:prstGeom prst="rect">
            <a:avLst/>
          </a:prstGeom>
        </p:spPr>
      </p:pic>
      <p:sp>
        <p:nvSpPr>
          <p:cNvPr id="57" name="Text 43"/>
          <p:cNvSpPr txBox="1"/>
          <p:nvPr/>
        </p:nvSpPr>
        <p:spPr>
          <a:xfrm>
            <a:off x="8997696" y="42062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Automated tests (Vitest)</a:t>
            </a:r>
            <a:endParaRPr lang="en-US" sz="1250" dirty="0"/>
          </a:p>
        </p:txBody>
      </p:sp>
      <p:pic>
        <p:nvPicPr>
          <p:cNvPr id="58" name="Image 12" descr="preencoded.png">    </p:cNvPr>
          <p:cNvPicPr>
            <a:picLocks noChangeAspect="1"/>
          </p:cNvPicPr>
          <p:nvPr/>
        </p:nvPicPr>
        <p:blipFill>
          <a:blip r:embed="rId13"/>
          <a:stretch>
            <a:fillRect/>
          </a:stretch>
        </p:blipFill>
        <p:spPr>
          <a:xfrm>
            <a:off x="8631936" y="4727448"/>
            <a:ext cx="237744" cy="237744"/>
          </a:xfrm>
          <a:prstGeom prst="rect">
            <a:avLst/>
          </a:prstGeom>
        </p:spPr>
      </p:pic>
      <p:sp>
        <p:nvSpPr>
          <p:cNvPr id="59" name="Text 44"/>
          <p:cNvSpPr txBox="1"/>
          <p:nvPr/>
        </p:nvSpPr>
        <p:spPr>
          <a:xfrm>
            <a:off x="8997696" y="4663440"/>
            <a:ext cx="2487168" cy="365760"/>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Accessibility tests (axe-core)</a:t>
            </a:r>
            <a:endParaRPr lang="en-US" sz="1250" dirty="0"/>
          </a:p>
        </p:txBody>
      </p:sp>
      <p:sp>
        <p:nvSpPr>
          <p:cNvPr id="60" name="Shape 45"/>
          <p:cNvSpPr/>
          <p:nvPr/>
        </p:nvSpPr>
        <p:spPr>
          <a:xfrm>
            <a:off x="548640" y="5440680"/>
            <a:ext cx="11091672" cy="731520"/>
          </a:xfrm>
          <a:prstGeom prst="roundRect">
            <a:avLst>
              <a:gd name="adj" fmla="val 20000"/>
            </a:avLst>
          </a:prstGeom>
          <a:solidFill>
            <a:srgbClr val="0B1026"/>
          </a:solidFill>
          <a:ln/>
        </p:spPr>
      </p:sp>
      <p:sp>
        <p:nvSpPr>
          <p:cNvPr id="61" name="Shape 46"/>
          <p:cNvSpPr/>
          <p:nvPr/>
        </p:nvSpPr>
        <p:spPr>
          <a:xfrm>
            <a:off x="777240" y="5623560"/>
            <a:ext cx="365760" cy="365760"/>
          </a:xfrm>
          <a:prstGeom prst="ellipse">
            <a:avLst/>
          </a:prstGeom>
          <a:solidFill>
            <a:srgbClr val="3F1D2B"/>
          </a:solidFill>
          <a:ln/>
        </p:spPr>
      </p:sp>
      <p:pic>
        <p:nvPicPr>
          <p:cNvPr id="62" name="Image 13" descr="preencoded.png">    </p:cNvPr>
          <p:cNvPicPr>
            <a:picLocks noChangeAspect="1"/>
          </p:cNvPicPr>
          <p:nvPr/>
        </p:nvPicPr>
        <p:blipFill>
          <a:blip r:embed="rId14"/>
          <a:stretch>
            <a:fillRect/>
          </a:stretch>
        </p:blipFill>
        <p:spPr>
          <a:xfrm>
            <a:off x="865022" y="5711342"/>
            <a:ext cx="190195" cy="190195"/>
          </a:xfrm>
          <a:prstGeom prst="rect">
            <a:avLst/>
          </a:prstGeom>
        </p:spPr>
      </p:pic>
      <p:sp>
        <p:nvSpPr>
          <p:cNvPr id="63" name="Text 47"/>
          <p:cNvSpPr txBox="1"/>
          <p:nvPr/>
        </p:nvSpPr>
        <p:spPr>
          <a:xfrm>
            <a:off x="1234440" y="5440680"/>
            <a:ext cx="2377440" cy="73152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“The UI hides a button”</a:t>
            </a:r>
            <a:endParaRPr lang="en-US" sz="1300" dirty="0"/>
          </a:p>
        </p:txBody>
      </p:sp>
      <p:sp>
        <p:nvSpPr>
          <p:cNvPr id="64" name="Text 48"/>
          <p:cNvSpPr txBox="1"/>
          <p:nvPr/>
        </p:nvSpPr>
        <p:spPr>
          <a:xfrm>
            <a:off x="3611880" y="5440680"/>
            <a:ext cx="365760" cy="731520"/>
          </a:xfrm>
          <a:prstGeom prst="rect">
            <a:avLst/>
          </a:prstGeom>
          <a:noFill/>
          <a:ln/>
        </p:spPr>
        <p:txBody>
          <a:bodyPr wrap="square" lIns="0" tIns="0" rIns="0" bIns="0" rtlCol="0" anchor="ctr"/>
          <a:lstStyle/>
          <a:p>
            <a:pPr algn="ctr" indent="0" marL="0">
              <a:buNone/>
            </a:pPr>
            <a:r>
              <a:rPr lang="en-US" sz="1200" dirty="0">
                <a:solidFill>
                  <a:srgbClr val="7C86A8"/>
                </a:solidFill>
                <a:latin typeface="Calibri" pitchFamily="34" charset="0"/>
                <a:ea typeface="Calibri" pitchFamily="34" charset="-122"/>
                <a:cs typeface="Calibri" pitchFamily="34" charset="-120"/>
              </a:rPr>
              <a:t>vs</a:t>
            </a:r>
            <a:endParaRPr lang="en-US" sz="1200" dirty="0"/>
          </a:p>
        </p:txBody>
      </p:sp>
      <p:sp>
        <p:nvSpPr>
          <p:cNvPr id="65" name="Shape 49"/>
          <p:cNvSpPr/>
          <p:nvPr/>
        </p:nvSpPr>
        <p:spPr>
          <a:xfrm>
            <a:off x="4069080" y="5623560"/>
            <a:ext cx="365760" cy="365760"/>
          </a:xfrm>
          <a:prstGeom prst="ellipse">
            <a:avLst/>
          </a:prstGeom>
          <a:solidFill>
            <a:srgbClr val="14532D"/>
          </a:solidFill>
          <a:ln/>
        </p:spPr>
      </p:sp>
      <p:pic>
        <p:nvPicPr>
          <p:cNvPr id="66" name="Image 14" descr="preencoded.png">    </p:cNvPr>
          <p:cNvPicPr>
            <a:picLocks noChangeAspect="1"/>
          </p:cNvPicPr>
          <p:nvPr/>
        </p:nvPicPr>
        <p:blipFill>
          <a:blip r:embed="rId15"/>
          <a:stretch>
            <a:fillRect/>
          </a:stretch>
        </p:blipFill>
        <p:spPr>
          <a:xfrm>
            <a:off x="4156862" y="5711342"/>
            <a:ext cx="190195" cy="190195"/>
          </a:xfrm>
          <a:prstGeom prst="rect">
            <a:avLst/>
          </a:prstGeom>
        </p:spPr>
      </p:pic>
      <p:sp>
        <p:nvSpPr>
          <p:cNvPr id="67" name="Text 50"/>
          <p:cNvSpPr txBox="1"/>
          <p:nvPr/>
        </p:nvSpPr>
        <p:spPr>
          <a:xfrm>
            <a:off x="4526280" y="5440680"/>
            <a:ext cx="3931920" cy="7315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The backend rejects unauthorized operations</a:t>
            </a:r>
            <a:endParaRPr lang="en-US" sz="1300" dirty="0"/>
          </a:p>
        </p:txBody>
      </p:sp>
      <p:sp>
        <p:nvSpPr>
          <p:cNvPr id="68" name="Text 51"/>
          <p:cNvSpPr txBox="1"/>
          <p:nvPr/>
        </p:nvSpPr>
        <p:spPr>
          <a:xfrm>
            <a:off x="8503920" y="5440680"/>
            <a:ext cx="2971800" cy="731520"/>
          </a:xfrm>
          <a:prstGeom prst="rect">
            <a:avLst/>
          </a:prstGeom>
          <a:noFill/>
          <a:ln/>
        </p:spPr>
        <p:txBody>
          <a:bodyPr wrap="square" lIns="0" tIns="0" rIns="0" bIns="0" rtlCol="0" anchor="ctr"/>
          <a:lstStyle/>
          <a:p>
            <a:pPr algn="l" indent="0" marL="0">
              <a:buNone/>
            </a:pPr>
            <a:r>
              <a:rPr lang="en-US" sz="1050" i="1" dirty="0">
                <a:solidFill>
                  <a:srgbClr val="A5B0CF"/>
                </a:solidFill>
                <a:latin typeface="Calibri" pitchFamily="34" charset="0"/>
                <a:ea typeface="Calibri" pitchFamily="34" charset="-122"/>
                <a:cs typeface="Calibri" pitchFamily="34" charset="-120"/>
              </a:rPr>
              <a:t>Multiple production-oriented controls — not a claim of absolute security.</a:t>
            </a:r>
            <a:endParaRPr lang="en-US" sz="1050" dirty="0"/>
          </a:p>
        </p:txBody>
      </p:sp>
      <p:sp>
        <p:nvSpPr>
          <p:cNvPr id="69" name="Text 52"/>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70" name="Text 53"/>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A78BFA"/>
                </a:solidFill>
                <a:latin typeface="Calibri" pitchFamily="34" charset="0"/>
                <a:ea typeface="Calibri" pitchFamily="34" charset="-122"/>
                <a:cs typeface="Calibri" pitchFamily="34" charset="-120"/>
              </a:rPr>
              <a:t>11  ·  IMPACT &amp; CONCLUSION</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FFFFFF"/>
                </a:solidFill>
                <a:latin typeface="Calibri" pitchFamily="34" charset="0"/>
                <a:ea typeface="Calibri" pitchFamily="34" charset="-122"/>
                <a:cs typeface="Calibri" pitchFamily="34" charset="-120"/>
              </a:rPr>
              <a:t>QueueSense: Making Campus Waiting Smarter</a:t>
            </a:r>
            <a:endParaRPr lang="en-US" sz="3000" dirty="0"/>
          </a:p>
        </p:txBody>
      </p:sp>
      <p:sp>
        <p:nvSpPr>
          <p:cNvPr id="4" name="Shape 2"/>
          <p:cNvSpPr/>
          <p:nvPr/>
        </p:nvSpPr>
        <p:spPr>
          <a:xfrm>
            <a:off x="548640" y="1463040"/>
            <a:ext cx="2606040" cy="1920240"/>
          </a:xfrm>
          <a:prstGeom prst="roundRect">
            <a:avLst>
              <a:gd name="adj" fmla="val 8571"/>
            </a:avLst>
          </a:prstGeom>
          <a:solidFill>
            <a:srgbClr val="161D40"/>
          </a:solidFill>
          <a:ln/>
        </p:spPr>
      </p:sp>
      <p:sp>
        <p:nvSpPr>
          <p:cNvPr id="5" name="Shape 3"/>
          <p:cNvSpPr/>
          <p:nvPr/>
        </p:nvSpPr>
        <p:spPr>
          <a:xfrm>
            <a:off x="804672" y="1719072"/>
            <a:ext cx="475488" cy="475488"/>
          </a:xfrm>
          <a:prstGeom prst="roundRect">
            <a:avLst>
              <a:gd name="adj" fmla="val 28000"/>
            </a:avLst>
          </a:prstGeom>
          <a:solidFill>
            <a:srgbClr val="6D28D9"/>
          </a:solidFill>
          <a:ln/>
        </p:spPr>
      </p:sp>
      <p:pic>
        <p:nvPicPr>
          <p:cNvPr id="6" name="Image 0" descr="preencoded.png">    </p:cNvPr>
          <p:cNvPicPr>
            <a:picLocks noChangeAspect="1"/>
          </p:cNvPicPr>
          <p:nvPr/>
        </p:nvPicPr>
        <p:blipFill>
          <a:blip r:embed="rId1"/>
          <a:stretch>
            <a:fillRect/>
          </a:stretch>
        </p:blipFill>
        <p:spPr>
          <a:xfrm>
            <a:off x="909279" y="1823679"/>
            <a:ext cx="266273" cy="266273"/>
          </a:xfrm>
          <a:prstGeom prst="rect">
            <a:avLst/>
          </a:prstGeom>
        </p:spPr>
      </p:pic>
      <p:sp>
        <p:nvSpPr>
          <p:cNvPr id="7" name="Text 4"/>
          <p:cNvSpPr txBox="1"/>
          <p:nvPr/>
        </p:nvSpPr>
        <p:spPr>
          <a:xfrm>
            <a:off x="1417320" y="1719072"/>
            <a:ext cx="1600200" cy="47548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Students</a:t>
            </a:r>
            <a:endParaRPr lang="en-US" sz="1700" dirty="0"/>
          </a:p>
        </p:txBody>
      </p:sp>
      <p:sp>
        <p:nvSpPr>
          <p:cNvPr id="8" name="Text 5"/>
          <p:cNvSpPr txBox="1"/>
          <p:nvPr/>
        </p:nvSpPr>
        <p:spPr>
          <a:xfrm>
            <a:off x="804672" y="2377440"/>
            <a:ext cx="2194560" cy="1188720"/>
          </a:xfrm>
          <a:prstGeom prst="rect">
            <a:avLst/>
          </a:prstGeom>
          <a:noFill/>
          <a:ln/>
        </p:spPr>
        <p:txBody>
          <a:bodyPr wrap="square" lIns="0" tIns="0" rIns="0" bIns="0" rtlCol="0" anchor="t"/>
          <a:lstStyle/>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Hold your place.</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See your position.</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Know when to return.</a:t>
            </a:r>
            <a:endParaRPr lang="en-US" sz="1300" dirty="0"/>
          </a:p>
        </p:txBody>
      </p:sp>
      <p:sp>
        <p:nvSpPr>
          <p:cNvPr id="9" name="Shape 6"/>
          <p:cNvSpPr/>
          <p:nvPr/>
        </p:nvSpPr>
        <p:spPr>
          <a:xfrm>
            <a:off x="3376879" y="1463040"/>
            <a:ext cx="2606040" cy="1920240"/>
          </a:xfrm>
          <a:prstGeom prst="roundRect">
            <a:avLst>
              <a:gd name="adj" fmla="val 8571"/>
            </a:avLst>
          </a:prstGeom>
          <a:solidFill>
            <a:srgbClr val="161D40"/>
          </a:solidFill>
          <a:ln/>
        </p:spPr>
      </p:sp>
      <p:sp>
        <p:nvSpPr>
          <p:cNvPr id="10" name="Shape 7"/>
          <p:cNvSpPr/>
          <p:nvPr/>
        </p:nvSpPr>
        <p:spPr>
          <a:xfrm>
            <a:off x="3632911" y="1719072"/>
            <a:ext cx="475488" cy="475488"/>
          </a:xfrm>
          <a:prstGeom prst="roundRect">
            <a:avLst>
              <a:gd name="adj" fmla="val 28000"/>
            </a:avLst>
          </a:prstGeom>
          <a:solidFill>
            <a:srgbClr val="6D28D9"/>
          </a:solidFill>
          <a:ln/>
        </p:spPr>
      </p:sp>
      <p:pic>
        <p:nvPicPr>
          <p:cNvPr id="11" name="Image 1" descr="preencoded.png">    </p:cNvPr>
          <p:cNvPicPr>
            <a:picLocks noChangeAspect="1"/>
          </p:cNvPicPr>
          <p:nvPr/>
        </p:nvPicPr>
        <p:blipFill>
          <a:blip r:embed="rId2"/>
          <a:stretch>
            <a:fillRect/>
          </a:stretch>
        </p:blipFill>
        <p:spPr>
          <a:xfrm>
            <a:off x="3737519" y="1823679"/>
            <a:ext cx="266273" cy="266273"/>
          </a:xfrm>
          <a:prstGeom prst="rect">
            <a:avLst/>
          </a:prstGeom>
        </p:spPr>
      </p:pic>
      <p:sp>
        <p:nvSpPr>
          <p:cNvPr id="12" name="Text 8"/>
          <p:cNvSpPr txBox="1"/>
          <p:nvPr/>
        </p:nvSpPr>
        <p:spPr>
          <a:xfrm>
            <a:off x="4245559" y="1719072"/>
            <a:ext cx="1600200" cy="47548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Staff</a:t>
            </a:r>
            <a:endParaRPr lang="en-US" sz="1700" dirty="0"/>
          </a:p>
        </p:txBody>
      </p:sp>
      <p:sp>
        <p:nvSpPr>
          <p:cNvPr id="13" name="Text 9"/>
          <p:cNvSpPr txBox="1"/>
          <p:nvPr/>
        </p:nvSpPr>
        <p:spPr>
          <a:xfrm>
            <a:off x="3632911" y="2377440"/>
            <a:ext cx="2194560" cy="1188720"/>
          </a:xfrm>
          <a:prstGeom prst="rect">
            <a:avLst/>
          </a:prstGeom>
          <a:noFill/>
          <a:ln/>
        </p:spPr>
        <p:txBody>
          <a:bodyPr wrap="square" lIns="0" tIns="0" rIns="0" bIns="0" rtlCol="0" anchor="t"/>
          <a:lstStyle/>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Manage queues.</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Control counters.</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Handle operational changes.</a:t>
            </a:r>
            <a:endParaRPr lang="en-US" sz="1300" dirty="0"/>
          </a:p>
        </p:txBody>
      </p:sp>
      <p:sp>
        <p:nvSpPr>
          <p:cNvPr id="14" name="Shape 10"/>
          <p:cNvSpPr/>
          <p:nvPr/>
        </p:nvSpPr>
        <p:spPr>
          <a:xfrm>
            <a:off x="6205118" y="1463040"/>
            <a:ext cx="2606040" cy="1920240"/>
          </a:xfrm>
          <a:prstGeom prst="roundRect">
            <a:avLst>
              <a:gd name="adj" fmla="val 8571"/>
            </a:avLst>
          </a:prstGeom>
          <a:solidFill>
            <a:srgbClr val="161D40"/>
          </a:solidFill>
          <a:ln/>
        </p:spPr>
      </p:sp>
      <p:sp>
        <p:nvSpPr>
          <p:cNvPr id="15" name="Shape 11"/>
          <p:cNvSpPr/>
          <p:nvPr/>
        </p:nvSpPr>
        <p:spPr>
          <a:xfrm>
            <a:off x="6461150" y="1719072"/>
            <a:ext cx="475488" cy="475488"/>
          </a:xfrm>
          <a:prstGeom prst="roundRect">
            <a:avLst>
              <a:gd name="adj" fmla="val 28000"/>
            </a:avLst>
          </a:prstGeom>
          <a:solidFill>
            <a:srgbClr val="6D28D9"/>
          </a:solidFill>
          <a:ln/>
        </p:spPr>
      </p:sp>
      <p:pic>
        <p:nvPicPr>
          <p:cNvPr id="16" name="Image 2" descr="preencoded.png">    </p:cNvPr>
          <p:cNvPicPr>
            <a:picLocks noChangeAspect="1"/>
          </p:cNvPicPr>
          <p:nvPr/>
        </p:nvPicPr>
        <p:blipFill>
          <a:blip r:embed="rId3"/>
          <a:stretch>
            <a:fillRect/>
          </a:stretch>
        </p:blipFill>
        <p:spPr>
          <a:xfrm>
            <a:off x="6565758" y="1823679"/>
            <a:ext cx="266273" cy="266273"/>
          </a:xfrm>
          <a:prstGeom prst="rect">
            <a:avLst/>
          </a:prstGeom>
        </p:spPr>
      </p:pic>
      <p:sp>
        <p:nvSpPr>
          <p:cNvPr id="17" name="Text 12"/>
          <p:cNvSpPr txBox="1"/>
          <p:nvPr/>
        </p:nvSpPr>
        <p:spPr>
          <a:xfrm>
            <a:off x="7073798" y="1719072"/>
            <a:ext cx="1600200" cy="47548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Admin</a:t>
            </a:r>
            <a:endParaRPr lang="en-US" sz="1700" dirty="0"/>
          </a:p>
        </p:txBody>
      </p:sp>
      <p:sp>
        <p:nvSpPr>
          <p:cNvPr id="18" name="Text 13"/>
          <p:cNvSpPr txBox="1"/>
          <p:nvPr/>
        </p:nvSpPr>
        <p:spPr>
          <a:xfrm>
            <a:off x="6461150" y="2377440"/>
            <a:ext cx="2194560" cy="1188720"/>
          </a:xfrm>
          <a:prstGeom prst="rect">
            <a:avLst/>
          </a:prstGeom>
          <a:noFill/>
          <a:ln/>
        </p:spPr>
        <p:txBody>
          <a:bodyPr wrap="square" lIns="0" tIns="0" rIns="0" bIns="0" rtlCol="0" anchor="t"/>
          <a:lstStyle/>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Monitor services.</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Manage resources.</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Review operations.</a:t>
            </a:r>
            <a:endParaRPr lang="en-US" sz="1300" dirty="0"/>
          </a:p>
        </p:txBody>
      </p:sp>
      <p:sp>
        <p:nvSpPr>
          <p:cNvPr id="19" name="Shape 14"/>
          <p:cNvSpPr/>
          <p:nvPr/>
        </p:nvSpPr>
        <p:spPr>
          <a:xfrm>
            <a:off x="9033358" y="1463040"/>
            <a:ext cx="2606040" cy="1920240"/>
          </a:xfrm>
          <a:prstGeom prst="roundRect">
            <a:avLst>
              <a:gd name="adj" fmla="val 8571"/>
            </a:avLst>
          </a:prstGeom>
          <a:solidFill>
            <a:srgbClr val="161D40"/>
          </a:solidFill>
          <a:ln/>
        </p:spPr>
      </p:sp>
      <p:sp>
        <p:nvSpPr>
          <p:cNvPr id="20" name="Shape 15"/>
          <p:cNvSpPr/>
          <p:nvPr/>
        </p:nvSpPr>
        <p:spPr>
          <a:xfrm>
            <a:off x="9289390" y="1719072"/>
            <a:ext cx="475488" cy="475488"/>
          </a:xfrm>
          <a:prstGeom prst="roundRect">
            <a:avLst>
              <a:gd name="adj" fmla="val 28000"/>
            </a:avLst>
          </a:prstGeom>
          <a:solidFill>
            <a:srgbClr val="6D28D9"/>
          </a:solidFill>
          <a:ln/>
        </p:spPr>
      </p:sp>
      <p:pic>
        <p:nvPicPr>
          <p:cNvPr id="21" name="Image 3" descr="preencoded.png">    </p:cNvPr>
          <p:cNvPicPr>
            <a:picLocks noChangeAspect="1"/>
          </p:cNvPicPr>
          <p:nvPr/>
        </p:nvPicPr>
        <p:blipFill>
          <a:blip r:embed="rId4"/>
          <a:stretch>
            <a:fillRect/>
          </a:stretch>
        </p:blipFill>
        <p:spPr>
          <a:xfrm>
            <a:off x="9393997" y="1823679"/>
            <a:ext cx="266273" cy="266273"/>
          </a:xfrm>
          <a:prstGeom prst="rect">
            <a:avLst/>
          </a:prstGeom>
        </p:spPr>
      </p:pic>
      <p:sp>
        <p:nvSpPr>
          <p:cNvPr id="22" name="Text 16"/>
          <p:cNvSpPr txBox="1"/>
          <p:nvPr/>
        </p:nvSpPr>
        <p:spPr>
          <a:xfrm>
            <a:off x="9902038" y="1719072"/>
            <a:ext cx="1600200" cy="47548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Technology</a:t>
            </a:r>
            <a:endParaRPr lang="en-US" sz="1700" dirty="0"/>
          </a:p>
        </p:txBody>
      </p:sp>
      <p:sp>
        <p:nvSpPr>
          <p:cNvPr id="23" name="Text 17"/>
          <p:cNvSpPr txBox="1"/>
          <p:nvPr/>
        </p:nvSpPr>
        <p:spPr>
          <a:xfrm>
            <a:off x="9289390" y="2377440"/>
            <a:ext cx="2194560" cy="1188720"/>
          </a:xfrm>
          <a:prstGeom prst="rect">
            <a:avLst/>
          </a:prstGeom>
          <a:noFill/>
          <a:ln/>
        </p:spPr>
        <p:txBody>
          <a:bodyPr wrap="square" lIns="0" tIns="0" rIns="0" bIns="0" rtlCol="0" anchor="t"/>
          <a:lstStyle/>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Real-time. Secure.</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Scalable architecture.</a:t>
            </a:r>
            <a:endParaRPr lang="en-US" sz="1300" dirty="0"/>
          </a:p>
          <a:p>
            <a:pPr algn="l" indent="0" marL="0">
              <a:lnSpc>
                <a:spcPct val="110000"/>
              </a:lnSpc>
              <a:buNone/>
            </a:pPr>
            <a:r>
              <a:rPr lang="en-US" sz="1300" dirty="0">
                <a:solidFill>
                  <a:srgbClr val="CBD5E1"/>
                </a:solidFill>
                <a:latin typeface="Calibri" pitchFamily="34" charset="0"/>
                <a:ea typeface="Calibri" pitchFamily="34" charset="-122"/>
                <a:cs typeface="Calibri" pitchFamily="34" charset="-120"/>
              </a:rPr>
              <a:t>Privacy-aware vision.</a:t>
            </a:r>
            <a:endParaRPr lang="en-US" sz="1300" dirty="0"/>
          </a:p>
        </p:txBody>
      </p:sp>
      <p:sp>
        <p:nvSpPr>
          <p:cNvPr id="24" name="Shape 18"/>
          <p:cNvSpPr/>
          <p:nvPr/>
        </p:nvSpPr>
        <p:spPr>
          <a:xfrm>
            <a:off x="548640" y="3657600"/>
            <a:ext cx="2103120" cy="1005840"/>
          </a:xfrm>
          <a:prstGeom prst="roundRect">
            <a:avLst>
              <a:gd name="adj" fmla="val 14545"/>
            </a:avLst>
          </a:prstGeom>
          <a:solidFill>
            <a:srgbClr val="6D28D9"/>
          </a:solidFill>
          <a:ln/>
        </p:spPr>
      </p:sp>
      <p:pic>
        <p:nvPicPr>
          <p:cNvPr id="25" name="Image 4" descr="preencoded.png">    </p:cNvPr>
          <p:cNvPicPr>
            <a:picLocks noChangeAspect="1"/>
          </p:cNvPicPr>
          <p:nvPr/>
        </p:nvPicPr>
        <p:blipFill>
          <a:blip r:embed="rId5"/>
          <a:stretch>
            <a:fillRect/>
          </a:stretch>
        </p:blipFill>
        <p:spPr>
          <a:xfrm>
            <a:off x="731520" y="3840480"/>
            <a:ext cx="329184" cy="329184"/>
          </a:xfrm>
          <a:prstGeom prst="rect">
            <a:avLst/>
          </a:prstGeom>
        </p:spPr>
      </p:pic>
      <p:sp>
        <p:nvSpPr>
          <p:cNvPr id="26" name="Text 19"/>
          <p:cNvSpPr txBox="1"/>
          <p:nvPr/>
        </p:nvSpPr>
        <p:spPr>
          <a:xfrm>
            <a:off x="1143000" y="3822192"/>
            <a:ext cx="13716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Server</a:t>
            </a:r>
            <a:endParaRPr lang="en-US" sz="1500" dirty="0"/>
          </a:p>
        </p:txBody>
      </p:sp>
      <p:sp>
        <p:nvSpPr>
          <p:cNvPr id="27" name="Text 20"/>
          <p:cNvSpPr txBox="1"/>
          <p:nvPr/>
        </p:nvSpPr>
        <p:spPr>
          <a:xfrm>
            <a:off x="731520" y="4224528"/>
            <a:ext cx="1828800" cy="274320"/>
          </a:xfrm>
          <a:prstGeom prst="rect">
            <a:avLst/>
          </a:prstGeom>
          <a:noFill/>
          <a:ln/>
        </p:spPr>
        <p:txBody>
          <a:bodyPr wrap="square" lIns="0" tIns="0" rIns="0" bIns="0" rtlCol="0" anchor="t"/>
          <a:lstStyle/>
          <a:p>
            <a:pPr algn="l" indent="0" marL="0">
              <a:buNone/>
            </a:pPr>
            <a:r>
              <a:rPr lang="en-US" sz="1050" dirty="0">
                <a:solidFill>
                  <a:srgbClr val="DDD6FE"/>
                </a:solidFill>
                <a:latin typeface="Calibri" pitchFamily="34" charset="0"/>
                <a:ea typeface="Calibri" pitchFamily="34" charset="-122"/>
                <a:cs typeface="Calibri" pitchFamily="34" charset="-120"/>
              </a:rPr>
              <a:t>single source of truth</a:t>
            </a:r>
            <a:endParaRPr lang="en-US" sz="1050" dirty="0"/>
          </a:p>
        </p:txBody>
      </p:sp>
      <p:sp>
        <p:nvSpPr>
          <p:cNvPr id="28" name="Shape 21"/>
          <p:cNvSpPr/>
          <p:nvPr/>
        </p:nvSpPr>
        <p:spPr>
          <a:xfrm>
            <a:off x="2697480" y="4160520"/>
            <a:ext cx="365760" cy="0"/>
          </a:xfrm>
          <a:prstGeom prst="line">
            <a:avLst/>
          </a:prstGeom>
          <a:noFill/>
          <a:ln w="19050">
            <a:solidFill>
              <a:srgbClr val="A78BFA"/>
            </a:solidFill>
            <a:prstDash val="solid"/>
            <a:tailEnd type="triangle"/>
          </a:ln>
        </p:spPr>
      </p:sp>
      <p:sp>
        <p:nvSpPr>
          <p:cNvPr id="29" name="Shape 22"/>
          <p:cNvSpPr/>
          <p:nvPr/>
        </p:nvSpPr>
        <p:spPr>
          <a:xfrm>
            <a:off x="3154680" y="3794760"/>
            <a:ext cx="1280160" cy="502920"/>
          </a:xfrm>
          <a:prstGeom prst="roundRect">
            <a:avLst>
              <a:gd name="adj" fmla="val 21818"/>
            </a:avLst>
          </a:prstGeom>
          <a:solidFill>
            <a:srgbClr val="94A3B8"/>
          </a:solidFill>
          <a:ln/>
        </p:spPr>
      </p:sp>
      <p:sp>
        <p:nvSpPr>
          <p:cNvPr id="30" name="Text 23"/>
          <p:cNvSpPr txBox="1"/>
          <p:nvPr/>
        </p:nvSpPr>
        <p:spPr>
          <a:xfrm>
            <a:off x="3209544" y="3794760"/>
            <a:ext cx="1170432"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RA001</a:t>
            </a:r>
            <a:endParaRPr lang="en-US" sz="1500" dirty="0"/>
          </a:p>
        </p:txBody>
      </p:sp>
      <p:sp>
        <p:nvSpPr>
          <p:cNvPr id="31" name="Text 24"/>
          <p:cNvSpPr txBox="1"/>
          <p:nvPr/>
        </p:nvSpPr>
        <p:spPr>
          <a:xfrm>
            <a:off x="315468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Completed</a:t>
            </a:r>
            <a:endParaRPr lang="en-US" sz="1050" dirty="0"/>
          </a:p>
        </p:txBody>
      </p:sp>
      <p:sp>
        <p:nvSpPr>
          <p:cNvPr id="32" name="Shape 25"/>
          <p:cNvSpPr/>
          <p:nvPr/>
        </p:nvSpPr>
        <p:spPr>
          <a:xfrm>
            <a:off x="4572000" y="3794760"/>
            <a:ext cx="1280160" cy="502920"/>
          </a:xfrm>
          <a:prstGeom prst="roundRect">
            <a:avLst>
              <a:gd name="adj" fmla="val 21818"/>
            </a:avLst>
          </a:prstGeom>
          <a:solidFill>
            <a:srgbClr val="16A34A"/>
          </a:solidFill>
          <a:ln/>
        </p:spPr>
      </p:sp>
      <p:sp>
        <p:nvSpPr>
          <p:cNvPr id="33" name="Text 26"/>
          <p:cNvSpPr txBox="1"/>
          <p:nvPr/>
        </p:nvSpPr>
        <p:spPr>
          <a:xfrm>
            <a:off x="4626864" y="3794760"/>
            <a:ext cx="1170432"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RA002</a:t>
            </a:r>
            <a:endParaRPr lang="en-US" sz="1500" dirty="0"/>
          </a:p>
        </p:txBody>
      </p:sp>
      <p:sp>
        <p:nvSpPr>
          <p:cNvPr id="34" name="Text 27"/>
          <p:cNvSpPr txBox="1"/>
          <p:nvPr/>
        </p:nvSpPr>
        <p:spPr>
          <a:xfrm>
            <a:off x="457200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Serving</a:t>
            </a:r>
            <a:endParaRPr lang="en-US" sz="1050" dirty="0"/>
          </a:p>
        </p:txBody>
      </p:sp>
      <p:sp>
        <p:nvSpPr>
          <p:cNvPr id="35" name="Shape 28"/>
          <p:cNvSpPr/>
          <p:nvPr/>
        </p:nvSpPr>
        <p:spPr>
          <a:xfrm>
            <a:off x="5989320" y="3794760"/>
            <a:ext cx="1280160" cy="502920"/>
          </a:xfrm>
          <a:prstGeom prst="roundRect">
            <a:avLst>
              <a:gd name="adj" fmla="val 21818"/>
            </a:avLst>
          </a:prstGeom>
          <a:solidFill>
            <a:srgbClr val="FACC15"/>
          </a:solidFill>
          <a:ln/>
        </p:spPr>
      </p:sp>
      <p:sp>
        <p:nvSpPr>
          <p:cNvPr id="36" name="Text 29"/>
          <p:cNvSpPr txBox="1"/>
          <p:nvPr/>
        </p:nvSpPr>
        <p:spPr>
          <a:xfrm>
            <a:off x="6044184" y="3794760"/>
            <a:ext cx="1170432" cy="502920"/>
          </a:xfrm>
          <a:prstGeom prst="rect">
            <a:avLst/>
          </a:prstGeom>
          <a:noFill/>
          <a:ln/>
        </p:spPr>
        <p:txBody>
          <a:bodyPr wrap="square" lIns="0" tIns="0" rIns="0" bIns="0" rtlCol="0" anchor="ctr"/>
          <a:lstStyle/>
          <a:p>
            <a:pPr algn="ctr" indent="0" marL="0">
              <a:buNone/>
            </a:pPr>
            <a:r>
              <a:rPr lang="en-US" sz="1500" b="1" dirty="0">
                <a:solidFill>
                  <a:srgbClr val="422006"/>
                </a:solidFill>
                <a:latin typeface="Calibri" pitchFamily="34" charset="0"/>
                <a:ea typeface="Calibri" pitchFamily="34" charset="-122"/>
                <a:cs typeface="Calibri" pitchFamily="34" charset="-120"/>
              </a:rPr>
              <a:t>RA003</a:t>
            </a:r>
            <a:endParaRPr lang="en-US" sz="1500" dirty="0"/>
          </a:p>
        </p:txBody>
      </p:sp>
      <p:sp>
        <p:nvSpPr>
          <p:cNvPr id="37" name="Text 30"/>
          <p:cNvSpPr txBox="1"/>
          <p:nvPr/>
        </p:nvSpPr>
        <p:spPr>
          <a:xfrm>
            <a:off x="598932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Called</a:t>
            </a:r>
            <a:endParaRPr lang="en-US" sz="1050" dirty="0"/>
          </a:p>
        </p:txBody>
      </p:sp>
      <p:sp>
        <p:nvSpPr>
          <p:cNvPr id="38" name="Shape 31"/>
          <p:cNvSpPr/>
          <p:nvPr/>
        </p:nvSpPr>
        <p:spPr>
          <a:xfrm>
            <a:off x="7406640" y="3794760"/>
            <a:ext cx="1280160" cy="502920"/>
          </a:xfrm>
          <a:prstGeom prst="roundRect">
            <a:avLst>
              <a:gd name="adj" fmla="val 21818"/>
            </a:avLst>
          </a:prstGeom>
          <a:solidFill>
            <a:srgbClr val="6D28D9"/>
          </a:solidFill>
          <a:ln/>
        </p:spPr>
      </p:sp>
      <p:sp>
        <p:nvSpPr>
          <p:cNvPr id="39" name="Text 32"/>
          <p:cNvSpPr txBox="1"/>
          <p:nvPr/>
        </p:nvSpPr>
        <p:spPr>
          <a:xfrm>
            <a:off x="7461504" y="3794760"/>
            <a:ext cx="1170432"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RA004</a:t>
            </a:r>
            <a:endParaRPr lang="en-US" sz="1500" dirty="0"/>
          </a:p>
        </p:txBody>
      </p:sp>
      <p:sp>
        <p:nvSpPr>
          <p:cNvPr id="40" name="Text 33"/>
          <p:cNvSpPr txBox="1"/>
          <p:nvPr/>
        </p:nvSpPr>
        <p:spPr>
          <a:xfrm>
            <a:off x="740664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Almost next</a:t>
            </a:r>
            <a:endParaRPr lang="en-US" sz="1050" dirty="0"/>
          </a:p>
        </p:txBody>
      </p:sp>
      <p:sp>
        <p:nvSpPr>
          <p:cNvPr id="41" name="Shape 34"/>
          <p:cNvSpPr/>
          <p:nvPr/>
        </p:nvSpPr>
        <p:spPr>
          <a:xfrm>
            <a:off x="8823960" y="3794760"/>
            <a:ext cx="1280160" cy="502920"/>
          </a:xfrm>
          <a:prstGeom prst="roundRect">
            <a:avLst>
              <a:gd name="adj" fmla="val 21818"/>
            </a:avLst>
          </a:prstGeom>
          <a:solidFill>
            <a:srgbClr val="6D28D9"/>
          </a:solidFill>
          <a:ln/>
        </p:spPr>
      </p:sp>
      <p:sp>
        <p:nvSpPr>
          <p:cNvPr id="42" name="Text 35"/>
          <p:cNvSpPr txBox="1"/>
          <p:nvPr/>
        </p:nvSpPr>
        <p:spPr>
          <a:xfrm>
            <a:off x="8878824" y="3794760"/>
            <a:ext cx="1170432"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RA005</a:t>
            </a:r>
            <a:endParaRPr lang="en-US" sz="1500" dirty="0"/>
          </a:p>
        </p:txBody>
      </p:sp>
      <p:sp>
        <p:nvSpPr>
          <p:cNvPr id="43" name="Text 36"/>
          <p:cNvSpPr txBox="1"/>
          <p:nvPr/>
        </p:nvSpPr>
        <p:spPr>
          <a:xfrm>
            <a:off x="882396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Waiting</a:t>
            </a:r>
            <a:endParaRPr lang="en-US" sz="1050" dirty="0"/>
          </a:p>
        </p:txBody>
      </p:sp>
      <p:sp>
        <p:nvSpPr>
          <p:cNvPr id="44" name="Shape 37"/>
          <p:cNvSpPr/>
          <p:nvPr/>
        </p:nvSpPr>
        <p:spPr>
          <a:xfrm>
            <a:off x="10241280" y="3794760"/>
            <a:ext cx="1280160" cy="502920"/>
          </a:xfrm>
          <a:prstGeom prst="roundRect">
            <a:avLst>
              <a:gd name="adj" fmla="val 21818"/>
            </a:avLst>
          </a:prstGeom>
          <a:solidFill>
            <a:srgbClr val="6D28D9"/>
          </a:solidFill>
          <a:ln/>
        </p:spPr>
      </p:sp>
      <p:sp>
        <p:nvSpPr>
          <p:cNvPr id="45" name="Text 38"/>
          <p:cNvSpPr txBox="1"/>
          <p:nvPr/>
        </p:nvSpPr>
        <p:spPr>
          <a:xfrm>
            <a:off x="10296144" y="3794760"/>
            <a:ext cx="1170432"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RA006</a:t>
            </a:r>
            <a:endParaRPr lang="en-US" sz="1500" dirty="0"/>
          </a:p>
        </p:txBody>
      </p:sp>
      <p:sp>
        <p:nvSpPr>
          <p:cNvPr id="46" name="Text 39"/>
          <p:cNvSpPr txBox="1"/>
          <p:nvPr/>
        </p:nvSpPr>
        <p:spPr>
          <a:xfrm>
            <a:off x="10241280" y="4343400"/>
            <a:ext cx="1280160" cy="256032"/>
          </a:xfrm>
          <a:prstGeom prst="rect">
            <a:avLst/>
          </a:prstGeom>
          <a:noFill/>
          <a:ln/>
        </p:spPr>
        <p:txBody>
          <a:bodyPr wrap="square" lIns="0" tIns="0" rIns="0" bIns="0" rtlCol="0" anchor="t"/>
          <a:lstStyle/>
          <a:p>
            <a:pPr algn="ctr" indent="0" marL="0">
              <a:buNone/>
            </a:pPr>
            <a:r>
              <a:rPr lang="en-US" sz="1050" dirty="0">
                <a:solidFill>
                  <a:srgbClr val="A5B0CF"/>
                </a:solidFill>
                <a:latin typeface="Calibri" pitchFamily="34" charset="0"/>
                <a:ea typeface="Calibri" pitchFamily="34" charset="-122"/>
                <a:cs typeface="Calibri" pitchFamily="34" charset="-120"/>
              </a:rPr>
              <a:t>Waiting</a:t>
            </a:r>
            <a:endParaRPr lang="en-US" sz="1050" dirty="0"/>
          </a:p>
        </p:txBody>
      </p:sp>
      <p:sp>
        <p:nvSpPr>
          <p:cNvPr id="47" name="Text 40"/>
          <p:cNvSpPr txBox="1"/>
          <p:nvPr/>
        </p:nvSpPr>
        <p:spPr>
          <a:xfrm>
            <a:off x="548640" y="4983480"/>
            <a:ext cx="11091672" cy="640080"/>
          </a:xfrm>
          <a:prstGeom prst="rect">
            <a:avLst/>
          </a:prstGeom>
          <a:noFill/>
          <a:ln/>
        </p:spPr>
        <p:txBody>
          <a:bodyPr wrap="square" lIns="0" tIns="0" rIns="0" bIns="0" rtlCol="0" anchor="ctr"/>
          <a:lstStyle/>
          <a:p>
            <a:pPr algn="ctr" indent="0" marL="0">
              <a:buNone/>
            </a:pPr>
            <a:r>
              <a:rPr lang="en-US" sz="3000" b="1" i="1" dirty="0">
                <a:solidFill>
                  <a:srgbClr val="FFFFFF"/>
                </a:solidFill>
                <a:latin typeface="Calibri" pitchFamily="34" charset="0"/>
                <a:ea typeface="Calibri" pitchFamily="34" charset="-122"/>
                <a:cs typeface="Calibri" pitchFamily="34" charset="-120"/>
              </a:rPr>
              <a:t>“Don’t Stand in Line. Know Your Turn.”</a:t>
            </a:r>
            <a:endParaRPr lang="en-US" sz="3000" dirty="0"/>
          </a:p>
        </p:txBody>
      </p:sp>
      <p:sp>
        <p:nvSpPr>
          <p:cNvPr id="48" name="Text 41"/>
          <p:cNvSpPr txBox="1"/>
          <p:nvPr/>
        </p:nvSpPr>
        <p:spPr>
          <a:xfrm>
            <a:off x="548640" y="5669280"/>
            <a:ext cx="11091672" cy="320040"/>
          </a:xfrm>
          <a:prstGeom prst="rect">
            <a:avLst/>
          </a:prstGeom>
          <a:noFill/>
          <a:ln/>
        </p:spPr>
        <p:txBody>
          <a:bodyPr wrap="square" lIns="0" tIns="0" rIns="0" bIns="0" rtlCol="0" anchor="t"/>
          <a:lstStyle/>
          <a:p>
            <a:pPr algn="ctr" indent="0" marL="0">
              <a:buNone/>
            </a:pPr>
            <a:r>
              <a:rPr lang="en-US" sz="1300" dirty="0">
                <a:solidFill>
                  <a:srgbClr val="A78BFA"/>
                </a:solidFill>
                <a:latin typeface="Calibri" pitchFamily="34" charset="0"/>
                <a:ea typeface="Calibri" pitchFamily="34" charset="-122"/>
                <a:cs typeface="Calibri" pitchFamily="34" charset="-120"/>
              </a:rPr>
              <a:t>Thank you — questions welcome</a:t>
            </a:r>
            <a:endParaRPr lang="en-US" sz="1300" dirty="0"/>
          </a:p>
        </p:txBody>
      </p:sp>
      <p:sp>
        <p:nvSpPr>
          <p:cNvPr id="49" name="Text 42"/>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7C86A8"/>
                </a:solidFill>
                <a:latin typeface="Calibri" pitchFamily="34" charset="0"/>
                <a:ea typeface="Calibri" pitchFamily="34" charset="-122"/>
                <a:cs typeface="Calibri" pitchFamily="34" charset="-120"/>
              </a:rPr>
              <a:t>QueueSense  ·  Smart Campus Queueing</a:t>
            </a:r>
            <a:endParaRPr lang="en-US" sz="900" dirty="0"/>
          </a:p>
        </p:txBody>
      </p:sp>
      <p:sp>
        <p:nvSpPr>
          <p:cNvPr id="50" name="Text 43"/>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7C86A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APPENDIX A</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Implemented Today vs Future Scope</a:t>
            </a:r>
            <a:endParaRPr lang="en-US" sz="3000" dirty="0"/>
          </a:p>
        </p:txBody>
      </p:sp>
      <p:sp>
        <p:nvSpPr>
          <p:cNvPr id="4" name="Shape 2"/>
          <p:cNvSpPr/>
          <p:nvPr/>
        </p:nvSpPr>
        <p:spPr>
          <a:xfrm>
            <a:off x="548640" y="1463040"/>
            <a:ext cx="5760720" cy="4709160"/>
          </a:xfrm>
          <a:prstGeom prst="roundRect">
            <a:avLst>
              <a:gd name="adj" fmla="val 3495"/>
            </a:avLst>
          </a:prstGeom>
          <a:solidFill>
            <a:srgbClr val="F3F4F9"/>
          </a:solidFill>
          <a:ln/>
        </p:spPr>
      </p:sp>
      <p:sp>
        <p:nvSpPr>
          <p:cNvPr id="5" name="Shape 3"/>
          <p:cNvSpPr/>
          <p:nvPr/>
        </p:nvSpPr>
        <p:spPr>
          <a:xfrm>
            <a:off x="777240" y="1691640"/>
            <a:ext cx="457200" cy="457200"/>
          </a:xfrm>
          <a:prstGeom prst="roundRect">
            <a:avLst>
              <a:gd name="adj" fmla="val 28000"/>
            </a:avLst>
          </a:prstGeom>
          <a:solidFill>
            <a:srgbClr val="16A34A"/>
          </a:solidFill>
          <a:ln/>
        </p:spPr>
      </p:sp>
      <p:pic>
        <p:nvPicPr>
          <p:cNvPr id="6" name="Image 0" descr="preencoded.png">    </p:cNvPr>
          <p:cNvPicPr>
            <a:picLocks noChangeAspect="1"/>
          </p:cNvPicPr>
          <p:nvPr/>
        </p:nvPicPr>
        <p:blipFill>
          <a:blip r:embed="rId1"/>
          <a:stretch>
            <a:fillRect/>
          </a:stretch>
        </p:blipFill>
        <p:spPr>
          <a:xfrm>
            <a:off x="877824" y="1792224"/>
            <a:ext cx="256032" cy="256032"/>
          </a:xfrm>
          <a:prstGeom prst="rect">
            <a:avLst/>
          </a:prstGeom>
        </p:spPr>
      </p:pic>
      <p:sp>
        <p:nvSpPr>
          <p:cNvPr id="7" name="Text 4"/>
          <p:cNvSpPr txBox="1"/>
          <p:nvPr/>
        </p:nvSpPr>
        <p:spPr>
          <a:xfrm>
            <a:off x="1371600" y="1691640"/>
            <a:ext cx="4572000" cy="45720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IMPLEMENTED / CURRENT</a:t>
            </a:r>
            <a:endParaRPr lang="en-US" sz="1600" dirty="0"/>
          </a:p>
        </p:txBody>
      </p:sp>
      <p:pic>
        <p:nvPicPr>
          <p:cNvPr id="8" name="Image 1" descr="preencoded.png">    </p:cNvPr>
          <p:cNvPicPr>
            <a:picLocks noChangeAspect="1"/>
          </p:cNvPicPr>
          <p:nvPr/>
        </p:nvPicPr>
        <p:blipFill>
          <a:blip r:embed="rId2"/>
          <a:stretch>
            <a:fillRect/>
          </a:stretch>
        </p:blipFill>
        <p:spPr>
          <a:xfrm>
            <a:off x="822960" y="2395728"/>
            <a:ext cx="219456" cy="219456"/>
          </a:xfrm>
          <a:prstGeom prst="rect">
            <a:avLst/>
          </a:prstGeom>
        </p:spPr>
      </p:pic>
      <p:sp>
        <p:nvSpPr>
          <p:cNvPr id="9" name="Text 5"/>
          <p:cNvSpPr txBox="1"/>
          <p:nvPr/>
        </p:nvSpPr>
        <p:spPr>
          <a:xfrm>
            <a:off x="1188720" y="2331720"/>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Four service areas: Administration, Printing, Cafeteria, Elevator</a:t>
            </a:r>
            <a:endParaRPr lang="en-US" sz="1250" dirty="0"/>
          </a:p>
        </p:txBody>
      </p:sp>
      <p:pic>
        <p:nvPicPr>
          <p:cNvPr id="10" name="Image 2" descr="preencoded.png">    </p:cNvPr>
          <p:cNvPicPr>
            <a:picLocks noChangeAspect="1"/>
          </p:cNvPicPr>
          <p:nvPr/>
        </p:nvPicPr>
        <p:blipFill>
          <a:blip r:embed="rId3"/>
          <a:stretch>
            <a:fillRect/>
          </a:stretch>
        </p:blipFill>
        <p:spPr>
          <a:xfrm>
            <a:off x="822960" y="2816352"/>
            <a:ext cx="219456" cy="219456"/>
          </a:xfrm>
          <a:prstGeom prst="rect">
            <a:avLst/>
          </a:prstGeom>
        </p:spPr>
      </p:pic>
      <p:sp>
        <p:nvSpPr>
          <p:cNvPr id="11" name="Text 6"/>
          <p:cNvSpPr txBox="1"/>
          <p:nvPr/>
        </p:nvSpPr>
        <p:spPr>
          <a:xfrm>
            <a:off x="1188720" y="2752344"/>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Student, Staff and Admin roles</a:t>
            </a:r>
            <a:endParaRPr lang="en-US" sz="1250" dirty="0"/>
          </a:p>
        </p:txBody>
      </p:sp>
      <p:pic>
        <p:nvPicPr>
          <p:cNvPr id="12" name="Image 3" descr="preencoded.png">    </p:cNvPr>
          <p:cNvPicPr>
            <a:picLocks noChangeAspect="1"/>
          </p:cNvPicPr>
          <p:nvPr/>
        </p:nvPicPr>
        <p:blipFill>
          <a:blip r:embed="rId4"/>
          <a:stretch>
            <a:fillRect/>
          </a:stretch>
        </p:blipFill>
        <p:spPr>
          <a:xfrm>
            <a:off x="822960" y="3236976"/>
            <a:ext cx="219456" cy="219456"/>
          </a:xfrm>
          <a:prstGeom prst="rect">
            <a:avLst/>
          </a:prstGeom>
        </p:spPr>
      </p:pic>
      <p:sp>
        <p:nvSpPr>
          <p:cNvPr id="13" name="Text 7"/>
          <p:cNvSpPr txBox="1"/>
          <p:nvPr/>
        </p:nvSpPr>
        <p:spPr>
          <a:xfrm>
            <a:off x="1188720" y="3172968"/>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Digital tokens, live position and people ahead</a:t>
            </a:r>
            <a:endParaRPr lang="en-US" sz="1250" dirty="0"/>
          </a:p>
        </p:txBody>
      </p:sp>
      <p:pic>
        <p:nvPicPr>
          <p:cNvPr id="14" name="Image 4" descr="preencoded.png">    </p:cNvPr>
          <p:cNvPicPr>
            <a:picLocks noChangeAspect="1"/>
          </p:cNvPicPr>
          <p:nvPr/>
        </p:nvPicPr>
        <p:blipFill>
          <a:blip r:embed="rId5"/>
          <a:stretch>
            <a:fillRect/>
          </a:stretch>
        </p:blipFill>
        <p:spPr>
          <a:xfrm>
            <a:off x="822960" y="3657600"/>
            <a:ext cx="219456" cy="219456"/>
          </a:xfrm>
          <a:prstGeom prst="rect">
            <a:avLst/>
          </a:prstGeom>
        </p:spPr>
      </p:pic>
      <p:sp>
        <p:nvSpPr>
          <p:cNvPr id="15" name="Text 8"/>
          <p:cNvSpPr txBox="1"/>
          <p:nvPr/>
        </p:nvSpPr>
        <p:spPr>
          <a:xfrm>
            <a:off x="1188720" y="3593592"/>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Estimated wait with traffic multipliers</a:t>
            </a:r>
            <a:endParaRPr lang="en-US" sz="1250" dirty="0"/>
          </a:p>
        </p:txBody>
      </p:sp>
      <p:pic>
        <p:nvPicPr>
          <p:cNvPr id="16" name="Image 5" descr="preencoded.png">    </p:cNvPr>
          <p:cNvPicPr>
            <a:picLocks noChangeAspect="1"/>
          </p:cNvPicPr>
          <p:nvPr/>
        </p:nvPicPr>
        <p:blipFill>
          <a:blip r:embed="rId6"/>
          <a:stretch>
            <a:fillRect/>
          </a:stretch>
        </p:blipFill>
        <p:spPr>
          <a:xfrm>
            <a:off x="822960" y="4078224"/>
            <a:ext cx="219456" cy="219456"/>
          </a:xfrm>
          <a:prstGeom prst="rect">
            <a:avLst/>
          </a:prstGeom>
        </p:spPr>
      </p:pic>
      <p:sp>
        <p:nvSpPr>
          <p:cNvPr id="17" name="Text 9"/>
          <p:cNvSpPr txBox="1"/>
          <p:nvPr/>
        </p:nvSpPr>
        <p:spPr>
          <a:xfrm>
            <a:off x="1188720" y="4014216"/>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SSE realtime updates and in-app notifications</a:t>
            </a:r>
            <a:endParaRPr lang="en-US" sz="1250" dirty="0"/>
          </a:p>
        </p:txBody>
      </p:sp>
      <p:pic>
        <p:nvPicPr>
          <p:cNvPr id="18" name="Image 6" descr="preencoded.png">    </p:cNvPr>
          <p:cNvPicPr>
            <a:picLocks noChangeAspect="1"/>
          </p:cNvPicPr>
          <p:nvPr/>
        </p:nvPicPr>
        <p:blipFill>
          <a:blip r:embed="rId7"/>
          <a:stretch>
            <a:fillRect/>
          </a:stretch>
        </p:blipFill>
        <p:spPr>
          <a:xfrm>
            <a:off x="822960" y="4498848"/>
            <a:ext cx="219456" cy="219456"/>
          </a:xfrm>
          <a:prstGeom prst="rect">
            <a:avLst/>
          </a:prstGeom>
        </p:spPr>
      </p:pic>
      <p:sp>
        <p:nvSpPr>
          <p:cNvPr id="19" name="Text 10"/>
          <p:cNvSpPr txBox="1"/>
          <p:nvPr/>
        </p:nvSpPr>
        <p:spPr>
          <a:xfrm>
            <a:off x="1188720" y="4434840"/>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Priority with reason, queue merging, counter pause/offline</a:t>
            </a:r>
            <a:endParaRPr lang="en-US" sz="1250" dirty="0"/>
          </a:p>
        </p:txBody>
      </p:sp>
      <p:pic>
        <p:nvPicPr>
          <p:cNvPr id="20" name="Image 7" descr="preencoded.png">    </p:cNvPr>
          <p:cNvPicPr>
            <a:picLocks noChangeAspect="1"/>
          </p:cNvPicPr>
          <p:nvPr/>
        </p:nvPicPr>
        <p:blipFill>
          <a:blip r:embed="rId8"/>
          <a:stretch>
            <a:fillRect/>
          </a:stretch>
        </p:blipFill>
        <p:spPr>
          <a:xfrm>
            <a:off x="822960" y="4919472"/>
            <a:ext cx="219456" cy="219456"/>
          </a:xfrm>
          <a:prstGeom prst="rect">
            <a:avLst/>
          </a:prstGeom>
        </p:spPr>
      </p:pic>
      <p:sp>
        <p:nvSpPr>
          <p:cNvPr id="21" name="Text 11"/>
          <p:cNvSpPr txBox="1"/>
          <p:nvPr/>
        </p:nvSpPr>
        <p:spPr>
          <a:xfrm>
            <a:off x="1188720" y="4855464"/>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Optional in-browser camera head-count (TensorFlow.js)</a:t>
            </a:r>
            <a:endParaRPr lang="en-US" sz="1250" dirty="0"/>
          </a:p>
        </p:txBody>
      </p:sp>
      <p:pic>
        <p:nvPicPr>
          <p:cNvPr id="22" name="Image 8" descr="preencoded.png">    </p:cNvPr>
          <p:cNvPicPr>
            <a:picLocks noChangeAspect="1"/>
          </p:cNvPicPr>
          <p:nvPr/>
        </p:nvPicPr>
        <p:blipFill>
          <a:blip r:embed="rId9"/>
          <a:stretch>
            <a:fillRect/>
          </a:stretch>
        </p:blipFill>
        <p:spPr>
          <a:xfrm>
            <a:off x="822960" y="5340096"/>
            <a:ext cx="219456" cy="219456"/>
          </a:xfrm>
          <a:prstGeom prst="rect">
            <a:avLst/>
          </a:prstGeom>
        </p:spPr>
      </p:pic>
      <p:sp>
        <p:nvSpPr>
          <p:cNvPr id="23" name="Text 12"/>
          <p:cNvSpPr txBox="1"/>
          <p:nvPr/>
        </p:nvSpPr>
        <p:spPr>
          <a:xfrm>
            <a:off x="1188720" y="5276088"/>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RBAC, object-level authorization, secure sessions, audit logs</a:t>
            </a:r>
            <a:endParaRPr lang="en-US" sz="1250" dirty="0"/>
          </a:p>
        </p:txBody>
      </p:sp>
      <p:pic>
        <p:nvPicPr>
          <p:cNvPr id="24" name="Image 9" descr="preencoded.png">    </p:cNvPr>
          <p:cNvPicPr>
            <a:picLocks noChangeAspect="1"/>
          </p:cNvPicPr>
          <p:nvPr/>
        </p:nvPicPr>
        <p:blipFill>
          <a:blip r:embed="rId10"/>
          <a:stretch>
            <a:fillRect/>
          </a:stretch>
        </p:blipFill>
        <p:spPr>
          <a:xfrm>
            <a:off x="822960" y="5760720"/>
            <a:ext cx="219456" cy="219456"/>
          </a:xfrm>
          <a:prstGeom prst="rect">
            <a:avLst/>
          </a:prstGeom>
        </p:spPr>
      </p:pic>
      <p:sp>
        <p:nvSpPr>
          <p:cNvPr id="25" name="Text 13"/>
          <p:cNvSpPr txBox="1"/>
          <p:nvPr/>
        </p:nvSpPr>
        <p:spPr>
          <a:xfrm>
            <a:off x="1188720" y="5696712"/>
            <a:ext cx="4983480" cy="347472"/>
          </a:xfrm>
          <a:prstGeom prst="rect">
            <a:avLst/>
          </a:prstGeom>
          <a:noFill/>
          <a:ln/>
        </p:spPr>
        <p:txBody>
          <a:bodyPr wrap="square" lIns="0" tIns="0" rIns="0" bIns="0" rtlCol="0" anchor="ctr"/>
          <a:lstStyle/>
          <a:p>
            <a:pPr algn="l" indent="0" marL="0">
              <a:buNone/>
            </a:pPr>
            <a:r>
              <a:rPr lang="en-US" sz="1250" dirty="0">
                <a:solidFill>
                  <a:srgbClr val="0F172A"/>
                </a:solidFill>
                <a:latin typeface="Calibri" pitchFamily="34" charset="0"/>
                <a:ea typeface="Calibri" pitchFamily="34" charset="-122"/>
                <a:cs typeface="Calibri" pitchFamily="34" charset="-120"/>
              </a:rPr>
              <a:t>Vitest + real MySQL test database, axe-core checks</a:t>
            </a:r>
            <a:endParaRPr lang="en-US" sz="1250" dirty="0"/>
          </a:p>
        </p:txBody>
      </p:sp>
      <p:sp>
        <p:nvSpPr>
          <p:cNvPr id="26" name="Shape 14"/>
          <p:cNvSpPr/>
          <p:nvPr/>
        </p:nvSpPr>
        <p:spPr>
          <a:xfrm>
            <a:off x="6537960" y="1463040"/>
            <a:ext cx="5102352" cy="4709160"/>
          </a:xfrm>
          <a:prstGeom prst="roundRect">
            <a:avLst>
              <a:gd name="adj" fmla="val 3495"/>
            </a:avLst>
          </a:prstGeom>
          <a:solidFill>
            <a:srgbClr val="FFFFFF"/>
          </a:solidFill>
          <a:ln w="15875">
            <a:solidFill>
              <a:srgbClr val="B8BFD0"/>
            </a:solidFill>
            <a:prstDash val="dash"/>
          </a:ln>
        </p:spPr>
      </p:sp>
      <p:sp>
        <p:nvSpPr>
          <p:cNvPr id="27" name="Shape 15"/>
          <p:cNvSpPr/>
          <p:nvPr/>
        </p:nvSpPr>
        <p:spPr>
          <a:xfrm>
            <a:off x="6766560" y="1691640"/>
            <a:ext cx="457200" cy="457200"/>
          </a:xfrm>
          <a:prstGeom prst="roundRect">
            <a:avLst>
              <a:gd name="adj" fmla="val 28000"/>
            </a:avLst>
          </a:prstGeom>
          <a:solidFill>
            <a:srgbClr val="EDE9FE"/>
          </a:solidFill>
          <a:ln/>
        </p:spPr>
      </p:sp>
      <p:pic>
        <p:nvPicPr>
          <p:cNvPr id="28" name="Image 10" descr="preencoded.png">    </p:cNvPr>
          <p:cNvPicPr>
            <a:picLocks noChangeAspect="1"/>
          </p:cNvPicPr>
          <p:nvPr/>
        </p:nvPicPr>
        <p:blipFill>
          <a:blip r:embed="rId11"/>
          <a:stretch>
            <a:fillRect/>
          </a:stretch>
        </p:blipFill>
        <p:spPr>
          <a:xfrm>
            <a:off x="6867144" y="1792224"/>
            <a:ext cx="256032" cy="256032"/>
          </a:xfrm>
          <a:prstGeom prst="rect">
            <a:avLst/>
          </a:prstGeom>
        </p:spPr>
      </p:pic>
      <p:sp>
        <p:nvSpPr>
          <p:cNvPr id="29" name="Text 16"/>
          <p:cNvSpPr txBox="1"/>
          <p:nvPr/>
        </p:nvSpPr>
        <p:spPr>
          <a:xfrm>
            <a:off x="7360920" y="1572768"/>
            <a:ext cx="4114800" cy="365760"/>
          </a:xfrm>
          <a:prstGeom prst="rect">
            <a:avLst/>
          </a:prstGeom>
          <a:noFill/>
          <a:ln/>
        </p:spPr>
        <p:txBody>
          <a:bodyPr wrap="square" lIns="0" tIns="0" rIns="0" bIns="0" rtlCol="0" anchor="ctr"/>
          <a:lstStyle/>
          <a:p>
            <a:pPr algn="l" indent="0" marL="0">
              <a:buNone/>
            </a:pPr>
            <a:r>
              <a:rPr lang="en-US" sz="1600" b="1" dirty="0">
                <a:solidFill>
                  <a:srgbClr val="0F172A"/>
                </a:solidFill>
                <a:latin typeface="Calibri" pitchFamily="34" charset="0"/>
                <a:ea typeface="Calibri" pitchFamily="34" charset="-122"/>
                <a:cs typeface="Calibri" pitchFamily="34" charset="-120"/>
              </a:rPr>
              <a:t>FUTURE SCOPE</a:t>
            </a:r>
            <a:endParaRPr lang="en-US" sz="1600" dirty="0"/>
          </a:p>
        </p:txBody>
      </p:sp>
      <p:sp>
        <p:nvSpPr>
          <p:cNvPr id="30" name="Text 17"/>
          <p:cNvSpPr txBox="1"/>
          <p:nvPr/>
        </p:nvSpPr>
        <p:spPr>
          <a:xfrm>
            <a:off x="7360920" y="1901952"/>
            <a:ext cx="4114800" cy="274320"/>
          </a:xfrm>
          <a:prstGeom prst="rect">
            <a:avLst/>
          </a:prstGeom>
          <a:noFill/>
          <a:ln/>
        </p:spPr>
        <p:txBody>
          <a:bodyPr wrap="square" lIns="0" tIns="0" rIns="0" bIns="0" rtlCol="0" anchor="t"/>
          <a:lstStyle/>
          <a:p>
            <a:pPr algn="l" indent="0" marL="0">
              <a:buNone/>
            </a:pPr>
            <a:r>
              <a:rPr lang="en-US" sz="1100" i="1" dirty="0">
                <a:solidFill>
                  <a:srgbClr val="5B6478"/>
                </a:solidFill>
                <a:latin typeface="Calibri" pitchFamily="34" charset="0"/>
                <a:ea typeface="Calibri" pitchFamily="34" charset="-122"/>
                <a:cs typeface="Calibri" pitchFamily="34" charset="-120"/>
              </a:rPr>
              <a:t>Not yet implemented</a:t>
            </a:r>
            <a:endParaRPr lang="en-US" sz="1100" dirty="0"/>
          </a:p>
        </p:txBody>
      </p:sp>
      <p:sp>
        <p:nvSpPr>
          <p:cNvPr id="31" name="Shape 18"/>
          <p:cNvSpPr/>
          <p:nvPr/>
        </p:nvSpPr>
        <p:spPr>
          <a:xfrm>
            <a:off x="6766560" y="2395728"/>
            <a:ext cx="2240280" cy="438912"/>
          </a:xfrm>
          <a:prstGeom prst="roundRect">
            <a:avLst>
              <a:gd name="adj" fmla="val 20833"/>
            </a:avLst>
          </a:prstGeom>
          <a:solidFill>
            <a:srgbClr val="F3F4F9"/>
          </a:solidFill>
          <a:ln/>
        </p:spPr>
      </p:sp>
      <p:sp>
        <p:nvSpPr>
          <p:cNvPr id="32" name="Text 19"/>
          <p:cNvSpPr txBox="1"/>
          <p:nvPr/>
        </p:nvSpPr>
        <p:spPr>
          <a:xfrm>
            <a:off x="6821424" y="2395728"/>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Email notifications</a:t>
            </a:r>
            <a:endParaRPr lang="en-US" sz="1150" dirty="0"/>
          </a:p>
        </p:txBody>
      </p:sp>
      <p:sp>
        <p:nvSpPr>
          <p:cNvPr id="33" name="Shape 20"/>
          <p:cNvSpPr/>
          <p:nvPr/>
        </p:nvSpPr>
        <p:spPr>
          <a:xfrm>
            <a:off x="9125712" y="2395728"/>
            <a:ext cx="2240280" cy="438912"/>
          </a:xfrm>
          <a:prstGeom prst="roundRect">
            <a:avLst>
              <a:gd name="adj" fmla="val 20833"/>
            </a:avLst>
          </a:prstGeom>
          <a:solidFill>
            <a:srgbClr val="F3F4F9"/>
          </a:solidFill>
          <a:ln/>
        </p:spPr>
      </p:sp>
      <p:sp>
        <p:nvSpPr>
          <p:cNvPr id="34" name="Text 21"/>
          <p:cNvSpPr txBox="1"/>
          <p:nvPr/>
        </p:nvSpPr>
        <p:spPr>
          <a:xfrm>
            <a:off x="9180576" y="2395728"/>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SMS notifications</a:t>
            </a:r>
            <a:endParaRPr lang="en-US" sz="1150" dirty="0"/>
          </a:p>
        </p:txBody>
      </p:sp>
      <p:sp>
        <p:nvSpPr>
          <p:cNvPr id="35" name="Shape 22"/>
          <p:cNvSpPr/>
          <p:nvPr/>
        </p:nvSpPr>
        <p:spPr>
          <a:xfrm>
            <a:off x="6766560" y="2999232"/>
            <a:ext cx="2240280" cy="438912"/>
          </a:xfrm>
          <a:prstGeom prst="roundRect">
            <a:avLst>
              <a:gd name="adj" fmla="val 20833"/>
            </a:avLst>
          </a:prstGeom>
          <a:solidFill>
            <a:srgbClr val="F3F4F9"/>
          </a:solidFill>
          <a:ln/>
        </p:spPr>
      </p:sp>
      <p:sp>
        <p:nvSpPr>
          <p:cNvPr id="36" name="Text 23"/>
          <p:cNvSpPr txBox="1"/>
          <p:nvPr/>
        </p:nvSpPr>
        <p:spPr>
          <a:xfrm>
            <a:off x="6821424" y="2999232"/>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Self-service password reset</a:t>
            </a:r>
            <a:endParaRPr lang="en-US" sz="1150" dirty="0"/>
          </a:p>
        </p:txBody>
      </p:sp>
      <p:sp>
        <p:nvSpPr>
          <p:cNvPr id="37" name="Shape 24"/>
          <p:cNvSpPr/>
          <p:nvPr/>
        </p:nvSpPr>
        <p:spPr>
          <a:xfrm>
            <a:off x="9125712" y="2999232"/>
            <a:ext cx="2240280" cy="438912"/>
          </a:xfrm>
          <a:prstGeom prst="roundRect">
            <a:avLst>
              <a:gd name="adj" fmla="val 20833"/>
            </a:avLst>
          </a:prstGeom>
          <a:solidFill>
            <a:srgbClr val="F3F4F9"/>
          </a:solidFill>
          <a:ln/>
        </p:spPr>
      </p:sp>
      <p:sp>
        <p:nvSpPr>
          <p:cNvPr id="38" name="Text 25"/>
          <p:cNvSpPr txBox="1"/>
          <p:nvPr/>
        </p:nvSpPr>
        <p:spPr>
          <a:xfrm>
            <a:off x="9180576" y="2999232"/>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Single sign-on (SSO)</a:t>
            </a:r>
            <a:endParaRPr lang="en-US" sz="1150" dirty="0"/>
          </a:p>
        </p:txBody>
      </p:sp>
      <p:sp>
        <p:nvSpPr>
          <p:cNvPr id="39" name="Shape 26"/>
          <p:cNvSpPr/>
          <p:nvPr/>
        </p:nvSpPr>
        <p:spPr>
          <a:xfrm>
            <a:off x="6766560" y="3602736"/>
            <a:ext cx="2240280" cy="438912"/>
          </a:xfrm>
          <a:prstGeom prst="roundRect">
            <a:avLst>
              <a:gd name="adj" fmla="val 20833"/>
            </a:avLst>
          </a:prstGeom>
          <a:solidFill>
            <a:srgbClr val="F3F4F9"/>
          </a:solidFill>
          <a:ln/>
        </p:spPr>
      </p:sp>
      <p:sp>
        <p:nvSpPr>
          <p:cNvPr id="40" name="Text 27"/>
          <p:cNvSpPr txBox="1"/>
          <p:nvPr/>
        </p:nvSpPr>
        <p:spPr>
          <a:xfrm>
            <a:off x="6821424" y="3602736"/>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Admin multi-factor authentication</a:t>
            </a:r>
            <a:endParaRPr lang="en-US" sz="1150" dirty="0"/>
          </a:p>
        </p:txBody>
      </p:sp>
      <p:sp>
        <p:nvSpPr>
          <p:cNvPr id="41" name="Shape 28"/>
          <p:cNvSpPr/>
          <p:nvPr/>
        </p:nvSpPr>
        <p:spPr>
          <a:xfrm>
            <a:off x="9125712" y="3602736"/>
            <a:ext cx="2240280" cy="438912"/>
          </a:xfrm>
          <a:prstGeom prst="roundRect">
            <a:avLst>
              <a:gd name="adj" fmla="val 20833"/>
            </a:avLst>
          </a:prstGeom>
          <a:solidFill>
            <a:srgbClr val="F3F4F9"/>
          </a:solidFill>
          <a:ln/>
        </p:spPr>
      </p:sp>
      <p:sp>
        <p:nvSpPr>
          <p:cNvPr id="42" name="Text 29"/>
          <p:cNvSpPr txBox="1"/>
          <p:nvPr/>
        </p:nvSpPr>
        <p:spPr>
          <a:xfrm>
            <a:off x="9180576" y="3602736"/>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Redis-based multi-instance realtime</a:t>
            </a:r>
            <a:endParaRPr lang="en-US" sz="1150" dirty="0"/>
          </a:p>
        </p:txBody>
      </p:sp>
      <p:sp>
        <p:nvSpPr>
          <p:cNvPr id="43" name="Shape 30"/>
          <p:cNvSpPr/>
          <p:nvPr/>
        </p:nvSpPr>
        <p:spPr>
          <a:xfrm>
            <a:off x="6766560" y="4206240"/>
            <a:ext cx="2240280" cy="438912"/>
          </a:xfrm>
          <a:prstGeom prst="roundRect">
            <a:avLst>
              <a:gd name="adj" fmla="val 20833"/>
            </a:avLst>
          </a:prstGeom>
          <a:solidFill>
            <a:srgbClr val="F3F4F9"/>
          </a:solidFill>
          <a:ln/>
        </p:spPr>
      </p:sp>
      <p:sp>
        <p:nvSpPr>
          <p:cNvPr id="44" name="Text 31"/>
          <p:cNvSpPr txBox="1"/>
          <p:nvPr/>
        </p:nvSpPr>
        <p:spPr>
          <a:xfrm>
            <a:off x="6821424" y="4206240"/>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Historical queue forecasting</a:t>
            </a:r>
            <a:endParaRPr lang="en-US" sz="1150" dirty="0"/>
          </a:p>
        </p:txBody>
      </p:sp>
      <p:sp>
        <p:nvSpPr>
          <p:cNvPr id="45" name="Shape 32"/>
          <p:cNvSpPr/>
          <p:nvPr/>
        </p:nvSpPr>
        <p:spPr>
          <a:xfrm>
            <a:off x="9125712" y="4206240"/>
            <a:ext cx="2240280" cy="438912"/>
          </a:xfrm>
          <a:prstGeom prst="roundRect">
            <a:avLst>
              <a:gd name="adj" fmla="val 20833"/>
            </a:avLst>
          </a:prstGeom>
          <a:solidFill>
            <a:srgbClr val="F3F4F9"/>
          </a:solidFill>
          <a:ln/>
        </p:spPr>
      </p:sp>
      <p:sp>
        <p:nvSpPr>
          <p:cNvPr id="46" name="Text 33"/>
          <p:cNvSpPr txBox="1"/>
          <p:nvPr/>
        </p:nvSpPr>
        <p:spPr>
          <a:xfrm>
            <a:off x="9180576" y="4206240"/>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Kiosk mode</a:t>
            </a:r>
            <a:endParaRPr lang="en-US" sz="1150" dirty="0"/>
          </a:p>
        </p:txBody>
      </p:sp>
      <p:sp>
        <p:nvSpPr>
          <p:cNvPr id="47" name="Shape 34"/>
          <p:cNvSpPr/>
          <p:nvPr/>
        </p:nvSpPr>
        <p:spPr>
          <a:xfrm>
            <a:off x="6766560" y="4809744"/>
            <a:ext cx="2240280" cy="438912"/>
          </a:xfrm>
          <a:prstGeom prst="roundRect">
            <a:avLst>
              <a:gd name="adj" fmla="val 20833"/>
            </a:avLst>
          </a:prstGeom>
          <a:solidFill>
            <a:srgbClr val="F3F4F9"/>
          </a:solidFill>
          <a:ln/>
        </p:spPr>
      </p:sp>
      <p:sp>
        <p:nvSpPr>
          <p:cNvPr id="48" name="Text 35"/>
          <p:cNvSpPr txBox="1"/>
          <p:nvPr/>
        </p:nvSpPr>
        <p:spPr>
          <a:xfrm>
            <a:off x="6821424" y="4809744"/>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QR check-in</a:t>
            </a:r>
            <a:endParaRPr lang="en-US" sz="1150" dirty="0"/>
          </a:p>
        </p:txBody>
      </p:sp>
      <p:sp>
        <p:nvSpPr>
          <p:cNvPr id="49" name="Shape 36"/>
          <p:cNvSpPr/>
          <p:nvPr/>
        </p:nvSpPr>
        <p:spPr>
          <a:xfrm>
            <a:off x="9125712" y="4809744"/>
            <a:ext cx="2240280" cy="438912"/>
          </a:xfrm>
          <a:prstGeom prst="roundRect">
            <a:avLst>
              <a:gd name="adj" fmla="val 20833"/>
            </a:avLst>
          </a:prstGeom>
          <a:solidFill>
            <a:srgbClr val="F3F4F9"/>
          </a:solidFill>
          <a:ln/>
        </p:spPr>
      </p:sp>
      <p:sp>
        <p:nvSpPr>
          <p:cNvPr id="50" name="Text 37"/>
          <p:cNvSpPr txBox="1"/>
          <p:nvPr/>
        </p:nvSpPr>
        <p:spPr>
          <a:xfrm>
            <a:off x="9180576" y="4809744"/>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Dark mode</a:t>
            </a:r>
            <a:endParaRPr lang="en-US" sz="1150" dirty="0"/>
          </a:p>
        </p:txBody>
      </p:sp>
      <p:sp>
        <p:nvSpPr>
          <p:cNvPr id="51" name="Shape 38"/>
          <p:cNvSpPr/>
          <p:nvPr/>
        </p:nvSpPr>
        <p:spPr>
          <a:xfrm>
            <a:off x="6766560" y="5413248"/>
            <a:ext cx="2240280" cy="438912"/>
          </a:xfrm>
          <a:prstGeom prst="roundRect">
            <a:avLst>
              <a:gd name="adj" fmla="val 20833"/>
            </a:avLst>
          </a:prstGeom>
          <a:solidFill>
            <a:srgbClr val="F3F4F9"/>
          </a:solidFill>
          <a:ln/>
        </p:spPr>
      </p:sp>
      <p:sp>
        <p:nvSpPr>
          <p:cNvPr id="52" name="Text 39"/>
          <p:cNvSpPr txBox="1"/>
          <p:nvPr/>
        </p:nvSpPr>
        <p:spPr>
          <a:xfrm>
            <a:off x="6821424" y="5413248"/>
            <a:ext cx="2130552" cy="438912"/>
          </a:xfrm>
          <a:prstGeom prst="rect">
            <a:avLst/>
          </a:prstGeom>
          <a:noFill/>
          <a:ln/>
        </p:spPr>
        <p:txBody>
          <a:bodyPr wrap="square" lIns="0" tIns="0" rIns="0" bIns="0" rtlCol="0" anchor="ctr"/>
          <a:lstStyle/>
          <a:p>
            <a:pPr algn="ctr" indent="0" marL="0">
              <a:buNone/>
            </a:pPr>
            <a:r>
              <a:rPr lang="en-US" sz="1150" dirty="0">
                <a:solidFill>
                  <a:srgbClr val="334155"/>
                </a:solidFill>
                <a:latin typeface="Calibri" pitchFamily="34" charset="0"/>
                <a:ea typeface="Calibri" pitchFamily="34" charset="-122"/>
                <a:cs typeface="Calibri" pitchFamily="34" charset="-120"/>
              </a:rPr>
              <a:t>More advanced analytics</a:t>
            </a:r>
            <a:endParaRPr lang="en-US" sz="1150" dirty="0"/>
          </a:p>
        </p:txBody>
      </p:sp>
      <p:sp>
        <p:nvSpPr>
          <p:cNvPr id="53" name="Text 40"/>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54" name="Text 41"/>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APPENDIX B  ·  VIVA PREPARATION (1/4)</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Likely Examiner Questions</a:t>
            </a:r>
            <a:endParaRPr lang="en-US" sz="3000" dirty="0"/>
          </a:p>
        </p:txBody>
      </p:sp>
      <p:sp>
        <p:nvSpPr>
          <p:cNvPr id="4" name="Shape 2"/>
          <p:cNvSpPr/>
          <p:nvPr/>
        </p:nvSpPr>
        <p:spPr>
          <a:xfrm>
            <a:off x="548640" y="1417320"/>
            <a:ext cx="5449824" cy="1097280"/>
          </a:xfrm>
          <a:prstGeom prst="roundRect">
            <a:avLst>
              <a:gd name="adj" fmla="val 10000"/>
            </a:avLst>
          </a:prstGeom>
          <a:solidFill>
            <a:srgbClr val="F3F4F9"/>
          </a:solidFill>
          <a:ln/>
        </p:spPr>
      </p:sp>
      <p:sp>
        <p:nvSpPr>
          <p:cNvPr id="5" name="Text 3"/>
          <p:cNvSpPr txBox="1"/>
          <p:nvPr/>
        </p:nvSpPr>
        <p:spPr>
          <a:xfrm>
            <a:off x="731520"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 What problem does QueueSense solve?</a:t>
            </a:r>
            <a:endParaRPr lang="en-US" sz="1200" dirty="0"/>
          </a:p>
        </p:txBody>
      </p:sp>
      <p:sp>
        <p:nvSpPr>
          <p:cNvPr id="6" name="Text 4"/>
          <p:cNvSpPr txBox="1"/>
          <p:nvPr/>
        </p:nvSpPr>
        <p:spPr>
          <a:xfrm>
            <a:off x="731520"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Students wait in physical lines with no visibility of position or wait time, and staff lack a complete view of the queue. QueueSense replaces the physical line with a shared, real-time digital queue.</a:t>
            </a:r>
            <a:endParaRPr lang="en-US" sz="1050" dirty="0"/>
          </a:p>
        </p:txBody>
      </p:sp>
      <p:sp>
        <p:nvSpPr>
          <p:cNvPr id="7" name="Shape 5"/>
          <p:cNvSpPr/>
          <p:nvPr/>
        </p:nvSpPr>
        <p:spPr>
          <a:xfrm>
            <a:off x="548640" y="2633472"/>
            <a:ext cx="5449824" cy="1097280"/>
          </a:xfrm>
          <a:prstGeom prst="roundRect">
            <a:avLst>
              <a:gd name="adj" fmla="val 10000"/>
            </a:avLst>
          </a:prstGeom>
          <a:solidFill>
            <a:srgbClr val="F3F4F9"/>
          </a:solidFill>
          <a:ln/>
        </p:spPr>
      </p:sp>
      <p:sp>
        <p:nvSpPr>
          <p:cNvPr id="8" name="Text 6"/>
          <p:cNvSpPr txBox="1"/>
          <p:nvPr/>
        </p:nvSpPr>
        <p:spPr>
          <a:xfrm>
            <a:off x="731520"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 Why is a digital queue better than a physical queue?</a:t>
            </a:r>
            <a:endParaRPr lang="en-US" sz="1200" dirty="0"/>
          </a:p>
        </p:txBody>
      </p:sp>
      <p:sp>
        <p:nvSpPr>
          <p:cNvPr id="9" name="Text 7"/>
          <p:cNvSpPr txBox="1"/>
          <p:nvPr/>
        </p:nvSpPr>
        <p:spPr>
          <a:xfrm>
            <a:off x="731520"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Students keep their place without standing there, see live position and an estimated wait, and are notified when almost next and when called. Staff get one authoritative view of every counter.</a:t>
            </a:r>
            <a:endParaRPr lang="en-US" sz="1050" dirty="0"/>
          </a:p>
        </p:txBody>
      </p:sp>
      <p:sp>
        <p:nvSpPr>
          <p:cNvPr id="10" name="Shape 8"/>
          <p:cNvSpPr/>
          <p:nvPr/>
        </p:nvSpPr>
        <p:spPr>
          <a:xfrm>
            <a:off x="548640" y="3849624"/>
            <a:ext cx="5449824" cy="1097280"/>
          </a:xfrm>
          <a:prstGeom prst="roundRect">
            <a:avLst>
              <a:gd name="adj" fmla="val 10000"/>
            </a:avLst>
          </a:prstGeom>
          <a:solidFill>
            <a:srgbClr val="F3F4F9"/>
          </a:solidFill>
          <a:ln/>
        </p:spPr>
      </p:sp>
      <p:sp>
        <p:nvSpPr>
          <p:cNvPr id="11" name="Text 9"/>
          <p:cNvSpPr txBox="1"/>
          <p:nvPr/>
        </p:nvSpPr>
        <p:spPr>
          <a:xfrm>
            <a:off x="731520"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Q3. Why did you use React?</a:t>
            </a:r>
            <a:endParaRPr lang="en-US" sz="1200" dirty="0"/>
          </a:p>
        </p:txBody>
      </p:sp>
      <p:sp>
        <p:nvSpPr>
          <p:cNvPr id="12" name="Text 10"/>
          <p:cNvSpPr txBox="1"/>
          <p:nvPr/>
        </p:nvSpPr>
        <p:spPr>
          <a:xfrm>
            <a:off x="731520"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React's component model suits a UI built from repeated pieces — tickets, queue rows, counter cards — and its ecosystem (TanStack Query, Radix UI) handles server state and accessible dialogs well.</a:t>
            </a:r>
            <a:endParaRPr lang="en-US" sz="1050" dirty="0"/>
          </a:p>
        </p:txBody>
      </p:sp>
      <p:sp>
        <p:nvSpPr>
          <p:cNvPr id="13" name="Shape 11"/>
          <p:cNvSpPr/>
          <p:nvPr/>
        </p:nvSpPr>
        <p:spPr>
          <a:xfrm>
            <a:off x="548640" y="5065776"/>
            <a:ext cx="5449824" cy="1097280"/>
          </a:xfrm>
          <a:prstGeom prst="roundRect">
            <a:avLst>
              <a:gd name="adj" fmla="val 10000"/>
            </a:avLst>
          </a:prstGeom>
          <a:solidFill>
            <a:srgbClr val="F3F4F9"/>
          </a:solidFill>
          <a:ln/>
        </p:spPr>
      </p:sp>
      <p:sp>
        <p:nvSpPr>
          <p:cNvPr id="14" name="Text 12"/>
          <p:cNvSpPr txBox="1"/>
          <p:nvPr/>
        </p:nvSpPr>
        <p:spPr>
          <a:xfrm>
            <a:off x="731520"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Q4. Why TypeScript?</a:t>
            </a:r>
            <a:endParaRPr lang="en-US" sz="1200" dirty="0"/>
          </a:p>
        </p:txBody>
      </p:sp>
      <p:sp>
        <p:nvSpPr>
          <p:cNvPr id="15" name="Text 13"/>
          <p:cNvSpPr txBox="1"/>
          <p:nvPr/>
        </p:nvSpPr>
        <p:spPr>
          <a:xfrm>
            <a:off x="731520"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Static types catch mistakes at compile time and, combined with tRPC, share one set of types between server and client, so an API change breaks the build instead of production.</a:t>
            </a:r>
            <a:endParaRPr lang="en-US" sz="1050" dirty="0"/>
          </a:p>
        </p:txBody>
      </p:sp>
      <p:sp>
        <p:nvSpPr>
          <p:cNvPr id="16" name="Shape 14"/>
          <p:cNvSpPr/>
          <p:nvPr/>
        </p:nvSpPr>
        <p:spPr>
          <a:xfrm>
            <a:off x="6190488" y="1417320"/>
            <a:ext cx="5449824" cy="1097280"/>
          </a:xfrm>
          <a:prstGeom prst="roundRect">
            <a:avLst>
              <a:gd name="adj" fmla="val 10000"/>
            </a:avLst>
          </a:prstGeom>
          <a:solidFill>
            <a:srgbClr val="F3F4F9"/>
          </a:solidFill>
          <a:ln/>
        </p:spPr>
      </p:sp>
      <p:sp>
        <p:nvSpPr>
          <p:cNvPr id="17" name="Text 15"/>
          <p:cNvSpPr txBox="1"/>
          <p:nvPr/>
        </p:nvSpPr>
        <p:spPr>
          <a:xfrm>
            <a:off x="6373368"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Q5. Why tRPC?</a:t>
            </a:r>
            <a:endParaRPr lang="en-US" sz="1200" dirty="0"/>
          </a:p>
        </p:txBody>
      </p:sp>
      <p:sp>
        <p:nvSpPr>
          <p:cNvPr id="18" name="Text 16"/>
          <p:cNvSpPr txBox="1"/>
          <p:nvPr/>
        </p:nvSpPr>
        <p:spPr>
          <a:xfrm>
            <a:off x="6373368"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tRPC gives end-to-end type safety without writing a separate REST contract. Procedures are validated with Zod on the server and called like typed functions from the React client.</a:t>
            </a:r>
            <a:endParaRPr lang="en-US" sz="1050" dirty="0"/>
          </a:p>
        </p:txBody>
      </p:sp>
      <p:sp>
        <p:nvSpPr>
          <p:cNvPr id="19" name="Shape 17"/>
          <p:cNvSpPr/>
          <p:nvPr/>
        </p:nvSpPr>
        <p:spPr>
          <a:xfrm>
            <a:off x="6190488" y="2633472"/>
            <a:ext cx="5449824" cy="1097280"/>
          </a:xfrm>
          <a:prstGeom prst="roundRect">
            <a:avLst>
              <a:gd name="adj" fmla="val 10000"/>
            </a:avLst>
          </a:prstGeom>
          <a:solidFill>
            <a:srgbClr val="F3F4F9"/>
          </a:solidFill>
          <a:ln/>
        </p:spPr>
      </p:sp>
      <p:sp>
        <p:nvSpPr>
          <p:cNvPr id="20" name="Text 18"/>
          <p:cNvSpPr txBox="1"/>
          <p:nvPr/>
        </p:nvSpPr>
        <p:spPr>
          <a:xfrm>
            <a:off x="6373368"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Q6. Why MySQL?</a:t>
            </a:r>
            <a:endParaRPr lang="en-US" sz="1200" dirty="0"/>
          </a:p>
        </p:txBody>
      </p:sp>
      <p:sp>
        <p:nvSpPr>
          <p:cNvPr id="21" name="Text 19"/>
          <p:cNvSpPr txBox="1"/>
          <p:nvPr/>
        </p:nvSpPr>
        <p:spPr>
          <a:xfrm>
            <a:off x="6373368"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Queue data is highly relational (services, groups, counters, entries, users). MySQL 8 offers transactions, foreign keys, unique and CHECK constraints to enforce integrity in the database itself.</a:t>
            </a:r>
            <a:endParaRPr lang="en-US" sz="1050" dirty="0"/>
          </a:p>
        </p:txBody>
      </p:sp>
      <p:sp>
        <p:nvSpPr>
          <p:cNvPr id="22" name="Shape 20"/>
          <p:cNvSpPr/>
          <p:nvPr/>
        </p:nvSpPr>
        <p:spPr>
          <a:xfrm>
            <a:off x="6190488" y="3849624"/>
            <a:ext cx="5449824" cy="1097280"/>
          </a:xfrm>
          <a:prstGeom prst="roundRect">
            <a:avLst>
              <a:gd name="adj" fmla="val 10000"/>
            </a:avLst>
          </a:prstGeom>
          <a:solidFill>
            <a:srgbClr val="F3F4F9"/>
          </a:solidFill>
          <a:ln/>
        </p:spPr>
      </p:sp>
      <p:sp>
        <p:nvSpPr>
          <p:cNvPr id="23" name="Text 21"/>
          <p:cNvSpPr txBox="1"/>
          <p:nvPr/>
        </p:nvSpPr>
        <p:spPr>
          <a:xfrm>
            <a:off x="6373368"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Q7. Why Drizzle ORM?</a:t>
            </a:r>
            <a:endParaRPr lang="en-US" sz="1200" dirty="0"/>
          </a:p>
        </p:txBody>
      </p:sp>
      <p:sp>
        <p:nvSpPr>
          <p:cNvPr id="24" name="Text 22"/>
          <p:cNvSpPr txBox="1"/>
          <p:nvPr/>
        </p:nvSpPr>
        <p:spPr>
          <a:xfrm>
            <a:off x="6373368"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Drizzle defines the schema in TypeScript, produces typed queries that stay close to SQL, and drizzle-kit manages migrations — lightweight, with no heavy runtime abstraction.</a:t>
            </a:r>
            <a:endParaRPr lang="en-US" sz="1050" dirty="0"/>
          </a:p>
        </p:txBody>
      </p:sp>
      <p:sp>
        <p:nvSpPr>
          <p:cNvPr id="25" name="Shape 23"/>
          <p:cNvSpPr/>
          <p:nvPr/>
        </p:nvSpPr>
        <p:spPr>
          <a:xfrm>
            <a:off x="6190488" y="5065776"/>
            <a:ext cx="5449824" cy="1097280"/>
          </a:xfrm>
          <a:prstGeom prst="roundRect">
            <a:avLst>
              <a:gd name="adj" fmla="val 10000"/>
            </a:avLst>
          </a:prstGeom>
          <a:solidFill>
            <a:srgbClr val="F3F4F9"/>
          </a:solidFill>
          <a:ln/>
        </p:spPr>
      </p:sp>
      <p:sp>
        <p:nvSpPr>
          <p:cNvPr id="26" name="Text 24"/>
          <p:cNvSpPr txBox="1"/>
          <p:nvPr/>
        </p:nvSpPr>
        <p:spPr>
          <a:xfrm>
            <a:off x="6373368"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Q8. Why use Server-Sent Events?</a:t>
            </a:r>
            <a:endParaRPr lang="en-US" sz="1200" dirty="0"/>
          </a:p>
        </p:txBody>
      </p:sp>
      <p:sp>
        <p:nvSpPr>
          <p:cNvPr id="27" name="Text 25"/>
          <p:cNvSpPr txBox="1"/>
          <p:nvPr/>
        </p:nvSpPr>
        <p:spPr>
          <a:xfrm>
            <a:off x="6373368"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Queue updates flow mostly from server to client. SSE streams those events over plain HTTP, reconnects automatically in the browser, and works with the existing cookie-based session.</a:t>
            </a:r>
            <a:endParaRPr lang="en-US" sz="1050" dirty="0"/>
          </a:p>
        </p:txBody>
      </p:sp>
      <p:sp>
        <p:nvSpPr>
          <p:cNvPr id="28" name="Text 26"/>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29" name="Text 27"/>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B1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APPENDIX B  ·  VIVA PREPARATION (2/4)</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Likely Examiner Questions</a:t>
            </a:r>
            <a:endParaRPr lang="en-US" sz="3000" dirty="0"/>
          </a:p>
        </p:txBody>
      </p:sp>
      <p:sp>
        <p:nvSpPr>
          <p:cNvPr id="4" name="Shape 2"/>
          <p:cNvSpPr/>
          <p:nvPr/>
        </p:nvSpPr>
        <p:spPr>
          <a:xfrm>
            <a:off x="548640" y="1417320"/>
            <a:ext cx="5449824" cy="1097280"/>
          </a:xfrm>
          <a:prstGeom prst="roundRect">
            <a:avLst>
              <a:gd name="adj" fmla="val 10000"/>
            </a:avLst>
          </a:prstGeom>
          <a:solidFill>
            <a:srgbClr val="F3F4F9"/>
          </a:solidFill>
          <a:ln/>
        </p:spPr>
      </p:sp>
      <p:sp>
        <p:nvSpPr>
          <p:cNvPr id="5" name="Text 3"/>
          <p:cNvSpPr txBox="1"/>
          <p:nvPr/>
        </p:nvSpPr>
        <p:spPr>
          <a:xfrm>
            <a:off x="731520"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Q9. Why not WebSockets?</a:t>
            </a:r>
            <a:endParaRPr lang="en-US" sz="1200" dirty="0"/>
          </a:p>
        </p:txBody>
      </p:sp>
      <p:sp>
        <p:nvSpPr>
          <p:cNvPr id="6" name="Text 4"/>
          <p:cNvSpPr txBox="1"/>
          <p:nvPr/>
        </p:nvSpPr>
        <p:spPr>
          <a:xfrm>
            <a:off x="731520"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WebSockets are bidirectional, which we don't need: client actions already go through tRPC requests. SSE is simpler to operate and secure for one-way updates. WebSockets remain an option if needs change.</a:t>
            </a:r>
            <a:endParaRPr lang="en-US" sz="1050" dirty="0"/>
          </a:p>
        </p:txBody>
      </p:sp>
      <p:sp>
        <p:nvSpPr>
          <p:cNvPr id="7" name="Shape 5"/>
          <p:cNvSpPr/>
          <p:nvPr/>
        </p:nvSpPr>
        <p:spPr>
          <a:xfrm>
            <a:off x="548640" y="2633472"/>
            <a:ext cx="5449824" cy="1097280"/>
          </a:xfrm>
          <a:prstGeom prst="roundRect">
            <a:avLst>
              <a:gd name="adj" fmla="val 10000"/>
            </a:avLst>
          </a:prstGeom>
          <a:solidFill>
            <a:srgbClr val="F3F4F9"/>
          </a:solidFill>
          <a:ln/>
        </p:spPr>
      </p:sp>
      <p:sp>
        <p:nvSpPr>
          <p:cNvPr id="8" name="Text 6"/>
          <p:cNvSpPr txBox="1"/>
          <p:nvPr/>
        </p:nvSpPr>
        <p:spPr>
          <a:xfrm>
            <a:off x="731520"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Q10. How is estimated waiting time calculated?</a:t>
            </a:r>
            <a:endParaRPr lang="en-US" sz="1200" dirty="0"/>
          </a:p>
        </p:txBody>
      </p:sp>
      <p:sp>
        <p:nvSpPr>
          <p:cNvPr id="9" name="Text 7"/>
          <p:cNvSpPr txBox="1"/>
          <p:nvPr/>
        </p:nvSpPr>
        <p:spPr>
          <a:xfrm>
            <a:off x="731520"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(People ahead ÷ batch size) × service time × traffic multiplier + remaining current service + staff delay. Service time can blend with observed durations once enough history exists.</a:t>
            </a:r>
            <a:endParaRPr lang="en-US" sz="1050" dirty="0"/>
          </a:p>
        </p:txBody>
      </p:sp>
      <p:sp>
        <p:nvSpPr>
          <p:cNvPr id="10" name="Shape 8"/>
          <p:cNvSpPr/>
          <p:nvPr/>
        </p:nvSpPr>
        <p:spPr>
          <a:xfrm>
            <a:off x="548640" y="3849624"/>
            <a:ext cx="5449824" cy="1097280"/>
          </a:xfrm>
          <a:prstGeom prst="roundRect">
            <a:avLst>
              <a:gd name="adj" fmla="val 10000"/>
            </a:avLst>
          </a:prstGeom>
          <a:solidFill>
            <a:srgbClr val="F3F4F9"/>
          </a:solidFill>
          <a:ln/>
        </p:spPr>
      </p:sp>
      <p:sp>
        <p:nvSpPr>
          <p:cNvPr id="11" name="Text 9"/>
          <p:cNvSpPr txBox="1"/>
          <p:nvPr/>
        </p:nvSpPr>
        <p:spPr>
          <a:xfrm>
            <a:off x="731520"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Q11. What happens when traffic changes?</a:t>
            </a:r>
            <a:endParaRPr lang="en-US" sz="1200" dirty="0"/>
          </a:p>
        </p:txBody>
      </p:sp>
      <p:sp>
        <p:nvSpPr>
          <p:cNvPr id="12" name="Text 10"/>
          <p:cNvSpPr txBox="1"/>
          <p:nvPr/>
        </p:nvSpPr>
        <p:spPr>
          <a:xfrm>
            <a:off x="731520"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set Normal (1.0), Moderate (1.25) or Heavy (1.5) with a reason. Estimates are recalculated and students can see the explanation, e.g. “Wait up about 7 min: Printer jam”.</a:t>
            </a:r>
            <a:endParaRPr lang="en-US" sz="1050" dirty="0"/>
          </a:p>
        </p:txBody>
      </p:sp>
      <p:sp>
        <p:nvSpPr>
          <p:cNvPr id="13" name="Shape 11"/>
          <p:cNvSpPr/>
          <p:nvPr/>
        </p:nvSpPr>
        <p:spPr>
          <a:xfrm>
            <a:off x="548640" y="5065776"/>
            <a:ext cx="5449824" cy="1097280"/>
          </a:xfrm>
          <a:prstGeom prst="roundRect">
            <a:avLst>
              <a:gd name="adj" fmla="val 10000"/>
            </a:avLst>
          </a:prstGeom>
          <a:solidFill>
            <a:srgbClr val="F3F4F9"/>
          </a:solidFill>
          <a:ln/>
        </p:spPr>
      </p:sp>
      <p:sp>
        <p:nvSpPr>
          <p:cNvPr id="14" name="Text 12"/>
          <p:cNvSpPr txBox="1"/>
          <p:nvPr/>
        </p:nvSpPr>
        <p:spPr>
          <a:xfrm>
            <a:off x="731520"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Q12. How does priority work?</a:t>
            </a:r>
            <a:endParaRPr lang="en-US" sz="1200" dirty="0"/>
          </a:p>
        </p:txBody>
      </p:sp>
      <p:sp>
        <p:nvSpPr>
          <p:cNvPr id="15" name="Text 13"/>
          <p:cNvSpPr txBox="1"/>
          <p:nvPr/>
        </p:nvSpPr>
        <p:spPr>
          <a:xfrm>
            <a:off x="731520"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assign priority with a mandatory reason. The operation and its queue impact are recorded for audit, positions are recalculated by the queue rules, and affected students see their updated status.</a:t>
            </a:r>
            <a:endParaRPr lang="en-US" sz="1050" dirty="0"/>
          </a:p>
        </p:txBody>
      </p:sp>
      <p:sp>
        <p:nvSpPr>
          <p:cNvPr id="16" name="Shape 14"/>
          <p:cNvSpPr/>
          <p:nvPr/>
        </p:nvSpPr>
        <p:spPr>
          <a:xfrm>
            <a:off x="6190488" y="1417320"/>
            <a:ext cx="5449824" cy="1097280"/>
          </a:xfrm>
          <a:prstGeom prst="roundRect">
            <a:avLst>
              <a:gd name="adj" fmla="val 10000"/>
            </a:avLst>
          </a:prstGeom>
          <a:solidFill>
            <a:srgbClr val="F3F4F9"/>
          </a:solidFill>
          <a:ln/>
        </p:spPr>
      </p:sp>
      <p:sp>
        <p:nvSpPr>
          <p:cNvPr id="17" name="Text 15"/>
          <p:cNvSpPr txBox="1"/>
          <p:nvPr/>
        </p:nvSpPr>
        <p:spPr>
          <a:xfrm>
            <a:off x="6373368"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Q13. How does queue merging work?</a:t>
            </a:r>
            <a:endParaRPr lang="en-US" sz="1200" dirty="0"/>
          </a:p>
        </p:txBody>
      </p:sp>
      <p:sp>
        <p:nvSpPr>
          <p:cNvPr id="18" name="Text 16"/>
          <p:cNvSpPr txBox="1"/>
          <p:nvPr/>
        </p:nvSpPr>
        <p:spPr>
          <a:xfrm>
            <a:off x="6373368"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merge a secondary queue into a target queue with a reason. Existing entries are moved and preserved — not deleted — and ordering continuity is maintained.</a:t>
            </a:r>
            <a:endParaRPr lang="en-US" sz="1050" dirty="0"/>
          </a:p>
        </p:txBody>
      </p:sp>
      <p:sp>
        <p:nvSpPr>
          <p:cNvPr id="19" name="Shape 17"/>
          <p:cNvSpPr/>
          <p:nvPr/>
        </p:nvSpPr>
        <p:spPr>
          <a:xfrm>
            <a:off x="6190488" y="2633472"/>
            <a:ext cx="5449824" cy="1097280"/>
          </a:xfrm>
          <a:prstGeom prst="roundRect">
            <a:avLst>
              <a:gd name="adj" fmla="val 10000"/>
            </a:avLst>
          </a:prstGeom>
          <a:solidFill>
            <a:srgbClr val="F3F4F9"/>
          </a:solidFill>
          <a:ln/>
        </p:spPr>
      </p:sp>
      <p:sp>
        <p:nvSpPr>
          <p:cNvPr id="20" name="Text 18"/>
          <p:cNvSpPr txBox="1"/>
          <p:nvPr/>
        </p:nvSpPr>
        <p:spPr>
          <a:xfrm>
            <a:off x="6373368"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Q14. How do you prevent unauthorized users from accessing staff functions?</a:t>
            </a:r>
            <a:endParaRPr lang="en-US" sz="1200" dirty="0"/>
          </a:p>
        </p:txBody>
      </p:sp>
      <p:sp>
        <p:nvSpPr>
          <p:cNvPr id="21" name="Text 19"/>
          <p:cNvSpPr txBox="1"/>
          <p:nvPr/>
        </p:nvSpPr>
        <p:spPr>
          <a:xfrm>
            <a:off x="6373368"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Every protected procedure checks the session and role on the backend, plus object-level access. Hiding buttons is only a convenience; the server rejects unauthorized calls regardless of the UI.</a:t>
            </a:r>
            <a:endParaRPr lang="en-US" sz="1050" dirty="0"/>
          </a:p>
        </p:txBody>
      </p:sp>
      <p:sp>
        <p:nvSpPr>
          <p:cNvPr id="22" name="Shape 20"/>
          <p:cNvSpPr/>
          <p:nvPr/>
        </p:nvSpPr>
        <p:spPr>
          <a:xfrm>
            <a:off x="6190488" y="3849624"/>
            <a:ext cx="5449824" cy="1097280"/>
          </a:xfrm>
          <a:prstGeom prst="roundRect">
            <a:avLst>
              <a:gd name="adj" fmla="val 10000"/>
            </a:avLst>
          </a:prstGeom>
          <a:solidFill>
            <a:srgbClr val="F3F4F9"/>
          </a:solidFill>
          <a:ln/>
        </p:spPr>
      </p:sp>
      <p:sp>
        <p:nvSpPr>
          <p:cNvPr id="23" name="Text 21"/>
          <p:cNvSpPr txBox="1"/>
          <p:nvPr/>
        </p:nvSpPr>
        <p:spPr>
          <a:xfrm>
            <a:off x="6373368"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Q15. What is RBAC?</a:t>
            </a:r>
            <a:endParaRPr lang="en-US" sz="1200" dirty="0"/>
          </a:p>
        </p:txBody>
      </p:sp>
      <p:sp>
        <p:nvSpPr>
          <p:cNvPr id="24" name="Text 22"/>
          <p:cNvSpPr txBox="1"/>
          <p:nvPr/>
        </p:nvSpPr>
        <p:spPr>
          <a:xfrm>
            <a:off x="6373368"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Role-Based Access Control: permissions are granted to roles (Student, Staff, Admin) rather than individuals, and each operation declares which roles may perform it.</a:t>
            </a:r>
            <a:endParaRPr lang="en-US" sz="1050" dirty="0"/>
          </a:p>
        </p:txBody>
      </p:sp>
      <p:sp>
        <p:nvSpPr>
          <p:cNvPr id="25" name="Shape 23"/>
          <p:cNvSpPr/>
          <p:nvPr/>
        </p:nvSpPr>
        <p:spPr>
          <a:xfrm>
            <a:off x="6190488" y="5065776"/>
            <a:ext cx="5449824" cy="1097280"/>
          </a:xfrm>
          <a:prstGeom prst="roundRect">
            <a:avLst>
              <a:gd name="adj" fmla="val 10000"/>
            </a:avLst>
          </a:prstGeom>
          <a:solidFill>
            <a:srgbClr val="F3F4F9"/>
          </a:solidFill>
          <a:ln/>
        </p:spPr>
      </p:sp>
      <p:sp>
        <p:nvSpPr>
          <p:cNvPr id="26" name="Text 24"/>
          <p:cNvSpPr txBox="1"/>
          <p:nvPr/>
        </p:nvSpPr>
        <p:spPr>
          <a:xfrm>
            <a:off x="6373368"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Q16. What is object-level authorization?</a:t>
            </a:r>
            <a:endParaRPr lang="en-US" sz="1200" dirty="0"/>
          </a:p>
        </p:txBody>
      </p:sp>
      <p:sp>
        <p:nvSpPr>
          <p:cNvPr id="27" name="Text 25"/>
          <p:cNvSpPr txBox="1"/>
          <p:nvPr/>
        </p:nvSpPr>
        <p:spPr>
          <a:xfrm>
            <a:off x="6373368"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Checking access to the specific resource, not just the role — e.g. a staff member can only operate counters assigned to them, and a student can only act on their own queue entries.</a:t>
            </a:r>
            <a:endParaRPr lang="en-US" sz="1050" dirty="0"/>
          </a:p>
        </p:txBody>
      </p:sp>
      <p:sp>
        <p:nvSpPr>
          <p:cNvPr id="28" name="Text 26"/>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29" name="Text 27"/>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B2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APPENDIX B  ·  VIVA PREPARATION (3/4)</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Likely Examiner Questions</a:t>
            </a:r>
            <a:endParaRPr lang="en-US" sz="3000" dirty="0"/>
          </a:p>
        </p:txBody>
      </p:sp>
      <p:sp>
        <p:nvSpPr>
          <p:cNvPr id="4" name="Shape 2"/>
          <p:cNvSpPr/>
          <p:nvPr/>
        </p:nvSpPr>
        <p:spPr>
          <a:xfrm>
            <a:off x="548640" y="1417320"/>
            <a:ext cx="5449824" cy="1097280"/>
          </a:xfrm>
          <a:prstGeom prst="roundRect">
            <a:avLst>
              <a:gd name="adj" fmla="val 10000"/>
            </a:avLst>
          </a:prstGeom>
          <a:solidFill>
            <a:srgbClr val="F3F4F9"/>
          </a:solidFill>
          <a:ln/>
        </p:spPr>
      </p:sp>
      <p:sp>
        <p:nvSpPr>
          <p:cNvPr id="5" name="Text 3"/>
          <p:cNvSpPr txBox="1"/>
          <p:nvPr/>
        </p:nvSpPr>
        <p:spPr>
          <a:xfrm>
            <a:off x="731520"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Q17. How are passwords protected?</a:t>
            </a:r>
            <a:endParaRPr lang="en-US" sz="1200" dirty="0"/>
          </a:p>
        </p:txBody>
      </p:sp>
      <p:sp>
        <p:nvSpPr>
          <p:cNvPr id="6" name="Text 4"/>
          <p:cNvSpPr txBox="1"/>
          <p:nvPr/>
        </p:nvSpPr>
        <p:spPr>
          <a:xfrm>
            <a:off x="731520"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Passwords are hashed with scrypt, a memory-hard key-derivation function, so plain-text passwords are never stored. Session and code digests use HMAC-SHA256.</a:t>
            </a:r>
            <a:endParaRPr lang="en-US" sz="1050" dirty="0"/>
          </a:p>
        </p:txBody>
      </p:sp>
      <p:sp>
        <p:nvSpPr>
          <p:cNvPr id="7" name="Shape 5"/>
          <p:cNvSpPr/>
          <p:nvPr/>
        </p:nvSpPr>
        <p:spPr>
          <a:xfrm>
            <a:off x="548640" y="2633472"/>
            <a:ext cx="5449824" cy="1097280"/>
          </a:xfrm>
          <a:prstGeom prst="roundRect">
            <a:avLst>
              <a:gd name="adj" fmla="val 10000"/>
            </a:avLst>
          </a:prstGeom>
          <a:solidFill>
            <a:srgbClr val="F3F4F9"/>
          </a:solidFill>
          <a:ln/>
        </p:spPr>
      </p:sp>
      <p:sp>
        <p:nvSpPr>
          <p:cNvPr id="8" name="Text 6"/>
          <p:cNvSpPr txBox="1"/>
          <p:nvPr/>
        </p:nvSpPr>
        <p:spPr>
          <a:xfrm>
            <a:off x="731520"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Q18. How does the camera feature work?</a:t>
            </a:r>
            <a:endParaRPr lang="en-US" sz="1200" dirty="0"/>
          </a:p>
        </p:txBody>
      </p:sp>
      <p:sp>
        <p:nvSpPr>
          <p:cNvPr id="9" name="Text 7"/>
          <p:cNvSpPr txBox="1"/>
          <p:nvPr/>
        </p:nvSpPr>
        <p:spPr>
          <a:xfrm>
            <a:off x="731520"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TensorFlow.js runs the COCO-SSD model (lite_mobilenet_v2) locally in the browser to count people in view. Only a periodic aggregate head-count is sent to the backend as one traffic input.</a:t>
            </a:r>
            <a:endParaRPr lang="en-US" sz="1050" dirty="0"/>
          </a:p>
        </p:txBody>
      </p:sp>
      <p:sp>
        <p:nvSpPr>
          <p:cNvPr id="10" name="Shape 8"/>
          <p:cNvSpPr/>
          <p:nvPr/>
        </p:nvSpPr>
        <p:spPr>
          <a:xfrm>
            <a:off x="548640" y="3849624"/>
            <a:ext cx="5449824" cy="1097280"/>
          </a:xfrm>
          <a:prstGeom prst="roundRect">
            <a:avLst>
              <a:gd name="adj" fmla="val 10000"/>
            </a:avLst>
          </a:prstGeom>
          <a:solidFill>
            <a:srgbClr val="F3F4F9"/>
          </a:solidFill>
          <a:ln/>
        </p:spPr>
      </p:sp>
      <p:sp>
        <p:nvSpPr>
          <p:cNvPr id="11" name="Text 9"/>
          <p:cNvSpPr txBox="1"/>
          <p:nvPr/>
        </p:nvSpPr>
        <p:spPr>
          <a:xfrm>
            <a:off x="731520"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Q19. Is facial recognition used?</a:t>
            </a:r>
            <a:endParaRPr lang="en-US" sz="1200" dirty="0"/>
          </a:p>
        </p:txBody>
      </p:sp>
      <p:sp>
        <p:nvSpPr>
          <p:cNvPr id="12" name="Text 10"/>
          <p:cNvSpPr txBox="1"/>
          <p:nvPr/>
        </p:nvSpPr>
        <p:spPr>
          <a:xfrm>
            <a:off x="731520"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No. Detections are filtered to the “person” class and only counted. There is no face recognition, no identification and no matching of people to queue tokens.</a:t>
            </a:r>
            <a:endParaRPr lang="en-US" sz="1050" dirty="0"/>
          </a:p>
        </p:txBody>
      </p:sp>
      <p:sp>
        <p:nvSpPr>
          <p:cNvPr id="13" name="Shape 11"/>
          <p:cNvSpPr/>
          <p:nvPr/>
        </p:nvSpPr>
        <p:spPr>
          <a:xfrm>
            <a:off x="548640" y="5065776"/>
            <a:ext cx="5449824" cy="1097280"/>
          </a:xfrm>
          <a:prstGeom prst="roundRect">
            <a:avLst>
              <a:gd name="adj" fmla="val 10000"/>
            </a:avLst>
          </a:prstGeom>
          <a:solidFill>
            <a:srgbClr val="F3F4F9"/>
          </a:solidFill>
          <a:ln/>
        </p:spPr>
      </p:sp>
      <p:sp>
        <p:nvSpPr>
          <p:cNvPr id="14" name="Text 12"/>
          <p:cNvSpPr txBox="1"/>
          <p:nvPr/>
        </p:nvSpPr>
        <p:spPr>
          <a:xfrm>
            <a:off x="731520"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Q20. Is raw video stored?</a:t>
            </a:r>
            <a:endParaRPr lang="en-US" sz="1200" dirty="0"/>
          </a:p>
        </p:txBody>
      </p:sp>
      <p:sp>
        <p:nvSpPr>
          <p:cNvPr id="15" name="Text 13"/>
          <p:cNvSpPr txBox="1"/>
          <p:nvPr/>
        </p:nvSpPr>
        <p:spPr>
          <a:xfrm>
            <a:off x="731520"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No. Frames are processed in the browser and discarded. Only an aggregate number is sent to the server.</a:t>
            </a:r>
            <a:endParaRPr lang="en-US" sz="1050" dirty="0"/>
          </a:p>
        </p:txBody>
      </p:sp>
      <p:sp>
        <p:nvSpPr>
          <p:cNvPr id="16" name="Shape 14"/>
          <p:cNvSpPr/>
          <p:nvPr/>
        </p:nvSpPr>
        <p:spPr>
          <a:xfrm>
            <a:off x="6190488" y="1417320"/>
            <a:ext cx="5449824" cy="1097280"/>
          </a:xfrm>
          <a:prstGeom prst="roundRect">
            <a:avLst>
              <a:gd name="adj" fmla="val 10000"/>
            </a:avLst>
          </a:prstGeom>
          <a:solidFill>
            <a:srgbClr val="F3F4F9"/>
          </a:solidFill>
          <a:ln/>
        </p:spPr>
      </p:sp>
      <p:sp>
        <p:nvSpPr>
          <p:cNvPr id="17" name="Text 15"/>
          <p:cNvSpPr txBox="1"/>
          <p:nvPr/>
        </p:nvSpPr>
        <p:spPr>
          <a:xfrm>
            <a:off x="6373368"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Q21. Does the system control the elevator?</a:t>
            </a:r>
            <a:endParaRPr lang="en-US" sz="1200" dirty="0"/>
          </a:p>
        </p:txBody>
      </p:sp>
      <p:sp>
        <p:nvSpPr>
          <p:cNvPr id="18" name="Text 16"/>
          <p:cNvSpPr txBox="1"/>
          <p:nvPr/>
        </p:nvSpPr>
        <p:spPr>
          <a:xfrm>
            <a:off x="6373368"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No. QueueSense provides a virtual boarding queue and traffic estimation for the lift. It does not physically control elevators.</a:t>
            </a:r>
            <a:endParaRPr lang="en-US" sz="1050" dirty="0"/>
          </a:p>
        </p:txBody>
      </p:sp>
      <p:sp>
        <p:nvSpPr>
          <p:cNvPr id="19" name="Shape 17"/>
          <p:cNvSpPr/>
          <p:nvPr/>
        </p:nvSpPr>
        <p:spPr>
          <a:xfrm>
            <a:off x="6190488" y="2633472"/>
            <a:ext cx="5449824" cy="1097280"/>
          </a:xfrm>
          <a:prstGeom prst="roundRect">
            <a:avLst>
              <a:gd name="adj" fmla="val 10000"/>
            </a:avLst>
          </a:prstGeom>
          <a:solidFill>
            <a:srgbClr val="F3F4F9"/>
          </a:solidFill>
          <a:ln/>
        </p:spPr>
      </p:sp>
      <p:sp>
        <p:nvSpPr>
          <p:cNvPr id="20" name="Text 18"/>
          <p:cNvSpPr txBox="1"/>
          <p:nvPr/>
        </p:nvSpPr>
        <p:spPr>
          <a:xfrm>
            <a:off x="6373368"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Q22. Does the cafeteria feature order food?</a:t>
            </a:r>
            <a:endParaRPr lang="en-US" sz="1200" dirty="0"/>
          </a:p>
        </p:txBody>
      </p:sp>
      <p:sp>
        <p:nvSpPr>
          <p:cNvPr id="21" name="Text 19"/>
          <p:cNvSpPr txBox="1"/>
          <p:nvPr/>
        </p:nvSpPr>
        <p:spPr>
          <a:xfrm>
            <a:off x="6373368"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No. It reserves the student's place in the cafeteria line and shows their position. It is place-in-line management, not food ordering.</a:t>
            </a:r>
            <a:endParaRPr lang="en-US" sz="1050" dirty="0"/>
          </a:p>
        </p:txBody>
      </p:sp>
      <p:sp>
        <p:nvSpPr>
          <p:cNvPr id="22" name="Shape 20"/>
          <p:cNvSpPr/>
          <p:nvPr/>
        </p:nvSpPr>
        <p:spPr>
          <a:xfrm>
            <a:off x="6190488" y="3849624"/>
            <a:ext cx="5449824" cy="1097280"/>
          </a:xfrm>
          <a:prstGeom prst="roundRect">
            <a:avLst>
              <a:gd name="adj" fmla="val 10000"/>
            </a:avLst>
          </a:prstGeom>
          <a:solidFill>
            <a:srgbClr val="F3F4F9"/>
          </a:solidFill>
          <a:ln/>
        </p:spPr>
      </p:sp>
      <p:sp>
        <p:nvSpPr>
          <p:cNvPr id="23" name="Text 21"/>
          <p:cNvSpPr txBox="1"/>
          <p:nvPr/>
        </p:nvSpPr>
        <p:spPr>
          <a:xfrm>
            <a:off x="6373368"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Q23. What happens if a counter becomes unavailable?</a:t>
            </a:r>
            <a:endParaRPr lang="en-US" sz="1200" dirty="0"/>
          </a:p>
        </p:txBody>
      </p:sp>
      <p:sp>
        <p:nvSpPr>
          <p:cNvPr id="24" name="Text 22"/>
          <p:cNvSpPr txBox="1"/>
          <p:nvPr/>
        </p:nvSpPr>
        <p:spPr>
          <a:xfrm>
            <a:off x="6373368"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mark the counter Paused or Offline. The change is communicated through the queue system so students are not silently stranded; the “Any Open Counter” option exists where applicable.</a:t>
            </a:r>
            <a:endParaRPr lang="en-US" sz="1050" dirty="0"/>
          </a:p>
        </p:txBody>
      </p:sp>
      <p:sp>
        <p:nvSpPr>
          <p:cNvPr id="25" name="Shape 23"/>
          <p:cNvSpPr/>
          <p:nvPr/>
        </p:nvSpPr>
        <p:spPr>
          <a:xfrm>
            <a:off x="6190488" y="5065776"/>
            <a:ext cx="5449824" cy="1097280"/>
          </a:xfrm>
          <a:prstGeom prst="roundRect">
            <a:avLst>
              <a:gd name="adj" fmla="val 10000"/>
            </a:avLst>
          </a:prstGeom>
          <a:solidFill>
            <a:srgbClr val="F3F4F9"/>
          </a:solidFill>
          <a:ln/>
        </p:spPr>
      </p:sp>
      <p:sp>
        <p:nvSpPr>
          <p:cNvPr id="26" name="Text 24"/>
          <p:cNvSpPr txBox="1"/>
          <p:nvPr/>
        </p:nvSpPr>
        <p:spPr>
          <a:xfrm>
            <a:off x="6373368"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Q24. What happens when a student is called?</a:t>
            </a:r>
            <a:endParaRPr lang="en-US" sz="1200" dirty="0"/>
          </a:p>
        </p:txBody>
      </p:sp>
      <p:sp>
        <p:nvSpPr>
          <p:cNvPr id="27" name="Text 25"/>
          <p:cNvSpPr txBox="1"/>
          <p:nvPr/>
        </p:nvSpPr>
        <p:spPr>
          <a:xfrm>
            <a:off x="6373368"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press Call Next, the server changes the entry to CALLED and emits an SSE event. The ticket turns yellow with “Go to Report Counter A now” and a toast notification appears.</a:t>
            </a:r>
            <a:endParaRPr lang="en-US" sz="1050" dirty="0"/>
          </a:p>
        </p:txBody>
      </p:sp>
      <p:sp>
        <p:nvSpPr>
          <p:cNvPr id="28" name="Text 26"/>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29" name="Text 27"/>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B3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56032"/>
          </a:xfrm>
          <a:prstGeom prst="rect">
            <a:avLst/>
          </a:prstGeom>
          <a:noFill/>
          <a:ln/>
        </p:spPr>
        <p:txBody>
          <a:bodyPr wrap="square" lIns="0" tIns="0" rIns="0" bIns="0" rtlCol="0" anchor="t"/>
          <a:lstStyle/>
          <a:p>
            <a:pPr algn="l" indent="0" marL="0">
              <a:buNone/>
            </a:pPr>
            <a:r>
              <a:rPr lang="en-US" sz="1100" b="1" spc="300" kern="0" dirty="0">
                <a:solidFill>
                  <a:srgbClr val="6D28D9"/>
                </a:solidFill>
                <a:latin typeface="Calibri" pitchFamily="34" charset="0"/>
                <a:ea typeface="Calibri" pitchFamily="34" charset="-122"/>
                <a:cs typeface="Calibri" pitchFamily="34" charset="-120"/>
              </a:rPr>
              <a:t>APPENDIX B  ·  VIVA PREPARATION (4/4)</a:t>
            </a:r>
            <a:endParaRPr lang="en-US" sz="1100" dirty="0"/>
          </a:p>
        </p:txBody>
      </p:sp>
      <p:sp>
        <p:nvSpPr>
          <p:cNvPr id="3" name="Text 1"/>
          <p:cNvSpPr txBox="1"/>
          <p:nvPr/>
        </p:nvSpPr>
        <p:spPr>
          <a:xfrm>
            <a:off x="548640" y="621792"/>
            <a:ext cx="11064240" cy="566928"/>
          </a:xfrm>
          <a:prstGeom prst="rect">
            <a:avLst/>
          </a:prstGeom>
          <a:noFill/>
          <a:ln/>
        </p:spPr>
        <p:txBody>
          <a:bodyPr wrap="square" lIns="0" tIns="0" rIns="0" bIns="0" rtlCol="0" anchor="t"/>
          <a:lstStyle/>
          <a:p>
            <a:pPr algn="l" indent="0" marL="0">
              <a:buNone/>
            </a:pPr>
            <a:r>
              <a:rPr lang="en-US" sz="3000" b="1" dirty="0">
                <a:solidFill>
                  <a:srgbClr val="0F172A"/>
                </a:solidFill>
                <a:latin typeface="Calibri" pitchFamily="34" charset="0"/>
                <a:ea typeface="Calibri" pitchFamily="34" charset="-122"/>
                <a:cs typeface="Calibri" pitchFamily="34" charset="-120"/>
              </a:rPr>
              <a:t>Likely Examiner Questions</a:t>
            </a:r>
            <a:endParaRPr lang="en-US" sz="3000" dirty="0"/>
          </a:p>
        </p:txBody>
      </p:sp>
      <p:sp>
        <p:nvSpPr>
          <p:cNvPr id="4" name="Shape 2"/>
          <p:cNvSpPr/>
          <p:nvPr/>
        </p:nvSpPr>
        <p:spPr>
          <a:xfrm>
            <a:off x="548640" y="1417320"/>
            <a:ext cx="5449824" cy="1097280"/>
          </a:xfrm>
          <a:prstGeom prst="roundRect">
            <a:avLst>
              <a:gd name="adj" fmla="val 10000"/>
            </a:avLst>
          </a:prstGeom>
          <a:solidFill>
            <a:srgbClr val="F3F4F9"/>
          </a:solidFill>
          <a:ln/>
        </p:spPr>
      </p:sp>
      <p:sp>
        <p:nvSpPr>
          <p:cNvPr id="5" name="Text 3"/>
          <p:cNvSpPr txBox="1"/>
          <p:nvPr/>
        </p:nvSpPr>
        <p:spPr>
          <a:xfrm>
            <a:off x="731520"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Q25. What happens if a student does not show up?</a:t>
            </a:r>
            <a:endParaRPr lang="en-US" sz="1200" dirty="0"/>
          </a:p>
        </p:txBody>
      </p:sp>
      <p:sp>
        <p:nvSpPr>
          <p:cNvPr id="6" name="Text 4"/>
          <p:cNvSpPr txBox="1"/>
          <p:nvPr/>
        </p:nvSpPr>
        <p:spPr>
          <a:xfrm>
            <a:off x="731520"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Staff use Skip to mark the no-show, and the queue moves on to the next student. The action is part of the recorded queue history.</a:t>
            </a:r>
            <a:endParaRPr lang="en-US" sz="1050" dirty="0"/>
          </a:p>
        </p:txBody>
      </p:sp>
      <p:sp>
        <p:nvSpPr>
          <p:cNvPr id="7" name="Shape 5"/>
          <p:cNvSpPr/>
          <p:nvPr/>
        </p:nvSpPr>
        <p:spPr>
          <a:xfrm>
            <a:off x="548640" y="2633472"/>
            <a:ext cx="5449824" cy="1097280"/>
          </a:xfrm>
          <a:prstGeom prst="roundRect">
            <a:avLst>
              <a:gd name="adj" fmla="val 10000"/>
            </a:avLst>
          </a:prstGeom>
          <a:solidFill>
            <a:srgbClr val="F3F4F9"/>
          </a:solidFill>
          <a:ln/>
        </p:spPr>
      </p:sp>
      <p:sp>
        <p:nvSpPr>
          <p:cNvPr id="8" name="Text 6"/>
          <p:cNvSpPr txBox="1"/>
          <p:nvPr/>
        </p:nvSpPr>
        <p:spPr>
          <a:xfrm>
            <a:off x="731520"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Q26. How does realtime synchronization work?</a:t>
            </a:r>
            <a:endParaRPr lang="en-US" sz="1200" dirty="0"/>
          </a:p>
        </p:txBody>
      </p:sp>
      <p:sp>
        <p:nvSpPr>
          <p:cNvPr id="9" name="Text 7"/>
          <p:cNvSpPr txBox="1"/>
          <p:nvPr/>
        </p:nvSpPr>
        <p:spPr>
          <a:xfrm>
            <a:off x="731520"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State changes happen on the server first. The server then publishes events over SSE to connected clients, which update their views from the authoritative server state.</a:t>
            </a:r>
            <a:endParaRPr lang="en-US" sz="1050" dirty="0"/>
          </a:p>
        </p:txBody>
      </p:sp>
      <p:sp>
        <p:nvSpPr>
          <p:cNvPr id="10" name="Shape 8"/>
          <p:cNvSpPr/>
          <p:nvPr/>
        </p:nvSpPr>
        <p:spPr>
          <a:xfrm>
            <a:off x="548640" y="3849624"/>
            <a:ext cx="5449824" cy="1097280"/>
          </a:xfrm>
          <a:prstGeom prst="roundRect">
            <a:avLst>
              <a:gd name="adj" fmla="val 10000"/>
            </a:avLst>
          </a:prstGeom>
          <a:solidFill>
            <a:srgbClr val="F3F4F9"/>
          </a:solidFill>
          <a:ln/>
        </p:spPr>
      </p:sp>
      <p:sp>
        <p:nvSpPr>
          <p:cNvPr id="11" name="Text 9"/>
          <p:cNvSpPr txBox="1"/>
          <p:nvPr/>
        </p:nvSpPr>
        <p:spPr>
          <a:xfrm>
            <a:off x="731520"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Q27. What is the role of SSE?</a:t>
            </a:r>
            <a:endParaRPr lang="en-US" sz="1200" dirty="0"/>
          </a:p>
        </p:txBody>
      </p:sp>
      <p:sp>
        <p:nvSpPr>
          <p:cNvPr id="12" name="Text 10"/>
          <p:cNvSpPr txBox="1"/>
          <p:nvPr/>
        </p:nvSpPr>
        <p:spPr>
          <a:xfrm>
            <a:off x="731520"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SSE is the delivery channel for live updates: new entries, position changes, called/serving/completed transitions, traffic changes and notifications — without page refreshes.</a:t>
            </a:r>
            <a:endParaRPr lang="en-US" sz="1050" dirty="0"/>
          </a:p>
        </p:txBody>
      </p:sp>
      <p:sp>
        <p:nvSpPr>
          <p:cNvPr id="13" name="Shape 11"/>
          <p:cNvSpPr/>
          <p:nvPr/>
        </p:nvSpPr>
        <p:spPr>
          <a:xfrm>
            <a:off x="548640" y="5065776"/>
            <a:ext cx="5449824" cy="1097280"/>
          </a:xfrm>
          <a:prstGeom prst="roundRect">
            <a:avLst>
              <a:gd name="adj" fmla="val 10000"/>
            </a:avLst>
          </a:prstGeom>
          <a:solidFill>
            <a:srgbClr val="F3F4F9"/>
          </a:solidFill>
          <a:ln/>
        </p:spPr>
      </p:sp>
      <p:sp>
        <p:nvSpPr>
          <p:cNvPr id="14" name="Text 12"/>
          <p:cNvSpPr txBox="1"/>
          <p:nvPr/>
        </p:nvSpPr>
        <p:spPr>
          <a:xfrm>
            <a:off x="731520"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Q28. What if the network connection temporarily fails?</a:t>
            </a:r>
            <a:endParaRPr lang="en-US" sz="1200" dirty="0"/>
          </a:p>
        </p:txBody>
      </p:sp>
      <p:sp>
        <p:nvSpPr>
          <p:cNvPr id="15" name="Text 13"/>
          <p:cNvSpPr txBox="1"/>
          <p:nvPr/>
        </p:nvSpPr>
        <p:spPr>
          <a:xfrm>
            <a:off x="731520"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The student's place is stored on the server, so a dropped connection doesn't lose it. The browser's SSE client reconnects, and the UI reloads current state from the server.</a:t>
            </a:r>
            <a:endParaRPr lang="en-US" sz="1050" dirty="0"/>
          </a:p>
        </p:txBody>
      </p:sp>
      <p:sp>
        <p:nvSpPr>
          <p:cNvPr id="16" name="Shape 14"/>
          <p:cNvSpPr/>
          <p:nvPr/>
        </p:nvSpPr>
        <p:spPr>
          <a:xfrm>
            <a:off x="6190488" y="1417320"/>
            <a:ext cx="5449824" cy="1097280"/>
          </a:xfrm>
          <a:prstGeom prst="roundRect">
            <a:avLst>
              <a:gd name="adj" fmla="val 10000"/>
            </a:avLst>
          </a:prstGeom>
          <a:solidFill>
            <a:srgbClr val="F3F4F9"/>
          </a:solidFill>
          <a:ln/>
        </p:spPr>
      </p:sp>
      <p:sp>
        <p:nvSpPr>
          <p:cNvPr id="17" name="Text 15"/>
          <p:cNvSpPr txBox="1"/>
          <p:nvPr/>
        </p:nvSpPr>
        <p:spPr>
          <a:xfrm>
            <a:off x="6373368" y="1508760"/>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Q29. How is the queue state kept consistent?</a:t>
            </a:r>
            <a:endParaRPr lang="en-US" sz="1200" dirty="0"/>
          </a:p>
        </p:txBody>
      </p:sp>
      <p:sp>
        <p:nvSpPr>
          <p:cNvPr id="18" name="Text 16"/>
          <p:cNvSpPr txBox="1"/>
          <p:nvPr/>
        </p:nvSpPr>
        <p:spPr>
          <a:xfrm>
            <a:off x="6373368" y="1801368"/>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The server is authoritative, queue operations run transactionally, and MySQL constraints (foreign keys, unique, CHECK) reject invalid states. Zod validates every input.</a:t>
            </a:r>
            <a:endParaRPr lang="en-US" sz="1050" dirty="0"/>
          </a:p>
        </p:txBody>
      </p:sp>
      <p:sp>
        <p:nvSpPr>
          <p:cNvPr id="19" name="Shape 17"/>
          <p:cNvSpPr/>
          <p:nvPr/>
        </p:nvSpPr>
        <p:spPr>
          <a:xfrm>
            <a:off x="6190488" y="2633472"/>
            <a:ext cx="5449824" cy="1097280"/>
          </a:xfrm>
          <a:prstGeom prst="roundRect">
            <a:avLst>
              <a:gd name="adj" fmla="val 10000"/>
            </a:avLst>
          </a:prstGeom>
          <a:solidFill>
            <a:srgbClr val="F3F4F9"/>
          </a:solidFill>
          <a:ln/>
        </p:spPr>
      </p:sp>
      <p:sp>
        <p:nvSpPr>
          <p:cNvPr id="20" name="Text 18"/>
          <p:cNvSpPr txBox="1"/>
          <p:nvPr/>
        </p:nvSpPr>
        <p:spPr>
          <a:xfrm>
            <a:off x="6373368" y="2724912"/>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Q30. How would you scale this to multiple servers?</a:t>
            </a:r>
            <a:endParaRPr lang="en-US" sz="1200" dirty="0"/>
          </a:p>
        </p:txBody>
      </p:sp>
      <p:sp>
        <p:nvSpPr>
          <p:cNvPr id="21" name="Text 19"/>
          <p:cNvSpPr txBox="1"/>
          <p:nvPr/>
        </p:nvSpPr>
        <p:spPr>
          <a:xfrm>
            <a:off x="6373368" y="3017520"/>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MySQL stays the source of truth. Realtime needs a shared pub/sub layer, e.g. Redis (future scope), so an event raised on one instance reaches SSE clients connected to any instance.</a:t>
            </a:r>
            <a:endParaRPr lang="en-US" sz="1050" dirty="0"/>
          </a:p>
        </p:txBody>
      </p:sp>
      <p:sp>
        <p:nvSpPr>
          <p:cNvPr id="22" name="Shape 20"/>
          <p:cNvSpPr/>
          <p:nvPr/>
        </p:nvSpPr>
        <p:spPr>
          <a:xfrm>
            <a:off x="6190488" y="3849624"/>
            <a:ext cx="5449824" cy="1097280"/>
          </a:xfrm>
          <a:prstGeom prst="roundRect">
            <a:avLst>
              <a:gd name="adj" fmla="val 10000"/>
            </a:avLst>
          </a:prstGeom>
          <a:solidFill>
            <a:srgbClr val="F3F4F9"/>
          </a:solidFill>
          <a:ln/>
        </p:spPr>
      </p:sp>
      <p:sp>
        <p:nvSpPr>
          <p:cNvPr id="23" name="Text 21"/>
          <p:cNvSpPr txBox="1"/>
          <p:nvPr/>
        </p:nvSpPr>
        <p:spPr>
          <a:xfrm>
            <a:off x="6373368" y="3941064"/>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Q31. What are the limitations of the current system?</a:t>
            </a:r>
            <a:endParaRPr lang="en-US" sz="1200" dirty="0"/>
          </a:p>
        </p:txBody>
      </p:sp>
      <p:sp>
        <p:nvSpPr>
          <p:cNvPr id="24" name="Text 22"/>
          <p:cNvSpPr txBox="1"/>
          <p:nvPr/>
        </p:nvSpPr>
        <p:spPr>
          <a:xfrm>
            <a:off x="6373368" y="4233672"/>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Wait times are estimates; realtime is single-instance; camera counts are approximate; there is no email/SMS, SSO, MFA or self-service password reset yet.</a:t>
            </a:r>
            <a:endParaRPr lang="en-US" sz="1050" dirty="0"/>
          </a:p>
        </p:txBody>
      </p:sp>
      <p:sp>
        <p:nvSpPr>
          <p:cNvPr id="25" name="Shape 23"/>
          <p:cNvSpPr/>
          <p:nvPr/>
        </p:nvSpPr>
        <p:spPr>
          <a:xfrm>
            <a:off x="6190488" y="5065776"/>
            <a:ext cx="5449824" cy="1097280"/>
          </a:xfrm>
          <a:prstGeom prst="roundRect">
            <a:avLst>
              <a:gd name="adj" fmla="val 10000"/>
            </a:avLst>
          </a:prstGeom>
          <a:solidFill>
            <a:srgbClr val="F3F4F9"/>
          </a:solidFill>
          <a:ln/>
        </p:spPr>
      </p:sp>
      <p:sp>
        <p:nvSpPr>
          <p:cNvPr id="26" name="Text 24"/>
          <p:cNvSpPr txBox="1"/>
          <p:nvPr/>
        </p:nvSpPr>
        <p:spPr>
          <a:xfrm>
            <a:off x="6373368" y="5157216"/>
            <a:ext cx="5084064" cy="274320"/>
          </a:xfrm>
          <a:prstGeom prst="rect">
            <a:avLst/>
          </a:prstGeom>
          <a:noFill/>
          <a:ln/>
        </p:spPr>
        <p:txBody>
          <a:bodyPr wrap="square" lIns="0" tIns="0" rIns="0" bIns="0" rtlCol="0" anchor="t"/>
          <a:lstStyle/>
          <a:p>
            <a:pPr algn="l" indent="0" marL="0">
              <a:buNone/>
            </a:pPr>
            <a:r>
              <a:rPr lang="en-US" sz="1200" b="1" dirty="0">
                <a:solidFill>
                  <a:srgbClr val="4C1D95"/>
                </a:solidFill>
                <a:latin typeface="Calibri" pitchFamily="34" charset="0"/>
                <a:ea typeface="Calibri" pitchFamily="34" charset="-122"/>
                <a:cs typeface="Calibri" pitchFamily="34" charset="-120"/>
              </a:rPr>
              <a:t>Q32. What future features could be added?</a:t>
            </a:r>
            <a:endParaRPr lang="en-US" sz="1200" dirty="0"/>
          </a:p>
        </p:txBody>
      </p:sp>
      <p:sp>
        <p:nvSpPr>
          <p:cNvPr id="27" name="Text 25"/>
          <p:cNvSpPr txBox="1"/>
          <p:nvPr/>
        </p:nvSpPr>
        <p:spPr>
          <a:xfrm>
            <a:off x="6373368" y="5449824"/>
            <a:ext cx="5084064" cy="658368"/>
          </a:xfrm>
          <a:prstGeom prst="rect">
            <a:avLst/>
          </a:prstGeom>
          <a:noFill/>
          <a:ln/>
        </p:spPr>
        <p:txBody>
          <a:bodyPr wrap="square" lIns="0" tIns="0" rIns="0" bIns="0" rtlCol="0" anchor="t"/>
          <a:lstStyle/>
          <a:p>
            <a:pPr algn="l" indent="0" marL="0">
              <a:buNone/>
            </a:pPr>
            <a:r>
              <a:rPr lang="en-US" sz="1050" dirty="0">
                <a:solidFill>
                  <a:srgbClr val="334155"/>
                </a:solidFill>
                <a:latin typeface="Calibri" pitchFamily="34" charset="0"/>
                <a:ea typeface="Calibri" pitchFamily="34" charset="-122"/>
                <a:cs typeface="Calibri" pitchFamily="34" charset="-120"/>
              </a:rPr>
              <a:t>Email and SMS notifications, password reset, SSO, admin MFA, Redis-based realtime, historical forecasting, kiosk mode, QR check-in, dark mode and richer analytics.</a:t>
            </a:r>
            <a:endParaRPr lang="en-US" sz="1050" dirty="0"/>
          </a:p>
        </p:txBody>
      </p:sp>
      <p:sp>
        <p:nvSpPr>
          <p:cNvPr id="28" name="Text 26"/>
          <p:cNvSpPr txBox="1"/>
          <p:nvPr/>
        </p:nvSpPr>
        <p:spPr>
          <a:xfrm>
            <a:off x="548640" y="6446520"/>
            <a:ext cx="4572000" cy="228600"/>
          </a:xfrm>
          <a:prstGeom prst="rect">
            <a:avLst/>
          </a:prstGeom>
          <a:noFill/>
          <a:ln/>
        </p:spPr>
        <p:txBody>
          <a:bodyPr wrap="square" lIns="0" tIns="0" rIns="0" bIns="0" rtlCol="0" anchor="t"/>
          <a:lstStyle/>
          <a:p>
            <a:pPr algn="l" indent="0" marL="0">
              <a:buNone/>
            </a:pPr>
            <a:r>
              <a:rPr lang="en-US" sz="900" dirty="0">
                <a:solidFill>
                  <a:srgbClr val="8A93A8"/>
                </a:solidFill>
                <a:latin typeface="Calibri" pitchFamily="34" charset="0"/>
                <a:ea typeface="Calibri" pitchFamily="34" charset="-122"/>
                <a:cs typeface="Calibri" pitchFamily="34" charset="-120"/>
              </a:rPr>
              <a:t>QueueSense  ·  Smart Campus Queueing</a:t>
            </a:r>
            <a:endParaRPr lang="en-US" sz="900" dirty="0"/>
          </a:p>
        </p:txBody>
      </p:sp>
      <p:sp>
        <p:nvSpPr>
          <p:cNvPr id="29" name="Text 27"/>
          <p:cNvSpPr txBox="1"/>
          <p:nvPr/>
        </p:nvSpPr>
        <p:spPr>
          <a:xfrm>
            <a:off x="10881360" y="6446520"/>
            <a:ext cx="758952" cy="228600"/>
          </a:xfrm>
          <a:prstGeom prst="rect">
            <a:avLst/>
          </a:prstGeom>
          <a:noFill/>
          <a:ln/>
        </p:spPr>
        <p:txBody>
          <a:bodyPr wrap="square" lIns="0" tIns="0" rIns="0" bIns="0" rtlCol="0" anchor="t"/>
          <a:lstStyle/>
          <a:p>
            <a:pPr algn="r" indent="0" marL="0">
              <a:buNone/>
            </a:pPr>
            <a:r>
              <a:rPr lang="en-US" sz="900" b="1" dirty="0">
                <a:solidFill>
                  <a:srgbClr val="8A93A8"/>
                </a:solidFill>
                <a:latin typeface="Calibri" pitchFamily="34" charset="0"/>
                <a:ea typeface="Calibri" pitchFamily="34" charset="-122"/>
                <a:cs typeface="Calibri" pitchFamily="34" charset="-120"/>
              </a:rPr>
              <a:t>B4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QueueSense — Smart Real-Time Queue Management for Campus Services</dc:title>
  <dc:subject>PptxGenJS Presentation</dc:subject>
  <dc:creator>Puneet Sreevatsal Jagadam</dc:creator>
  <cp:lastModifiedBy>Puneet Sreevatsal Jagadam</cp:lastModifiedBy>
  <cp:revision>1</cp:revision>
  <dcterms:created xsi:type="dcterms:W3CDTF">2026-09-28T05:57:57Z</dcterms:created>
  <dcterms:modified xsi:type="dcterms:W3CDTF">2026-09-28T05:57:57Z</dcterms:modified>
</cp:coreProperties>
</file>